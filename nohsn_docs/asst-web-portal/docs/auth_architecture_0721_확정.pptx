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9" r:id="rId4"/>
    <p:sldId id="295" r:id="rId5"/>
    <p:sldId id="267" r:id="rId6"/>
    <p:sldId id="268" r:id="rId7"/>
    <p:sldId id="273" r:id="rId8"/>
    <p:sldId id="274" r:id="rId9"/>
    <p:sldId id="275" r:id="rId10"/>
    <p:sldId id="276" r:id="rId11"/>
    <p:sldId id="277" r:id="rId12"/>
    <p:sldId id="283" r:id="rId13"/>
    <p:sldId id="284" r:id="rId14"/>
    <p:sldId id="286" r:id="rId15"/>
    <p:sldId id="261" r:id="rId16"/>
    <p:sldId id="287" r:id="rId17"/>
    <p:sldId id="288" r:id="rId18"/>
    <p:sldId id="292" r:id="rId19"/>
    <p:sldId id="294" r:id="rId20"/>
    <p:sldId id="293" r:id="rId21"/>
    <p:sldId id="296" r:id="rId22"/>
    <p:sldId id="29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641"/>
    <p:restoredTop sz="96245"/>
  </p:normalViewPr>
  <p:slideViewPr>
    <p:cSldViewPr snapToGrid="0" snapToObjects="1">
      <p:cViewPr varScale="1">
        <p:scale>
          <a:sx n="208" d="100"/>
          <a:sy n="208" d="100"/>
        </p:scale>
        <p:origin x="93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9847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준거</a:t>
            </a:r>
            <a:r>
              <a:rPr lang="en-US" altLang="ko-KR" dirty="0"/>
              <a:t>: </a:t>
            </a:r>
            <a:r>
              <a:rPr lang="en" altLang="ko-KR" dirty="0"/>
              <a:t>RFC 9700 · IETF Browser-Based Apps BCP"</a:t>
            </a:r>
            <a:r>
              <a:rPr lang="ko-KR" altLang="en-US" dirty="0"/>
              <a:t>는 </a:t>
            </a:r>
            <a:r>
              <a:rPr lang="en-US" altLang="ko-KR" dirty="0"/>
              <a:t>＂</a:t>
            </a:r>
            <a:r>
              <a:rPr lang="ko-KR" altLang="en-US" dirty="0"/>
              <a:t>제가 임의로 정한 방식이 아니라</a:t>
            </a:r>
            <a:r>
              <a:rPr lang="en-US" altLang="ko-KR" dirty="0"/>
              <a:t>, </a:t>
            </a:r>
            <a:r>
              <a:rPr lang="ko-KR" altLang="en-US" dirty="0"/>
              <a:t>국제 표준 기구가 정한 최신 보안 권고를 따랐습니다</a:t>
            </a:r>
            <a:r>
              <a:rPr lang="en-US" altLang="ko-KR" dirty="0"/>
              <a:t>”</a:t>
            </a:r>
          </a:p>
          <a:p>
            <a:endParaRPr lang="en-US" dirty="0"/>
          </a:p>
          <a:p>
            <a:r>
              <a:rPr lang="en" altLang="ko-KR" dirty="0"/>
              <a:t>RFC 9700 </a:t>
            </a:r>
            <a:r>
              <a:rPr lang="ko-KR" altLang="en-US" dirty="0"/>
              <a:t>관련해서 </a:t>
            </a:r>
            <a:r>
              <a:rPr lang="ko-KR" altLang="en-US" dirty="0" err="1"/>
              <a:t>설명드릴게요</a:t>
            </a:r>
            <a:r>
              <a:rPr lang="en-US" altLang="ko-KR" dirty="0"/>
              <a:t>.</a:t>
            </a:r>
          </a:p>
          <a:p>
            <a:r>
              <a:rPr lang="en" altLang="ko-KR" b="1" dirty="0"/>
              <a:t>RFC</a:t>
            </a:r>
            <a:r>
              <a:rPr lang="ko-KR" altLang="en-US" b="1" dirty="0"/>
              <a:t>란</a:t>
            </a:r>
            <a:r>
              <a:rPr lang="en-US" altLang="ko-KR" b="1" dirty="0"/>
              <a:t>?</a:t>
            </a:r>
            <a:r>
              <a:rPr lang="ko-KR" altLang="en-US" dirty="0"/>
              <a:t> </a:t>
            </a:r>
            <a:r>
              <a:rPr lang="ko-Kore-KR" altLang="ko-Kore-KR" dirty="0"/>
              <a:t>Request For Comments</a:t>
            </a:r>
            <a:r>
              <a:rPr lang="ko-Kore-KR" altLang="en-US" dirty="0"/>
              <a:t>로</a:t>
            </a:r>
            <a:r>
              <a:rPr lang="ko-KR" altLang="en-US" dirty="0"/>
              <a:t> 인터넷</a:t>
            </a:r>
            <a:r>
              <a:rPr lang="en-US" altLang="ko-KR" dirty="0"/>
              <a:t>/</a:t>
            </a:r>
            <a:r>
              <a:rPr lang="ko-KR" altLang="en-US" dirty="0"/>
              <a:t>웹 기술의 </a:t>
            </a:r>
            <a:r>
              <a:rPr lang="en-US" altLang="ko-KR" dirty="0"/>
              <a:t>"</a:t>
            </a:r>
            <a:r>
              <a:rPr lang="ko-KR" altLang="en-US" dirty="0"/>
              <a:t>공식 표준 문서</a:t>
            </a:r>
            <a:r>
              <a:rPr lang="en-US" altLang="ko-KR" dirty="0"/>
              <a:t>"</a:t>
            </a:r>
            <a:r>
              <a:rPr lang="ko-KR" altLang="en-US" dirty="0"/>
              <a:t>예요</a:t>
            </a:r>
            <a:r>
              <a:rPr lang="en-US" altLang="ko-KR" dirty="0"/>
              <a:t>. </a:t>
            </a:r>
            <a:r>
              <a:rPr lang="en" altLang="ko-KR" dirty="0"/>
              <a:t>IETF(</a:t>
            </a:r>
            <a:r>
              <a:rPr lang="ko-Kore-KR" altLang="ko-Kore-KR" b="1" dirty="0"/>
              <a:t>IETF</a:t>
            </a:r>
            <a:r>
              <a:rPr lang="ko-Kore-KR" altLang="ko-Kore-KR" dirty="0"/>
              <a:t>는 </a:t>
            </a:r>
            <a:r>
              <a:rPr lang="ko-Kore-KR" altLang="ko-Kore-KR" b="1" dirty="0"/>
              <a:t>Internet Engineering Task Force</a:t>
            </a:r>
            <a:r>
              <a:rPr lang="en-US" altLang="ko-Kore-KR" b="1" dirty="0"/>
              <a:t>,</a:t>
            </a:r>
            <a:r>
              <a:rPr lang="ko-KR" altLang="en-US" b="1" dirty="0"/>
              <a:t> </a:t>
            </a:r>
            <a:r>
              <a:rPr lang="ko-KR" altLang="en-US" dirty="0"/>
              <a:t>국제 인터넷 표준화 기구</a:t>
            </a:r>
            <a:r>
              <a:rPr lang="en-US" altLang="ko-KR" dirty="0"/>
              <a:t>)</a:t>
            </a:r>
            <a:r>
              <a:rPr lang="ko-KR" altLang="en-US" dirty="0"/>
              <a:t>라는 곳에서 만드는데</a:t>
            </a:r>
            <a:r>
              <a:rPr lang="en-US" altLang="ko-KR" dirty="0"/>
              <a:t>, </a:t>
            </a:r>
            <a:r>
              <a:rPr lang="ko-KR" altLang="en-US" dirty="0"/>
              <a:t>예를 들어 </a:t>
            </a:r>
            <a:r>
              <a:rPr lang="en-US" altLang="ko-KR" dirty="0"/>
              <a:t>"</a:t>
            </a:r>
            <a:r>
              <a:rPr lang="ko-KR" altLang="en-US" dirty="0"/>
              <a:t>이메일은 이렇게 주고받아야 한다</a:t>
            </a:r>
            <a:r>
              <a:rPr lang="en-US" altLang="ko-KR" dirty="0"/>
              <a:t>", "</a:t>
            </a:r>
            <a:r>
              <a:rPr lang="ko-KR" altLang="en-US" dirty="0"/>
              <a:t>웹사이트 주소는 이런 규칙이다</a:t>
            </a:r>
            <a:r>
              <a:rPr lang="en-US" altLang="ko-KR" dirty="0"/>
              <a:t>" </a:t>
            </a:r>
            <a:r>
              <a:rPr lang="ko-KR" altLang="en-US" dirty="0"/>
              <a:t>같은 걸 정리해둔 </a:t>
            </a:r>
            <a:r>
              <a:rPr lang="ko-KR" altLang="en-US" dirty="0" err="1"/>
              <a:t>문서들이에요</a:t>
            </a:r>
            <a:r>
              <a:rPr lang="en-US" altLang="ko-KR" dirty="0"/>
              <a:t>. </a:t>
            </a:r>
            <a:r>
              <a:rPr lang="ko-KR" altLang="en-US" dirty="0"/>
              <a:t>번호가 붙어서 관리되고요 </a:t>
            </a:r>
            <a:r>
              <a:rPr lang="en-US" altLang="ko-KR" dirty="0"/>
              <a:t>(</a:t>
            </a:r>
            <a:r>
              <a:rPr lang="en" altLang="ko-KR" dirty="0"/>
              <a:t>RFC 9700</a:t>
            </a:r>
            <a:r>
              <a:rPr lang="ko-KR" altLang="en-US" dirty="0"/>
              <a:t>이 그 번호</a:t>
            </a:r>
            <a:r>
              <a:rPr lang="en-US" altLang="ko-KR" dirty="0"/>
              <a:t>).</a:t>
            </a:r>
          </a:p>
          <a:p>
            <a:r>
              <a:rPr lang="en" altLang="ko-KR" b="1" dirty="0"/>
              <a:t>RFC 9700</a:t>
            </a:r>
            <a:r>
              <a:rPr lang="ko-KR" altLang="en-US" b="1" dirty="0"/>
              <a:t>이 정확히 뭔가</a:t>
            </a:r>
            <a:r>
              <a:rPr lang="ko-KR" altLang="en-US" dirty="0"/>
              <a:t> </a:t>
            </a:r>
            <a:r>
              <a:rPr lang="en-US" altLang="ko-KR" dirty="0"/>
              <a:t>— 2025</a:t>
            </a:r>
            <a:r>
              <a:rPr lang="ko-KR" altLang="en-US" dirty="0"/>
              <a:t>년에 나온 문서로</a:t>
            </a:r>
            <a:r>
              <a:rPr lang="en-US" altLang="ko-KR" dirty="0"/>
              <a:t>, </a:t>
            </a:r>
            <a:r>
              <a:rPr lang="ko-KR" altLang="en-US" dirty="0"/>
              <a:t>정식 이름은 </a:t>
            </a:r>
            <a:r>
              <a:rPr lang="en-US" altLang="ko-KR" dirty="0"/>
              <a:t>"</a:t>
            </a:r>
            <a:r>
              <a:rPr lang="en" altLang="ko-KR" dirty="0"/>
              <a:t>OAuth 2.0 Security Best Current Practice"</a:t>
            </a:r>
            <a:r>
              <a:rPr lang="ko-KR" altLang="en-US" dirty="0"/>
              <a:t>예요</a:t>
            </a:r>
            <a:r>
              <a:rPr lang="en-US" altLang="ko-KR" dirty="0"/>
              <a:t>. </a:t>
            </a:r>
            <a:r>
              <a:rPr lang="en" altLang="ko-KR" dirty="0"/>
              <a:t>OAuth 2.0</a:t>
            </a:r>
            <a:r>
              <a:rPr lang="ko-KR" altLang="en-US" dirty="0"/>
              <a:t>은 </a:t>
            </a:r>
            <a:r>
              <a:rPr lang="en-US" altLang="ko-KR" dirty="0"/>
              <a:t>"</a:t>
            </a:r>
            <a:r>
              <a:rPr lang="ko-KR" altLang="en-US" dirty="0"/>
              <a:t>로그인</a:t>
            </a:r>
            <a:r>
              <a:rPr lang="en-US" altLang="ko-KR" dirty="0"/>
              <a:t>/</a:t>
            </a:r>
            <a:r>
              <a:rPr lang="ko-KR" altLang="en-US" dirty="0"/>
              <a:t>인증을 어떻게 안전하게 처리할지</a:t>
            </a:r>
            <a:r>
              <a:rPr lang="en-US" altLang="ko-KR" dirty="0"/>
              <a:t>"</a:t>
            </a:r>
            <a:r>
              <a:rPr lang="ko-KR" altLang="en-US" dirty="0" err="1"/>
              <a:t>에</a:t>
            </a:r>
            <a:r>
              <a:rPr lang="ko-KR" altLang="en-US" dirty="0"/>
              <a:t> 대한 가장 널리 쓰이는 국제 표준 방식이고</a:t>
            </a:r>
            <a:r>
              <a:rPr lang="en-US" altLang="ko-KR" dirty="0"/>
              <a:t>, </a:t>
            </a:r>
            <a:r>
              <a:rPr lang="en" altLang="ko-KR" dirty="0"/>
              <a:t>RFC 9700</a:t>
            </a:r>
            <a:r>
              <a:rPr lang="ko-KR" altLang="en-US" dirty="0"/>
              <a:t>은 그 표준을 실제로 쓸 때 </a:t>
            </a:r>
            <a:r>
              <a:rPr lang="en-US" altLang="ko-KR" dirty="0"/>
              <a:t>"</a:t>
            </a:r>
            <a:r>
              <a:rPr lang="ko-KR" altLang="en-US" dirty="0"/>
              <a:t>요즘 기준으로 안전하게 하려면 이렇게 하라</a:t>
            </a:r>
            <a:r>
              <a:rPr lang="en-US" altLang="ko-KR" dirty="0"/>
              <a:t>"</a:t>
            </a:r>
            <a:r>
              <a:rPr lang="ko-KR" altLang="en-US" dirty="0"/>
              <a:t>는 최신 보안 권고사항을 모아둔 거예요</a:t>
            </a:r>
            <a:r>
              <a:rPr lang="en-US" altLang="ko-KR" dirty="0"/>
              <a:t>. </a:t>
            </a:r>
            <a:r>
              <a:rPr lang="ko-KR" altLang="en-US" dirty="0"/>
              <a:t>쉽게 말하면 </a:t>
            </a:r>
            <a:r>
              <a:rPr lang="en-US" altLang="ko-KR" dirty="0"/>
              <a:t>"</a:t>
            </a:r>
            <a:r>
              <a:rPr lang="en" altLang="ko-KR" dirty="0"/>
              <a:t>OAuth </a:t>
            </a:r>
            <a:r>
              <a:rPr lang="ko-KR" altLang="en-US" dirty="0"/>
              <a:t>보안 체크리스트 최신판</a:t>
            </a:r>
            <a:r>
              <a:rPr lang="en-US" altLang="ko-KR" dirty="0"/>
              <a:t>"</a:t>
            </a:r>
            <a:r>
              <a:rPr lang="ko-KR" altLang="en-US" dirty="0" err="1"/>
              <a:t>이에요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문서 안에 우리가 채택한 두 가지 핵심 내용이 들어 있어요</a:t>
            </a:r>
            <a:r>
              <a:rPr lang="en-US" altLang="ko-KR" dirty="0"/>
              <a:t>.</a:t>
            </a:r>
          </a:p>
          <a:p>
            <a:r>
              <a:rPr lang="en" altLang="ko-KR" dirty="0"/>
              <a:t>Refresh Token Rotation + </a:t>
            </a:r>
            <a:r>
              <a:rPr lang="ko-KR" altLang="en-US" dirty="0"/>
              <a:t>재사용 감지를 </a:t>
            </a:r>
            <a:r>
              <a:rPr lang="en-US" altLang="ko-KR" dirty="0"/>
              <a:t>"</a:t>
            </a:r>
            <a:r>
              <a:rPr lang="ko-KR" altLang="en-US" dirty="0"/>
              <a:t>선택이 아니라 필수</a:t>
            </a:r>
            <a:r>
              <a:rPr lang="en-US" altLang="ko-KR" dirty="0"/>
              <a:t>"</a:t>
            </a:r>
            <a:r>
              <a:rPr lang="ko-KR" altLang="en-US" dirty="0"/>
              <a:t>로 규정 </a:t>
            </a:r>
            <a:r>
              <a:rPr lang="en-US" altLang="ko-KR" dirty="0"/>
              <a:t>— </a:t>
            </a:r>
            <a:r>
              <a:rPr lang="ko-KR" altLang="en-US" dirty="0"/>
              <a:t>재발급 카드</a:t>
            </a:r>
            <a:r>
              <a:rPr lang="en-US" altLang="ko-KR" dirty="0"/>
              <a:t>(</a:t>
            </a:r>
            <a:r>
              <a:rPr lang="en" altLang="ko-KR" dirty="0"/>
              <a:t>refresh token)</a:t>
            </a:r>
            <a:r>
              <a:rPr lang="ko-KR" altLang="en-US" dirty="0" err="1"/>
              <a:t>를</a:t>
            </a:r>
            <a:r>
              <a:rPr lang="ko-KR" altLang="en-US" dirty="0"/>
              <a:t> 쓸 때마다 새 걸로 바꾸고</a:t>
            </a:r>
            <a:r>
              <a:rPr lang="en-US" altLang="ko-KR" dirty="0"/>
              <a:t>, </a:t>
            </a:r>
            <a:r>
              <a:rPr lang="ko-KR" altLang="en-US" dirty="0"/>
              <a:t>헌 카드가 다시 나타나면 도난으로 간주해서 즉시 세션을 끊으라는 것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모든 로그인 흐름에 </a:t>
            </a:r>
            <a:r>
              <a:rPr lang="en" altLang="ko-KR" dirty="0"/>
              <a:t>PKCE</a:t>
            </a:r>
            <a:r>
              <a:rPr lang="ko-KR" altLang="en-US" dirty="0" err="1"/>
              <a:t>를</a:t>
            </a:r>
            <a:r>
              <a:rPr lang="ko-KR" altLang="en-US" dirty="0"/>
              <a:t> 필수로 적용하라는 것 </a:t>
            </a:r>
            <a:r>
              <a:rPr lang="en-US" altLang="ko-KR" dirty="0"/>
              <a:t>(</a:t>
            </a:r>
            <a:r>
              <a:rPr lang="en" altLang="ko-KR" dirty="0"/>
              <a:t>PKCE</a:t>
            </a:r>
            <a:r>
              <a:rPr lang="ko-KR" altLang="en-US" dirty="0"/>
              <a:t>는 로그인 요청을 가로채서 가짜로 완성시키는 공격을 막는 장치예요 </a:t>
            </a:r>
            <a:r>
              <a:rPr lang="en-US" altLang="ko-KR" dirty="0"/>
              <a:t>— </a:t>
            </a:r>
            <a:r>
              <a:rPr lang="ko-KR" altLang="en-US" dirty="0"/>
              <a:t>이건 </a:t>
            </a:r>
            <a:r>
              <a:rPr lang="en" altLang="ko-KR" dirty="0"/>
              <a:t>Phase 3, </a:t>
            </a:r>
            <a:r>
              <a:rPr lang="ko-KR" altLang="en-US" dirty="0"/>
              <a:t>즉 중장기 과제로 잡혀 있어요</a:t>
            </a:r>
            <a:r>
              <a:rPr lang="en-US" altLang="ko-KR" dirty="0"/>
              <a:t>).</a:t>
            </a:r>
          </a:p>
          <a:p>
            <a:r>
              <a:rPr lang="en" altLang="ko-KR" b="1" dirty="0"/>
              <a:t>IETF Browser-Based Apps BCP</a:t>
            </a:r>
            <a:r>
              <a:rPr lang="en" altLang="ko-KR" dirty="0"/>
              <a:t> — </a:t>
            </a:r>
            <a:r>
              <a:rPr lang="ko-KR" altLang="en-US" dirty="0"/>
              <a:t>이건 별도 문서인데</a:t>
            </a:r>
            <a:r>
              <a:rPr lang="en-US" altLang="ko-KR" dirty="0"/>
              <a:t>, "</a:t>
            </a:r>
            <a:r>
              <a:rPr lang="ko-KR" altLang="en-US" dirty="0"/>
              <a:t>브라우저에서 동작하는 앱</a:t>
            </a:r>
            <a:r>
              <a:rPr lang="en-US" altLang="ko-KR" dirty="0"/>
              <a:t>(</a:t>
            </a:r>
            <a:r>
              <a:rPr lang="ko-KR" altLang="en-US" dirty="0"/>
              <a:t>우리 상황과 정확히 같음</a:t>
            </a:r>
            <a:r>
              <a:rPr lang="en-US" altLang="ko-KR" dirty="0"/>
              <a:t>)</a:t>
            </a:r>
            <a:r>
              <a:rPr lang="ko-KR" altLang="en-US" dirty="0"/>
              <a:t>은 토큰을 어디에 보관하는 게 안전한가</a:t>
            </a:r>
            <a:r>
              <a:rPr lang="en-US" altLang="ko-KR" dirty="0"/>
              <a:t>"</a:t>
            </a:r>
            <a:r>
              <a:rPr lang="ko-KR" altLang="en-US" dirty="0" err="1"/>
              <a:t>를</a:t>
            </a:r>
            <a:r>
              <a:rPr lang="ko-KR" altLang="en-US" dirty="0"/>
              <a:t> 다루는 권고문이에요</a:t>
            </a:r>
            <a:r>
              <a:rPr lang="en-US" altLang="ko-KR" dirty="0"/>
              <a:t>. </a:t>
            </a:r>
            <a:r>
              <a:rPr lang="ko-KR" altLang="en-US" dirty="0"/>
              <a:t>우리가 채택한 </a:t>
            </a:r>
            <a:r>
              <a:rPr lang="en-US" altLang="ko-KR" dirty="0"/>
              <a:t>"</a:t>
            </a:r>
            <a:r>
              <a:rPr lang="en" altLang="ko-KR" dirty="0" err="1"/>
              <a:t>httpOnly</a:t>
            </a:r>
            <a:r>
              <a:rPr lang="en" altLang="ko-KR" dirty="0"/>
              <a:t> </a:t>
            </a:r>
            <a:r>
              <a:rPr lang="ko-KR" altLang="en-US" dirty="0"/>
              <a:t>쿠키에 토큰을 직접 담는 방식</a:t>
            </a:r>
            <a:r>
              <a:rPr lang="en-US" altLang="ko-KR" dirty="0"/>
              <a:t>"</a:t>
            </a:r>
            <a:r>
              <a:rPr lang="ko-KR" altLang="en-US" dirty="0"/>
              <a:t>이 여기서 권장하는 방향과 맞닿아 있어요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7687C-F70F-C5AF-45D5-5A3FD6B31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A569EB-87EE-DA98-D9B7-0197A83FE5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86F083-40D2-8B2C-C708-FCE2065B8B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DFE977-B84C-6FA5-A458-AFBDC72C1C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8800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ore-KR" altLang="ko-Kore-KR" b="1" dirty="0"/>
              <a:t>1) 환경별 쿠키 설정</a:t>
            </a:r>
            <a:r>
              <a:rPr lang="ko-Kore-KR" altLang="ko-Kore-KR" dirty="0"/>
              <a:t> — 운영 서버(HTTPS)냐, 개발 서버(그냥 HTTP)냐에 따라 쿠키에 붙이는 보안 옵션이 달라야 한다는 </a:t>
            </a:r>
            <a:r>
              <a:rPr lang="ko-Kore-KR" altLang="en-US" dirty="0"/>
              <a:t>표</a:t>
            </a:r>
            <a:endParaRPr lang="ko-Kore-KR" altLang="ko-Kore-KR" dirty="0"/>
          </a:p>
          <a:p>
            <a:r>
              <a:rPr lang="ko-Kore-KR" altLang="ko-Kore-KR" b="1" dirty="0"/>
              <a:t>Secure 옵션</a:t>
            </a:r>
            <a:r>
              <a:rPr lang="ko-Kore-KR" altLang="ko-Kore-KR" dirty="0"/>
              <a:t>: "HTTPS에서만 쿠키를 주고받겠다"는 설정. 운영 환경은 HTTPS니까 켜야(ON) 하고, 개발 서버가 아직 HTTP면 이 옵션을 켤 </a:t>
            </a:r>
            <a:r>
              <a:rPr lang="ko-Kore-KR" altLang="en-US" dirty="0"/>
              <a:t>수가</a:t>
            </a:r>
            <a:r>
              <a:rPr lang="ko-KR" altLang="en-US" dirty="0"/>
              <a:t> 없음</a:t>
            </a:r>
            <a:r>
              <a:rPr lang="ko-Kore-KR" altLang="ko-Kore-KR" dirty="0"/>
              <a:t>(끄면 보안이 약해지지만 개발 단계라 어쩔 수 없이 완화).</a:t>
            </a:r>
          </a:p>
          <a:p>
            <a:r>
              <a:rPr lang="ko-Kore-KR" altLang="ko-Kore-KR" b="1" dirty="0"/>
              <a:t>SameSite</a:t>
            </a:r>
            <a:r>
              <a:rPr lang="ko-Kore-KR" altLang="ko-Kore-KR" dirty="0"/>
              <a:t>: "이 쿠키를 다른 사이트에서 걸어온 요청에도 보낼지" 정하는 옵션. Lax로 설정해서 어느 정도 안전하게 유지.</a:t>
            </a:r>
          </a:p>
          <a:p>
            <a:r>
              <a:rPr lang="ko-Kore-KR" altLang="ko-Kore-KR" dirty="0"/>
              <a:t>httpOnly는 환경 상관없이 무조건 켜야 하는 필수값이라 별도로 강조</a:t>
            </a:r>
            <a:endParaRPr lang="en-US" altLang="ko-Kore-KR" dirty="0"/>
          </a:p>
          <a:p>
            <a:endParaRPr lang="ko-Kore-KR" altLang="ko-Kore-KR" dirty="0"/>
          </a:p>
          <a:p>
            <a:r>
              <a:rPr lang="ko-Kore-KR" altLang="ko-Kore-KR" b="1" dirty="0"/>
              <a:t>2) 롤아웃 순서</a:t>
            </a:r>
            <a:r>
              <a:rPr lang="ko-Kore-KR" altLang="ko-Kore-KR" dirty="0"/>
              <a:t> — "롤아웃(rollout)"은 새로운 기능/구조를 </a:t>
            </a:r>
            <a:r>
              <a:rPr lang="ko-Kore-KR" altLang="ko-Kore-KR" b="1" dirty="0"/>
              <a:t>한 번에 다 바꾸지 않고 단계적으로 순서대로 배포</a:t>
            </a:r>
            <a:r>
              <a:rPr lang="ko-Kore-KR" altLang="ko-Kore-KR" dirty="0"/>
              <a:t>. 소프트웨어를 배포할 때 흔히 쓰는 용</a:t>
            </a:r>
            <a:r>
              <a:rPr lang="ko-Kore-KR" altLang="en-US" dirty="0"/>
              <a:t>어</a:t>
            </a:r>
            <a:r>
              <a:rPr lang="ko-Kore-KR" altLang="ko-Kore-KR" dirty="0"/>
              <a:t>. </a:t>
            </a:r>
          </a:p>
          <a:p>
            <a:pPr marL="228600" indent="-228600">
              <a:buAutoNum type="arabicPeriod"/>
            </a:pPr>
            <a:r>
              <a:rPr lang="ko-Kore-KR" altLang="ko-Kore-KR" dirty="0"/>
              <a:t>포털 쪽 먼저 JWKS·Rotation·짧은 access 수명 세팅</a:t>
            </a:r>
            <a:endParaRPr lang="en-US" altLang="ko-Kore-KR" dirty="0"/>
          </a:p>
          <a:p>
            <a:pPr marL="228600" indent="-228600">
              <a:buAutoNum type="arabicPeriod"/>
            </a:pPr>
            <a:r>
              <a:rPr lang="ko-Kore-KR" altLang="ko-Kore-KR" dirty="0"/>
              <a:t>각 서비스가 JWKS로 자체 검증하도록 전환</a:t>
            </a:r>
            <a:endParaRPr lang="en-US" altLang="ko-Kore-KR" dirty="0"/>
          </a:p>
          <a:p>
            <a:pPr marL="228600" indent="-228600">
              <a:buAutoNum type="arabicPeriod"/>
            </a:pPr>
            <a:r>
              <a:rPr lang="ko-Kore-KR" altLang="ko-Kore-KR" dirty="0"/>
              <a:t>프론트를 쿠키 방식으로 전환</a:t>
            </a:r>
            <a:endParaRPr lang="en-US" altLang="ko-Kore-KR" dirty="0"/>
          </a:p>
          <a:p>
            <a:pPr marL="228600" indent="-228600">
              <a:buAutoNum type="arabicPeriod"/>
            </a:pPr>
            <a:r>
              <a:rPr lang="ko-Kore-KR" altLang="ko-Kore-KR" dirty="0"/>
              <a:t>직접 호출하던 것들을 BFF 경유로 바꾸기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3ED48-A284-F047-FC13-83B14EAAE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548064-67EC-9843-AC1C-36B1FA13AD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222ABE-F42C-A152-011E-5BB9EF5922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451707-8534-D38B-78CA-57E68383D8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6559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BCEB6-559B-B394-F638-07162730C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9D5C89-4F8A-C444-784D-394B829764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8D205F-7798-5313-37E2-B80EDB0B58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9EDDE-B731-794A-A1AB-3566EEDAF9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6601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5DFDB-2844-04D1-79E4-7B406507E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67DE61-8231-F4DC-D939-5756E53370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B660EA-1656-5A48-DCA1-8DD13A442A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CF056F-7368-E41D-B2DE-5D6EB4A490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3585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3684E-8B20-52C6-7EF2-7F548DF67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CFE207-5360-2F27-318F-A34DBB0900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0CD1D2-076E-5A13-D83E-24F60534EB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A2F0F1-1B16-2F3E-ABA6-C6C813CAD1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6435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0C300-D54A-C6E2-23A7-C4604B14A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6D44FD-9DAC-40A9-9FAB-4EBC07D47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A33844-A358-431D-5220-13BBCB17E6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9695F7-3DF2-60FB-702A-4D19D139AB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964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5740"/>
            <a:ext cx="9144000" cy="5143500"/>
          </a:xfrm>
          <a:prstGeom prst="rect">
            <a:avLst/>
          </a:prstGeom>
          <a:solidFill>
            <a:srgbClr val="181E25"/>
          </a:solidFill>
          <a:ln w="12700">
            <a:solidFill>
              <a:srgbClr val="181E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Timbel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8641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포털 시스템 구축 · 인증 아키텍처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93776" y="1097280"/>
            <a:ext cx="7772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포털 인증(SSO/토큰)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아키텍처</a:t>
            </a: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02920" y="2628901"/>
            <a:ext cx="2286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02920" y="4663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2026. 07. </a:t>
            </a:r>
            <a:r>
              <a:rPr lang="en-US" altLang="ko-KR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AA41FAE6-F4A6-B25A-E162-452E91383779}"/>
              </a:ext>
            </a:extLst>
          </p:cNvPr>
          <p:cNvSpPr/>
          <p:nvPr/>
        </p:nvSpPr>
        <p:spPr>
          <a:xfrm>
            <a:off x="6217920" y="4663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솔루션개발</a:t>
            </a:r>
            <a:r>
              <a:rPr lang="en-US" altLang="ko-KR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ko-KR" alt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</a:t>
            </a:r>
            <a:r>
              <a:rPr lang="ko-KR" altLang="en-US" sz="1200" dirty="0" err="1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노성남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1031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목차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28600" y="70180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포털 인증 시스템 분석 및 개선 제안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28600" y="994410"/>
            <a:ext cx="8229600" cy="228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8001000" cy="658368"/>
          </a:xfrm>
          <a:prstGeom prst="rect">
            <a:avLst/>
          </a:prstGeom>
          <a:solidFill>
            <a:srgbClr val="F4F7FF"/>
          </a:solidFill>
          <a:ln w="9525">
            <a:solidFill>
              <a:srgbClr val="E8ECF0"/>
            </a:solidFill>
            <a:prstDash val="solid"/>
          </a:ln>
          <a:effectLst>
            <a:outerShdw blurRad="50800" dist="25400" dir="2700000" algn="bl" rotWithShape="0">
              <a:srgbClr val="AAAAA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658368" cy="658368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11704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34440" y="12435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인증 구조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5179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흐름 · 토큰 구조 · 저장 방식 · 갱신 방식 · 인가 체계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1929384"/>
            <a:ext cx="8001000" cy="658368"/>
          </a:xfrm>
          <a:prstGeom prst="rect">
            <a:avLst/>
          </a:prstGeom>
          <a:solidFill>
            <a:srgbClr val="F4F7FF"/>
          </a:solidFill>
          <a:ln w="9525">
            <a:solidFill>
              <a:srgbClr val="E8ECF0"/>
            </a:solidFill>
            <a:prstDash val="solid"/>
          </a:ln>
          <a:effectLst>
            <a:outerShdw blurRad="50800" dist="25400" dir="2700000" algn="bl" rotWithShape="0">
              <a:srgbClr val="AAAAA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1929384"/>
            <a:ext cx="658368" cy="65836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57200" y="192938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34440" y="20025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구조의 문제점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2768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5가지 핵심 취약점 및 개선 필요 사항 분석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688336"/>
            <a:ext cx="8001000" cy="658368"/>
          </a:xfrm>
          <a:prstGeom prst="rect">
            <a:avLst/>
          </a:prstGeom>
          <a:solidFill>
            <a:srgbClr val="F4F7FF"/>
          </a:solidFill>
          <a:ln w="9525">
            <a:solidFill>
              <a:srgbClr val="E8ECF0"/>
            </a:solidFill>
            <a:prstDash val="solid"/>
          </a:ln>
          <a:effectLst>
            <a:outerShdw blurRad="50800" dist="25400" dir="2700000" algn="bl" rotWithShape="0">
              <a:srgbClr val="AAAAA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2688336"/>
            <a:ext cx="658368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57200" y="26883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34440" y="2761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 제안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303580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토큰 보관 방식 개선(쿠키 직접형) · Refresh Rotation · Silent Refresh · PKCE · JWKS</a:t>
            </a:r>
            <a:r>
              <a:rPr lang="en-US" altLang="ko-KR" sz="105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05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공개키</a:t>
            </a:r>
            <a:r>
              <a:rPr lang="en-US" altLang="ko-KR" sz="105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447288"/>
            <a:ext cx="8001000" cy="658368"/>
          </a:xfrm>
          <a:prstGeom prst="rect">
            <a:avLst/>
          </a:prstGeom>
          <a:solidFill>
            <a:srgbClr val="F4F7FF"/>
          </a:solidFill>
          <a:ln w="9525">
            <a:solidFill>
              <a:srgbClr val="E8ECF0"/>
            </a:solidFill>
            <a:prstDash val="solid"/>
          </a:ln>
          <a:effectLst>
            <a:outerShdw blurRad="50800" dist="25400" dir="2700000" algn="bl" rotWithShape="0">
              <a:srgbClr val="AAAAA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57200" y="3447288"/>
            <a:ext cx="658368" cy="658368"/>
          </a:xfrm>
          <a:prstGeom prst="rect">
            <a:avLst/>
          </a:prstGeom>
          <a:solidFill>
            <a:srgbClr val="6B48C8"/>
          </a:solidFill>
          <a:ln w="12700">
            <a:solidFill>
              <a:srgbClr val="6B4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57200" y="34472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234440" y="35204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적용 로드맵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34440" y="3794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1(즉시) · Phase 2(단기) · Phase 3(중기) 각 슬라이드 상세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4206240"/>
            <a:ext cx="8001000" cy="658368"/>
          </a:xfrm>
          <a:prstGeom prst="rect">
            <a:avLst/>
          </a:prstGeom>
          <a:solidFill>
            <a:srgbClr val="F4F7FF"/>
          </a:solidFill>
          <a:ln w="9525">
            <a:solidFill>
              <a:srgbClr val="E8ECF0"/>
            </a:solidFill>
            <a:prstDash val="solid"/>
          </a:ln>
          <a:effectLst>
            <a:outerShdw blurRad="50800" dist="25400" dir="2700000" algn="bl" rotWithShape="0">
              <a:srgbClr val="AAAAA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57200" y="4206240"/>
            <a:ext cx="658368" cy="658368"/>
          </a:xfrm>
          <a:prstGeom prst="rect">
            <a:avLst/>
          </a:prstGeom>
          <a:solidFill>
            <a:srgbClr val="1C3A6B"/>
          </a:solidFill>
          <a:ln w="12700">
            <a:solidFill>
              <a:srgbClr val="1C3A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57200" y="42062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34440" y="42793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아키텍처 다이어그램 &amp; 역할별 설치 가이드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34440" y="45537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개념도 · AS-IS/TO-BE 다이어그램 · 세션 정책 · 체크리스트 · 인증서버 요청사항</a:t>
            </a:r>
            <a:endParaRPr lang="en-US" sz="1050" dirty="0"/>
          </a:p>
        </p:txBody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6723C931-67CC-4C47-3487-9E5504177D44}"/>
              </a:ext>
            </a:extLst>
          </p:cNvPr>
          <p:cNvSpPr/>
          <p:nvPr/>
        </p:nvSpPr>
        <p:spPr>
          <a:xfrm>
            <a:off x="8396216" y="-6348"/>
            <a:ext cx="6639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45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Timbel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780" y="29260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인증 구조 — 토큰 &amp; 저장 방식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66616" y="748284"/>
            <a:ext cx="8229600" cy="228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4133088" cy="2606040"/>
          </a:xfrm>
          <a:prstGeom prst="rect">
            <a:avLst/>
          </a:prstGeom>
          <a:solidFill>
            <a:srgbClr val="F4F7FF"/>
          </a:solidFill>
          <a:ln w="9525">
            <a:solidFill>
              <a:srgbClr val="E8ECF0"/>
            </a:solidFill>
            <a:prstDash val="solid"/>
          </a:ln>
          <a:effectLst>
            <a:outerShdw blurRad="50800" dist="25400" dir="2700000" algn="bl" rotWithShape="0">
              <a:srgbClr val="AAAAA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47472" y="1207008"/>
            <a:ext cx="4133088" cy="384048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12070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토큰 구조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" y="1682496"/>
            <a:ext cx="4133088" cy="402336"/>
          </a:xfrm>
          <a:prstGeom prst="rect">
            <a:avLst/>
          </a:prstGeom>
          <a:solidFill>
            <a:srgbClr val="F8FAFE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7200" y="172821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알고리즘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54480" y="172821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RS256 · kid: "timbel-on-premise-v1"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13055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신원 정보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54480" y="213055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sub(UUID) · acc(계정) · cId · cd · role · aName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" y="2487168"/>
            <a:ext cx="4133088" cy="402336"/>
          </a:xfrm>
          <a:prstGeom prst="rect">
            <a:avLst/>
          </a:prstGeom>
          <a:solidFill>
            <a:srgbClr val="F8FAFE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57200" y="253288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토큰 타입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54480" y="253288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typ: "access" | "refresh"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93522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수명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554480" y="293522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60분 · refresh 14일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" y="3291840"/>
            <a:ext cx="4133088" cy="402336"/>
          </a:xfrm>
          <a:prstGeom prst="rect">
            <a:avLst/>
          </a:prstGeom>
          <a:solidFill>
            <a:srgbClr val="F8FAFE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7200" y="333756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민감정보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554480" y="333756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소속/개인정보는 토큰 미포함 → 서버 조회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1207008"/>
            <a:ext cx="4206240" cy="2606040"/>
          </a:xfrm>
          <a:prstGeom prst="rect">
            <a:avLst/>
          </a:prstGeom>
          <a:solidFill>
            <a:srgbClr val="F4F7FF"/>
          </a:solidFill>
          <a:ln w="9525">
            <a:solidFill>
              <a:srgbClr val="E8ECF0"/>
            </a:solidFill>
            <a:prstDash val="solid"/>
          </a:ln>
          <a:effectLst>
            <a:outerShdw blurRad="50800" dist="25400" dir="2700000" algn="bl" rotWithShape="0">
              <a:srgbClr val="AAAAA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663440" y="1207008"/>
            <a:ext cx="420624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773168" y="12070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프론트 토큰 저장 방식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73168" y="1682496"/>
            <a:ext cx="393192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846320" y="17099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19933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accessToken  ·  refreshToken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2334006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ore-KR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Name</a:t>
            </a:r>
          </a:p>
          <a:p>
            <a:r>
              <a:rPr lang="en-US" altLang="ko-Kore-KR" sz="10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accessToken</a:t>
            </a:r>
            <a:r>
              <a:rPr lang="en-US" altLang="ko-Kore-KR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: </a:t>
            </a:r>
            <a:r>
              <a:rPr lang="en-US" altLang="ko-Kore-KR" sz="10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aicc_at</a:t>
            </a:r>
            <a:r>
              <a:rPr lang="en-US" altLang="ko-Kore-KR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</a:p>
          <a:p>
            <a:r>
              <a:rPr lang="en-US" altLang="ko-Kore-KR" sz="10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refreshToken</a:t>
            </a:r>
            <a:r>
              <a:rPr lang="en-US" altLang="ko-Kore-KR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</a:t>
            </a:r>
            <a:r>
              <a:rPr lang="en-US" altLang="ko-Kore-KR" sz="10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aicc_rt</a:t>
            </a:r>
            <a:endParaRPr lang="en-US" altLang="ko-Kore-KR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F9F5C-7C19-E8B8-88FC-C7768DAC6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232A761-A77B-F123-BE98-5AA2D10C3F2B}"/>
              </a:ext>
            </a:extLst>
          </p:cNvPr>
          <p:cNvSpPr/>
          <p:nvPr/>
        </p:nvSpPr>
        <p:spPr>
          <a:xfrm>
            <a:off x="166616" y="225604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— 로그인 ~ </a:t>
            </a:r>
            <a:r>
              <a:rPr lang="en-US" sz="2200" b="1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갱신</a:t>
            </a:r>
            <a:r>
              <a:rPr lang="en-US" sz="2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b="1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시퀀스</a:t>
            </a:r>
            <a:r>
              <a:rPr lang="en-US" altLang="ko-KR" sz="2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(API Gateway)</a:t>
            </a:r>
            <a:endParaRPr lang="en-US" sz="2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AD36159-82CE-4110-9FDB-AE8241E7D546}"/>
              </a:ext>
            </a:extLst>
          </p:cNvPr>
          <p:cNvSpPr/>
          <p:nvPr/>
        </p:nvSpPr>
        <p:spPr>
          <a:xfrm>
            <a:off x="166616" y="661647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 백엔드는 어드바이저(BFF 겸임) 포함 공통 개념 · 포털백엔드=인증서버(담당자 확인 필요)</a:t>
            </a:r>
            <a:endParaRPr lang="en-US" sz="1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732C25E-3BCD-D265-DE35-60FC83168AD4}"/>
              </a:ext>
            </a:extLst>
          </p:cNvPr>
          <p:cNvSpPr/>
          <p:nvPr/>
        </p:nvSpPr>
        <p:spPr>
          <a:xfrm>
            <a:off x="1028700" y="1517904"/>
            <a:ext cx="45720" cy="3054096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5DFD1FF-7D35-2723-BDA9-6C57119BA0EA}"/>
              </a:ext>
            </a:extLst>
          </p:cNvPr>
          <p:cNvSpPr/>
          <p:nvPr/>
        </p:nvSpPr>
        <p:spPr>
          <a:xfrm>
            <a:off x="3589020" y="1517904"/>
            <a:ext cx="45720" cy="3054096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BE25A555-284D-77ED-585D-CC2377241C25}"/>
              </a:ext>
            </a:extLst>
          </p:cNvPr>
          <p:cNvSpPr/>
          <p:nvPr/>
        </p:nvSpPr>
        <p:spPr>
          <a:xfrm>
            <a:off x="5966460" y="1517904"/>
            <a:ext cx="45720" cy="3054096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6E5C59D5-F02E-3A20-D827-8B782E289C48}"/>
              </a:ext>
            </a:extLst>
          </p:cNvPr>
          <p:cNvSpPr/>
          <p:nvPr/>
        </p:nvSpPr>
        <p:spPr>
          <a:xfrm>
            <a:off x="8069580" y="1517904"/>
            <a:ext cx="45720" cy="3054096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A77A33B-5FA2-4321-8679-A7BB55D42D80}"/>
              </a:ext>
            </a:extLst>
          </p:cNvPr>
          <p:cNvSpPr/>
          <p:nvPr/>
        </p:nvSpPr>
        <p:spPr>
          <a:xfrm>
            <a:off x="1051560" y="1527048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로그인 ID/PW</a:t>
            </a:r>
            <a:endParaRPr lang="en-US" sz="75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A9705D5D-04F2-4EB9-F842-C27FB38D0FD9}"/>
              </a:ext>
            </a:extLst>
          </p:cNvPr>
          <p:cNvSpPr/>
          <p:nvPr/>
        </p:nvSpPr>
        <p:spPr>
          <a:xfrm>
            <a:off x="1051560" y="17830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access(짧게)+refresh(길게) 발급 · Set-Cookie(httpOnly)</a:t>
            </a:r>
            <a:endParaRPr lang="en-US" sz="75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3908C08D-94BA-8B34-D5E9-00D45DC22A46}"/>
              </a:ext>
            </a:extLst>
          </p:cNvPr>
          <p:cNvSpPr/>
          <p:nvPr/>
        </p:nvSpPr>
        <p:spPr>
          <a:xfrm>
            <a:off x="320040" y="2212848"/>
            <a:ext cx="8503920" cy="18288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5187678-1461-2C50-9082-B70560527526}"/>
              </a:ext>
            </a:extLst>
          </p:cNvPr>
          <p:cNvSpPr/>
          <p:nvPr/>
        </p:nvSpPr>
        <p:spPr>
          <a:xfrm>
            <a:off x="320040" y="2240280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45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성립 — 이후 모든 앱에 쿠키 자동 첨부</a:t>
            </a:r>
            <a:endParaRPr lang="en-US" sz="75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D972D686-A266-1EAF-D56F-6E8757621EEC}"/>
              </a:ext>
            </a:extLst>
          </p:cNvPr>
          <p:cNvSpPr/>
          <p:nvPr/>
        </p:nvSpPr>
        <p:spPr>
          <a:xfrm>
            <a:off x="1051560" y="23500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진입 / API 요청 (쿠키 자동 첨부)</a:t>
            </a:r>
            <a:endParaRPr lang="en-US" sz="75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3F36FCE6-F441-0F2C-CC4F-F6A2D6CFE80C}"/>
              </a:ext>
            </a:extLst>
          </p:cNvPr>
          <p:cNvSpPr/>
          <p:nvPr/>
        </p:nvSpPr>
        <p:spPr>
          <a:xfrm>
            <a:off x="2103120" y="2688336"/>
            <a:ext cx="3017520" cy="219456"/>
          </a:xfrm>
          <a:prstGeom prst="rect">
            <a:avLst/>
          </a:prstGeom>
          <a:solidFill>
            <a:srgbClr val="1C3A6B"/>
          </a:solidFill>
          <a:ln w="12700">
            <a:solidFill>
              <a:srgbClr val="1C3A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30A9BCE9-54E7-24AF-5119-551B87B3BE2A}"/>
              </a:ext>
            </a:extLst>
          </p:cNvPr>
          <p:cNvSpPr/>
          <p:nvPr/>
        </p:nvSpPr>
        <p:spPr>
          <a:xfrm>
            <a:off x="2103120" y="268833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USER_HOST에 get_user 조회 (</a:t>
            </a:r>
            <a:r>
              <a:rPr lang="en-US" sz="7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</a:t>
            </a:r>
            <a:r>
              <a:rPr lang="ko-KR" alt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</a:t>
            </a:r>
            <a:r>
              <a:rPr lang="en-US" altLang="ko-KR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ko-KR" altLang="en-US" sz="7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새로고침</a:t>
            </a: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75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15AAB29C-0447-D9FA-ABBA-A3D200B1F692}"/>
              </a:ext>
            </a:extLst>
          </p:cNvPr>
          <p:cNvSpPr/>
          <p:nvPr/>
        </p:nvSpPr>
        <p:spPr>
          <a:xfrm>
            <a:off x="2103120" y="2926080"/>
            <a:ext cx="3017520" cy="219456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4ECBF24B-C820-4C07-7916-FA8A61135D7B}"/>
              </a:ext>
            </a:extLst>
          </p:cNvPr>
          <p:cNvSpPr/>
          <p:nvPr/>
        </p:nvSpPr>
        <p:spPr>
          <a:xfrm>
            <a:off x="2103120" y="292608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non-auth API는 통과 · auth API는 공개키(JWKS)로 자체 검증</a:t>
            </a:r>
            <a:endParaRPr lang="en-US" sz="75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C436617F-071F-BB7A-FC06-804F7609405C}"/>
              </a:ext>
            </a:extLst>
          </p:cNvPr>
          <p:cNvSpPr/>
          <p:nvPr/>
        </p:nvSpPr>
        <p:spPr>
          <a:xfrm>
            <a:off x="320040" y="3200400"/>
            <a:ext cx="850392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18B18932-94D3-6F1A-2103-5E0DA8BAD4E9}"/>
              </a:ext>
            </a:extLst>
          </p:cNvPr>
          <p:cNvSpPr/>
          <p:nvPr/>
        </p:nvSpPr>
        <p:spPr>
          <a:xfrm>
            <a:off x="384048" y="325526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[토큰 유효]</a:t>
            </a:r>
            <a:endParaRPr lang="en-US" sz="75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3D2504AA-BCE0-F94E-F103-B625632044D7}"/>
              </a:ext>
            </a:extLst>
          </p:cNvPr>
          <p:cNvSpPr/>
          <p:nvPr/>
        </p:nvSpPr>
        <p:spPr>
          <a:xfrm>
            <a:off x="2514600" y="3487609"/>
            <a:ext cx="2194560" cy="21945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D55B8728-F626-15C9-B324-89E73E9043CA}"/>
              </a:ext>
            </a:extLst>
          </p:cNvPr>
          <p:cNvSpPr/>
          <p:nvPr/>
        </p:nvSpPr>
        <p:spPr>
          <a:xfrm>
            <a:off x="2514600" y="3487609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자체 API 처리</a:t>
            </a:r>
            <a:endParaRPr lang="en-US" sz="75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33185CD3-659D-C6AB-3986-83048272B38A}"/>
              </a:ext>
            </a:extLst>
          </p:cNvPr>
          <p:cNvSpPr/>
          <p:nvPr/>
        </p:nvSpPr>
        <p:spPr>
          <a:xfrm>
            <a:off x="4638969" y="3212637"/>
            <a:ext cx="27007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(BFF 겸임 앱만) 내부망 호출</a:t>
            </a:r>
            <a:endParaRPr lang="en-US" sz="75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386CB690-6D51-0BC2-DEFB-0EF1893A5C16}"/>
              </a:ext>
            </a:extLst>
          </p:cNvPr>
          <p:cNvSpPr/>
          <p:nvPr/>
        </p:nvSpPr>
        <p:spPr>
          <a:xfrm>
            <a:off x="4527876" y="3624566"/>
            <a:ext cx="29468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반환</a:t>
            </a:r>
            <a:endParaRPr lang="en-US" sz="75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9CA286B1-C7EE-A2DF-FDC0-6CDD01CEC924}"/>
              </a:ext>
            </a:extLst>
          </p:cNvPr>
          <p:cNvSpPr/>
          <p:nvPr/>
        </p:nvSpPr>
        <p:spPr>
          <a:xfrm>
            <a:off x="7173468" y="3927968"/>
            <a:ext cx="1792224" cy="658368"/>
          </a:xfrm>
          <a:prstGeom prst="rect">
            <a:avLst/>
          </a:prstGeom>
          <a:solidFill>
            <a:srgbClr val="F5F5F7"/>
          </a:solidFill>
          <a:ln w="9525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CFE49B52-43C8-6791-D733-48214123280E}"/>
              </a:ext>
            </a:extLst>
          </p:cNvPr>
          <p:cNvSpPr/>
          <p:nvPr/>
        </p:nvSpPr>
        <p:spPr>
          <a:xfrm>
            <a:off x="7210044" y="3964544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내부망 호출은 non-auth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토큰(인증)과 무관</a:t>
            </a:r>
            <a:endParaRPr lang="en-US" sz="68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56079149-D392-4D57-9F7C-A60C601C74AA}"/>
              </a:ext>
            </a:extLst>
          </p:cNvPr>
          <p:cNvSpPr/>
          <p:nvPr/>
        </p:nvSpPr>
        <p:spPr>
          <a:xfrm>
            <a:off x="7210044" y="425715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 시 서비스별로</a:t>
            </a:r>
            <a:endParaRPr lang="en-US" sz="680" dirty="0"/>
          </a:p>
          <a:p>
            <a:pPr marL="0" indent="0" algn="ctr">
              <a:buNone/>
            </a:pPr>
            <a:r>
              <a:rPr lang="en-US" sz="680" i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자체 인증 추가 검토 가능</a:t>
            </a:r>
            <a:endParaRPr lang="en-US" sz="68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B544707F-AE79-E3FE-D4A6-6E3471550AF6}"/>
              </a:ext>
            </a:extLst>
          </p:cNvPr>
          <p:cNvSpPr/>
          <p:nvPr/>
        </p:nvSpPr>
        <p:spPr>
          <a:xfrm>
            <a:off x="384048" y="3749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[토큰 만료]</a:t>
            </a:r>
            <a:endParaRPr lang="en-US" sz="75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18478959-B719-0BD1-DAFF-D3737C6CC32E}"/>
              </a:ext>
            </a:extLst>
          </p:cNvPr>
          <p:cNvSpPr/>
          <p:nvPr/>
        </p:nvSpPr>
        <p:spPr>
          <a:xfrm>
            <a:off x="3570732" y="38749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refresh 전송 · single-flight (동시요청도 1회만)</a:t>
            </a:r>
            <a:endParaRPr lang="en-US" sz="750" dirty="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75595B29-B956-1069-E2DD-F61B3706C58F}"/>
              </a:ext>
            </a:extLst>
          </p:cNvPr>
          <p:cNvSpPr/>
          <p:nvPr/>
        </p:nvSpPr>
        <p:spPr>
          <a:xfrm>
            <a:off x="3520440" y="4167167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 새 access+refresh · Rotation(구 refresh 폐기)</a:t>
            </a:r>
            <a:endParaRPr lang="en-US" sz="750" dirty="0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8201E2A5-A66F-8669-6244-26E1656BB22F}"/>
              </a:ext>
            </a:extLst>
          </p:cNvPr>
          <p:cNvSpPr/>
          <p:nvPr/>
        </p:nvSpPr>
        <p:spPr>
          <a:xfrm>
            <a:off x="1017270" y="4290361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⑨ Set-Cookie 갱신</a:t>
            </a:r>
            <a:endParaRPr lang="en-US" sz="750" dirty="0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66B12DE1-29E4-7808-6B73-04F2BEA4B75D}"/>
              </a:ext>
            </a:extLst>
          </p:cNvPr>
          <p:cNvSpPr/>
          <p:nvPr/>
        </p:nvSpPr>
        <p:spPr>
          <a:xfrm>
            <a:off x="274320" y="4685614"/>
            <a:ext cx="8595360" cy="361873"/>
          </a:xfrm>
          <a:prstGeom prst="rect">
            <a:avLst/>
          </a:prstGeom>
          <a:solidFill>
            <a:srgbClr val="F0F4FF"/>
          </a:solidFill>
          <a:ln w="9525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B08F4144-2E53-4DDA-C743-EE15B000CA38}"/>
              </a:ext>
            </a:extLst>
          </p:cNvPr>
          <p:cNvSpPr/>
          <p:nvPr/>
        </p:nvSpPr>
        <p:spPr>
          <a:xfrm>
            <a:off x="384048" y="4801268"/>
            <a:ext cx="8321040" cy="18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i="1" dirty="0">
                <a:solidFill>
                  <a:srgbClr val="145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레인엔 갱신 중에도 아무 일이 없음 = 무중단 (프론트는 갱신에 관여 안 함)  ·  🛡 경합 시 Grace 윈도우(10~30초): 동일 refresh 재요청엔 "동일 토큰 쌍" 반환</a:t>
            </a:r>
            <a:endParaRPr lang="en-US" sz="830" dirty="0"/>
          </a:p>
        </p:txBody>
      </p:sp>
      <p:sp>
        <p:nvSpPr>
          <p:cNvPr id="59" name="오른쪽 화살표[R] 58">
            <a:extLst>
              <a:ext uri="{FF2B5EF4-FFF2-40B4-BE49-F238E27FC236}">
                <a16:creationId xmlns:a16="http://schemas.microsoft.com/office/drawing/2014/main" id="{16FC2468-6C00-DBAF-E08F-244A3F0CBDEB}"/>
              </a:ext>
            </a:extLst>
          </p:cNvPr>
          <p:cNvSpPr/>
          <p:nvPr/>
        </p:nvSpPr>
        <p:spPr>
          <a:xfrm>
            <a:off x="1074420" y="1688592"/>
            <a:ext cx="4892040" cy="45719"/>
          </a:xfrm>
          <a:prstGeom prst="rightArrow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 rtlCol="0" anchor="ctr"/>
          <a:lstStyle/>
          <a:p>
            <a:pPr algn="ctr"/>
            <a:endParaRPr kumimoji="1"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60" name="왼쪽 화살표[L] 59">
            <a:extLst>
              <a:ext uri="{FF2B5EF4-FFF2-40B4-BE49-F238E27FC236}">
                <a16:creationId xmlns:a16="http://schemas.microsoft.com/office/drawing/2014/main" id="{5CCF4A38-C3EE-4268-FB34-AEDE75F98354}"/>
              </a:ext>
            </a:extLst>
          </p:cNvPr>
          <p:cNvSpPr/>
          <p:nvPr/>
        </p:nvSpPr>
        <p:spPr>
          <a:xfrm>
            <a:off x="1074420" y="1964595"/>
            <a:ext cx="4914900" cy="45719"/>
          </a:xfrm>
          <a:prstGeom prst="leftArrow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  <p:txBody>
          <a:bodyPr rtlCol="0" anchor="ctr"/>
          <a:lstStyle/>
          <a:p>
            <a:pPr algn="ctr"/>
            <a:endParaRPr kumimoji="1"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61" name="오른쪽 화살표[R] 60">
            <a:extLst>
              <a:ext uri="{FF2B5EF4-FFF2-40B4-BE49-F238E27FC236}">
                <a16:creationId xmlns:a16="http://schemas.microsoft.com/office/drawing/2014/main" id="{BDD413D5-0659-BD10-9E37-339459046E65}"/>
              </a:ext>
            </a:extLst>
          </p:cNvPr>
          <p:cNvSpPr/>
          <p:nvPr/>
        </p:nvSpPr>
        <p:spPr>
          <a:xfrm>
            <a:off x="1074420" y="2534413"/>
            <a:ext cx="2514600" cy="45719"/>
          </a:xfrm>
          <a:prstGeom prst="rightArrow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 rtlCol="0" anchor="ctr"/>
          <a:lstStyle/>
          <a:p>
            <a:pPr algn="ctr"/>
            <a:endParaRPr kumimoji="1"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62" name="오른쪽 화살표[R] 61">
            <a:extLst>
              <a:ext uri="{FF2B5EF4-FFF2-40B4-BE49-F238E27FC236}">
                <a16:creationId xmlns:a16="http://schemas.microsoft.com/office/drawing/2014/main" id="{B8D3A3B7-32D0-C2A7-CE1D-0355C6558CBB}"/>
              </a:ext>
            </a:extLst>
          </p:cNvPr>
          <p:cNvSpPr/>
          <p:nvPr/>
        </p:nvSpPr>
        <p:spPr>
          <a:xfrm>
            <a:off x="3592088" y="3380924"/>
            <a:ext cx="4480560" cy="52120"/>
          </a:xfrm>
          <a:prstGeom prst="rightArrow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kumimoji="1"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63" name="왼쪽 화살표[L] 62">
            <a:extLst>
              <a:ext uri="{FF2B5EF4-FFF2-40B4-BE49-F238E27FC236}">
                <a16:creationId xmlns:a16="http://schemas.microsoft.com/office/drawing/2014/main" id="{4E212B8C-90AC-B85C-5F0D-E1B11496B205}"/>
              </a:ext>
            </a:extLst>
          </p:cNvPr>
          <p:cNvSpPr/>
          <p:nvPr/>
        </p:nvSpPr>
        <p:spPr>
          <a:xfrm>
            <a:off x="3634740" y="3778260"/>
            <a:ext cx="4434840" cy="45719"/>
          </a:xfrm>
          <a:prstGeom prst="leftArrow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kumimoji="1"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64" name="왼쪽 화살표[L] 63">
            <a:extLst>
              <a:ext uri="{FF2B5EF4-FFF2-40B4-BE49-F238E27FC236}">
                <a16:creationId xmlns:a16="http://schemas.microsoft.com/office/drawing/2014/main" id="{336CF748-0CCC-894A-9D0D-F8A012F4EBED}"/>
              </a:ext>
            </a:extLst>
          </p:cNvPr>
          <p:cNvSpPr/>
          <p:nvPr/>
        </p:nvSpPr>
        <p:spPr>
          <a:xfrm>
            <a:off x="1074420" y="4462155"/>
            <a:ext cx="2514600" cy="45719"/>
          </a:xfrm>
          <a:prstGeom prst="leftArrow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  <p:txBody>
          <a:bodyPr rtlCol="0" anchor="ctr"/>
          <a:lstStyle/>
          <a:p>
            <a:pPr algn="ctr"/>
            <a:endParaRPr kumimoji="1"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65" name="왼쪽 화살표[L] 64">
            <a:extLst>
              <a:ext uri="{FF2B5EF4-FFF2-40B4-BE49-F238E27FC236}">
                <a16:creationId xmlns:a16="http://schemas.microsoft.com/office/drawing/2014/main" id="{520F563E-BF8F-2DFE-B6D8-4B58E7158B59}"/>
              </a:ext>
            </a:extLst>
          </p:cNvPr>
          <p:cNvSpPr/>
          <p:nvPr/>
        </p:nvSpPr>
        <p:spPr>
          <a:xfrm>
            <a:off x="3640171" y="4336082"/>
            <a:ext cx="2326289" cy="45719"/>
          </a:xfrm>
          <a:prstGeom prst="leftArrow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kumimoji="1"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66" name="오른쪽 화살표[R] 65">
            <a:extLst>
              <a:ext uri="{FF2B5EF4-FFF2-40B4-BE49-F238E27FC236}">
                <a16:creationId xmlns:a16="http://schemas.microsoft.com/office/drawing/2014/main" id="{9472971C-44F4-4A12-6473-07E8174F4576}"/>
              </a:ext>
            </a:extLst>
          </p:cNvPr>
          <p:cNvSpPr/>
          <p:nvPr/>
        </p:nvSpPr>
        <p:spPr>
          <a:xfrm>
            <a:off x="3634740" y="4059384"/>
            <a:ext cx="2326289" cy="45719"/>
          </a:xfrm>
          <a:prstGeom prst="rightArrow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 rtlCol="0" anchor="ctr"/>
          <a:lstStyle/>
          <a:p>
            <a:pPr algn="ctr"/>
            <a:endParaRPr kumimoji="1"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B87A9BBE-0C33-66B9-00B1-706BA0D0D46D}"/>
              </a:ext>
            </a:extLst>
          </p:cNvPr>
          <p:cNvSpPr/>
          <p:nvPr/>
        </p:nvSpPr>
        <p:spPr>
          <a:xfrm>
            <a:off x="166616" y="916509"/>
            <a:ext cx="8229600" cy="228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D063E25-1218-EE8F-92D6-66A15FF1BDD1}"/>
              </a:ext>
            </a:extLst>
          </p:cNvPr>
          <p:cNvSpPr/>
          <p:nvPr/>
        </p:nvSpPr>
        <p:spPr>
          <a:xfrm>
            <a:off x="274320" y="1152144"/>
            <a:ext cx="1554480" cy="365760"/>
          </a:xfrm>
          <a:prstGeom prst="rect">
            <a:avLst/>
          </a:prstGeom>
          <a:solidFill>
            <a:srgbClr val="1C3A6B"/>
          </a:solidFill>
          <a:ln w="12700">
            <a:solidFill>
              <a:srgbClr val="1C3A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ABE171D-807D-8BBB-356C-D320C22BB86F}"/>
              </a:ext>
            </a:extLst>
          </p:cNvPr>
          <p:cNvSpPr/>
          <p:nvPr/>
        </p:nvSpPr>
        <p:spPr>
          <a:xfrm>
            <a:off x="274320" y="115214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(포털웹 브라우저)</a:t>
            </a:r>
            <a:endParaRPr lang="en-US" sz="7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CCB0CFA-7F29-DD88-0EC8-696258D2810A}"/>
              </a:ext>
            </a:extLst>
          </p:cNvPr>
          <p:cNvSpPr/>
          <p:nvPr/>
        </p:nvSpPr>
        <p:spPr>
          <a:xfrm>
            <a:off x="2423160" y="1152144"/>
            <a:ext cx="2377440" cy="365760"/>
          </a:xfrm>
          <a:prstGeom prst="rect">
            <a:avLst/>
          </a:prstGeom>
          <a:solidFill>
            <a:srgbClr val="1C3A6B"/>
          </a:solidFill>
          <a:ln w="12700">
            <a:solidFill>
              <a:srgbClr val="1C3A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BED3C72-25FD-4B5D-E248-0DB25560B913}"/>
              </a:ext>
            </a:extLst>
          </p:cNvPr>
          <p:cNvSpPr/>
          <p:nvPr/>
        </p:nvSpPr>
        <p:spPr>
          <a:xfrm>
            <a:off x="2423160" y="11521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 백엔드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(포털관리·AICM·TA·QA·어드바이저 등 — BFF 겸임 포함)</a:t>
            </a:r>
            <a:endParaRPr lang="en-US" sz="7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0AF3A79-78FB-A4C1-10F6-ABD64101F465}"/>
              </a:ext>
            </a:extLst>
          </p:cNvPr>
          <p:cNvSpPr/>
          <p:nvPr/>
        </p:nvSpPr>
        <p:spPr>
          <a:xfrm>
            <a:off x="5120640" y="1152144"/>
            <a:ext cx="1737360" cy="365760"/>
          </a:xfrm>
          <a:prstGeom prst="rect">
            <a:avLst/>
          </a:prstGeom>
          <a:solidFill>
            <a:srgbClr val="1C3A6B"/>
          </a:solidFill>
          <a:ln w="12700">
            <a:solidFill>
              <a:srgbClr val="1C3A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75A0F77-25E6-C925-05E0-65D2697C7A93}"/>
              </a:ext>
            </a:extLst>
          </p:cNvPr>
          <p:cNvSpPr/>
          <p:nvPr/>
        </p:nvSpPr>
        <p:spPr>
          <a:xfrm>
            <a:off x="5120640" y="115214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포털백엔드(</a:t>
            </a:r>
            <a:r>
              <a:rPr lang="en-US" sz="7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인증서버</a:t>
            </a: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7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5955F7E3-E8FC-2B8F-6318-17110F7914D4}"/>
              </a:ext>
            </a:extLst>
          </p:cNvPr>
          <p:cNvSpPr/>
          <p:nvPr/>
        </p:nvSpPr>
        <p:spPr>
          <a:xfrm>
            <a:off x="7315200" y="1152144"/>
            <a:ext cx="1554480" cy="365760"/>
          </a:xfrm>
          <a:prstGeom prst="rect">
            <a:avLst/>
          </a:prstGeom>
          <a:solidFill>
            <a:srgbClr val="45515E"/>
          </a:solidFill>
          <a:ln w="12700">
            <a:solidFill>
              <a:srgbClr val="4551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AE25D08-3F87-C353-3897-DD5DCD923F25}"/>
              </a:ext>
            </a:extLst>
          </p:cNvPr>
          <p:cNvSpPr/>
          <p:nvPr/>
        </p:nvSpPr>
        <p:spPr>
          <a:xfrm>
            <a:off x="7315200" y="115214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서비스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(AICM·에이전트빌더 등 — 사용 앱만)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135930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32629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적용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04216" y="740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단기 · BFF 쿠키화 · 쿠키·CSRF·CORS 동반 작업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04216" y="1033272"/>
            <a:ext cx="8229600" cy="228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02920" y="1188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—  저장·갱신 강화 (BFF + Rotation)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49440" y="1188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단기 · 중간 난이도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4216" y="1143000"/>
            <a:ext cx="8522208" cy="1005840"/>
          </a:xfrm>
          <a:prstGeom prst="rect">
            <a:avLst/>
          </a:prstGeom>
          <a:solidFill>
            <a:srgbClr val="F4F7FF"/>
          </a:solidFill>
          <a:ln w="9525">
            <a:solidFill>
              <a:srgbClr val="E8ECF0"/>
            </a:solidFill>
            <a:prstDash val="solid"/>
          </a:ln>
          <a:effectLst>
            <a:outerShdw blurRad="50800" dist="25400" dir="2700000" algn="bl" rotWithShape="0">
              <a:srgbClr val="AAAAA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04216" y="1143000"/>
            <a:ext cx="749808" cy="1005840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04216" y="1143000"/>
            <a:ext cx="749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27176" y="1216152"/>
            <a:ext cx="7626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 서버사이드 토큰 보관 + httpOnly 쿠키 전환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7176" y="1490472"/>
            <a:ext cx="7626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문제: 토큰이 sessionStorage+localStorage에 이중 저장 → XSS 탈취 가능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27176" y="1709928"/>
            <a:ext cx="7626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조치: BFF가 access·refresh를 서버(Redis)에 보관. 브라우저엔 httpOnly·Secure·SameSite 쿠키만 발급.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27176" y="1929384"/>
            <a:ext cx="7626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5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효과: JS로 토큰 직접 접근 불가 → XSS 탈취 원천 차단 (Browser-Based BCP 최상위 패턴)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4216" y="2221992"/>
            <a:ext cx="8522208" cy="1005840"/>
          </a:xfrm>
          <a:prstGeom prst="rect">
            <a:avLst/>
          </a:prstGeom>
          <a:solidFill>
            <a:srgbClr val="F4F7FF"/>
          </a:solidFill>
          <a:ln w="9525">
            <a:solidFill>
              <a:srgbClr val="E8ECF0"/>
            </a:solidFill>
            <a:prstDash val="solid"/>
          </a:ln>
          <a:effectLst>
            <a:outerShdw blurRad="50800" dist="25400" dir="2700000" algn="bl" rotWithShape="0">
              <a:srgbClr val="AAAAA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204216" y="2221992"/>
            <a:ext cx="749808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204216" y="2221992"/>
            <a:ext cx="749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27176" y="2295144"/>
            <a:ext cx="7626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Rotation + 재사용 감지 (RFC 9700)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27176" y="2569464"/>
            <a:ext cx="7626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문제: refresh 14일 장수명 → 탈취 시 장기 악용 가능. 재사용 감지 없음.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27176" y="2788920"/>
            <a:ext cx="7626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조치: 갱신마다 새 refresh 발급(rotation). 폐기된 refresh 재등장 시 세션 전체 무효화. Grace 윈도우 병행.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27176" y="3008376"/>
            <a:ext cx="7626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효과: 탈취 즉시 감지 · 세션 자동 무효화 · refresh 수명 단축(→ 1~3일)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7472" y="3913632"/>
            <a:ext cx="749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어드</a:t>
            </a:r>
            <a:endParaRPr lang="en-US" sz="1300" dirty="0"/>
          </a:p>
        </p:txBody>
      </p:sp>
      <p:sp>
        <p:nvSpPr>
          <p:cNvPr id="5" name="Shape 8">
            <a:extLst>
              <a:ext uri="{FF2B5EF4-FFF2-40B4-BE49-F238E27FC236}">
                <a16:creationId xmlns:a16="http://schemas.microsoft.com/office/drawing/2014/main" id="{D84A0BAA-AB19-64CE-2A3F-E512F640FB79}"/>
              </a:ext>
            </a:extLst>
          </p:cNvPr>
          <p:cNvSpPr/>
          <p:nvPr/>
        </p:nvSpPr>
        <p:spPr>
          <a:xfrm>
            <a:off x="204216" y="3300984"/>
            <a:ext cx="8522208" cy="987552"/>
          </a:xfrm>
          <a:prstGeom prst="rect">
            <a:avLst/>
          </a:prstGeom>
          <a:solidFill>
            <a:srgbClr val="F4F7FF"/>
          </a:solidFill>
          <a:ln w="9525">
            <a:solidFill>
              <a:srgbClr val="E8ECF0"/>
            </a:solidFill>
            <a:prstDash val="solid"/>
          </a:ln>
          <a:effectLst>
            <a:outerShdw blurRad="50800" dist="25400" dir="2700000" algn="bl" rotWithShape="0">
              <a:srgbClr val="AAAAA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9">
            <a:extLst>
              <a:ext uri="{FF2B5EF4-FFF2-40B4-BE49-F238E27FC236}">
                <a16:creationId xmlns:a16="http://schemas.microsoft.com/office/drawing/2014/main" id="{4801CBF3-38A7-D564-F2BC-3CC9AF14EC3C}"/>
              </a:ext>
            </a:extLst>
          </p:cNvPr>
          <p:cNvSpPr/>
          <p:nvPr/>
        </p:nvSpPr>
        <p:spPr>
          <a:xfrm>
            <a:off x="204216" y="3300984"/>
            <a:ext cx="749808" cy="987552"/>
          </a:xfrm>
          <a:prstGeom prst="rect">
            <a:avLst/>
          </a:prstGeom>
          <a:solidFill>
            <a:srgbClr val="6B48C8"/>
          </a:solidFill>
          <a:ln w="12700">
            <a:solidFill>
              <a:srgbClr val="6B4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42AA3FFE-5CD7-CE6E-DC67-A8E46CBDFC0D}"/>
              </a:ext>
            </a:extLst>
          </p:cNvPr>
          <p:cNvSpPr/>
          <p:nvPr/>
        </p:nvSpPr>
        <p:spPr>
          <a:xfrm>
            <a:off x="204216" y="3300984"/>
            <a:ext cx="7498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</a:t>
            </a:r>
            <a:endParaRPr lang="en-US" sz="1300" dirty="0"/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61285610-19F8-D8DC-C8B2-732417AEDE12}"/>
              </a:ext>
            </a:extLst>
          </p:cNvPr>
          <p:cNvSpPr/>
          <p:nvPr/>
        </p:nvSpPr>
        <p:spPr>
          <a:xfrm>
            <a:off x="1027176" y="3374136"/>
            <a:ext cx="7626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JWKS 공개키 배포 + API Gateway </a:t>
            </a:r>
            <a:r>
              <a:rPr lang="en-US" sz="1200" b="1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</a:t>
            </a: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전환</a:t>
            </a:r>
            <a:endParaRPr lang="en-US" sz="1200" dirty="0"/>
          </a:p>
        </p:txBody>
      </p:sp>
      <p:sp>
        <p:nvSpPr>
          <p:cNvPr id="35" name="Text 12">
            <a:extLst>
              <a:ext uri="{FF2B5EF4-FFF2-40B4-BE49-F238E27FC236}">
                <a16:creationId xmlns:a16="http://schemas.microsoft.com/office/drawing/2014/main" id="{31ED471F-A62F-B9B8-7270-1F9E4BA8A0B3}"/>
              </a:ext>
            </a:extLst>
          </p:cNvPr>
          <p:cNvSpPr/>
          <p:nvPr/>
        </p:nvSpPr>
        <p:spPr>
          <a:xfrm>
            <a:off x="1027176" y="3648456"/>
            <a:ext cx="7626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문제: 현재 앱마다 검증 방식이 제각각(또는 생략) → SSO를 성립시킬 공용 검증 기반 자체가 없음</a:t>
            </a:r>
            <a:endParaRPr lang="en-US" sz="1000" dirty="0"/>
          </a:p>
        </p:txBody>
      </p:sp>
      <p:sp>
        <p:nvSpPr>
          <p:cNvPr id="36" name="Text 13">
            <a:extLst>
              <a:ext uri="{FF2B5EF4-FFF2-40B4-BE49-F238E27FC236}">
                <a16:creationId xmlns:a16="http://schemas.microsoft.com/office/drawing/2014/main" id="{AEADCA9D-9F54-1AD5-FFD9-964F4CC6656A}"/>
              </a:ext>
            </a:extLst>
          </p:cNvPr>
          <p:cNvSpPr/>
          <p:nvPr/>
        </p:nvSpPr>
        <p:spPr>
          <a:xfrm>
            <a:off x="1027176" y="3867912"/>
            <a:ext cx="7626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조치: 인증서버에 /.well-known/jwks.json 신설. API Gateway </a:t>
            </a:r>
            <a:r>
              <a:rPr lang="en-US" sz="10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공개키</a:t>
            </a: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캐시 후 자체 검증(kid 매칭).</a:t>
            </a:r>
            <a:endParaRPr lang="en-US" sz="1000" dirty="0"/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CAC9A6B9-8718-2954-00FE-94F7CFCD0067}"/>
              </a:ext>
            </a:extLst>
          </p:cNvPr>
          <p:cNvSpPr/>
          <p:nvPr/>
        </p:nvSpPr>
        <p:spPr>
          <a:xfrm>
            <a:off x="1027176" y="4087368"/>
            <a:ext cx="7626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4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효과: 성능 개선이 아니라 SSO </a:t>
            </a:r>
            <a:r>
              <a:rPr lang="en-US" sz="1000" b="1" dirty="0" err="1">
                <a:solidFill>
                  <a:srgbClr val="6B4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성립의</a:t>
            </a:r>
            <a:r>
              <a:rPr lang="en-US" sz="1000" b="1" dirty="0">
                <a:solidFill>
                  <a:srgbClr val="6B4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 err="1">
                <a:solidFill>
                  <a:srgbClr val="6B4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전제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0980" y="2788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적용 로드맵 — Phase 3 &amp; 선택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20980" y="6903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중기 · 인증서버 협업 필요 · 표준화 완성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20980" y="982980"/>
            <a:ext cx="8229600" cy="228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47472" y="1188720"/>
            <a:ext cx="8522208" cy="457200"/>
          </a:xfrm>
          <a:prstGeom prst="rect">
            <a:avLst/>
          </a:prstGeom>
          <a:solidFill>
            <a:srgbClr val="6B48C8"/>
          </a:solidFill>
          <a:ln w="12700">
            <a:solidFill>
              <a:srgbClr val="6B4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02920" y="1188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—  검증·플로우 표준화 (JWKS + PKCE)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49440" y="1188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중기 · 인증서버 협업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1755648"/>
            <a:ext cx="8522208" cy="987552"/>
          </a:xfrm>
          <a:prstGeom prst="rect">
            <a:avLst/>
          </a:prstGeom>
          <a:solidFill>
            <a:srgbClr val="F4F7FF"/>
          </a:solidFill>
          <a:ln w="9525">
            <a:solidFill>
              <a:srgbClr val="E8ECF0"/>
            </a:solidFill>
            <a:prstDash val="solid"/>
          </a:ln>
          <a:effectLst>
            <a:outerShdw blurRad="50800" dist="25400" dir="2700000" algn="bl" rotWithShape="0">
              <a:srgbClr val="AAAAA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47472" y="1755648"/>
            <a:ext cx="749808" cy="987552"/>
          </a:xfrm>
          <a:prstGeom prst="rect">
            <a:avLst/>
          </a:prstGeom>
          <a:solidFill>
            <a:srgbClr val="6B48C8"/>
          </a:solidFill>
          <a:ln w="12700">
            <a:solidFill>
              <a:srgbClr val="6B4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47472" y="1755648"/>
            <a:ext cx="7498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70432" y="1828800"/>
            <a:ext cx="7626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JWKS 공개키 배포 + 전 앱 자체 </a:t>
            </a:r>
            <a:r>
              <a:rPr lang="en-US" sz="1200" b="1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</a:t>
            </a: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전환</a:t>
            </a:r>
            <a:r>
              <a:rPr lang="en-US" altLang="ko-KR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r>
              <a:rPr lang="en-US" altLang="ko-KR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70432" y="2103120"/>
            <a:ext cx="7626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문제: 현재 앱마다 검증 방식이 제각각(또는 생략) → SSO를 성립시킬 공용 검증 기반 자체가 없음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70432" y="2322576"/>
            <a:ext cx="7626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조치: 인증서버에 /.well-known/jwks.json 신설. 모든 앱 백엔드가 공개키 캐시 후 자체 검증(kid 매칭).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70432" y="2542032"/>
            <a:ext cx="7626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4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효과: 성능 개선이 아니라 SSO 성립의 전제 조건 — Phase 1~2로 앞당기는 것을 검토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" y="2807208"/>
            <a:ext cx="8522208" cy="987552"/>
          </a:xfrm>
          <a:prstGeom prst="rect">
            <a:avLst/>
          </a:prstGeom>
          <a:solidFill>
            <a:srgbClr val="F4F7FF"/>
          </a:solidFill>
          <a:ln w="9525">
            <a:solidFill>
              <a:srgbClr val="E8ECF0"/>
            </a:solidFill>
            <a:prstDash val="solid"/>
          </a:ln>
          <a:effectLst>
            <a:outerShdw blurRad="50800" dist="25400" dir="2700000" algn="bl" rotWithShape="0">
              <a:srgbClr val="AAAAA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347472" y="2807208"/>
            <a:ext cx="749808" cy="987552"/>
          </a:xfrm>
          <a:prstGeom prst="rect">
            <a:avLst/>
          </a:prstGeom>
          <a:solidFill>
            <a:srgbClr val="1C3A6B"/>
          </a:solidFill>
          <a:ln w="12700">
            <a:solidFill>
              <a:srgbClr val="1C3A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47472" y="2807208"/>
            <a:ext cx="7498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70432" y="2880360"/>
            <a:ext cx="7626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Code + PKCE (</a:t>
            </a:r>
            <a:r>
              <a:rPr lang="en-US" sz="1200" b="1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장기</a:t>
            </a: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승격안</a:t>
            </a:r>
            <a:r>
              <a:rPr lang="ko-KR" altLang="en-US" sz="1200" b="1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으로</a:t>
            </a:r>
            <a:r>
              <a:rPr lang="ko-KR" alt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현재로는 </a:t>
            </a:r>
            <a:r>
              <a:rPr lang="ko-KR" altLang="en-US" sz="1200" b="1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진행안함</a:t>
            </a:r>
            <a:r>
              <a:rPr lang="ko-KR" alt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ko-KR" alt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옵션</a:t>
            </a: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70432" y="3154680"/>
            <a:ext cx="7626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문제: 현재 자격증명 직접 POST(/auth/login) → 표준 플로우 아님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70432" y="3374136"/>
            <a:ext cx="7626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조치: 옵션2(현 /auth 최소개조) 먼저 안정화 후 옵션1(표준 OIDC Code+PKCE)로 장기 승격. Phase 1~2 자산 재사용.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70432" y="3593592"/>
            <a:ext cx="7626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효과: 자격증명 격리 강화 · 표준 SSO · 기존 JWKS·rotation·쿠키 자산 그대로 재활용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" y="3895344"/>
            <a:ext cx="8522208" cy="896112"/>
          </a:xfrm>
          <a:prstGeom prst="rect">
            <a:avLst/>
          </a:prstGeom>
          <a:solidFill>
            <a:srgbClr val="FFF8EC"/>
          </a:solidFill>
          <a:ln w="9525">
            <a:solidFill>
              <a:srgbClr val="E05252"/>
            </a:solidFill>
            <a:prstDash val="solid"/>
          </a:ln>
          <a:effectLst>
            <a:outerShdw blurRad="50800" dist="25400" dir="2700000" algn="bl" rotWithShape="0">
              <a:srgbClr val="AAAAA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347472" y="3895344"/>
            <a:ext cx="749808" cy="89611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347472" y="3895344"/>
            <a:ext cx="7498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70432" y="3950208"/>
            <a:ext cx="7626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  DPoP — Sender-constrained Token (고보안 요건 시)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70432" y="4224528"/>
            <a:ext cx="7626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9700 권고: 토큰을 클라이언트에 바인딩(DPoP/mTLS) → 탈취된 토큰을 다른 클라이언트가 사용 불가.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70432" y="4462272"/>
            <a:ext cx="7626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온프레미스 구현 비용 감안 → 고보안 요건이 있을 때 선택 적용.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7472" y="4846320"/>
            <a:ext cx="8522208" cy="0"/>
          </a:xfrm>
          <a:prstGeom prst="rect">
            <a:avLst/>
          </a:prstGeom>
          <a:solidFill>
            <a:srgbClr val="F4F7FF"/>
          </a:solidFill>
          <a:ln w="9525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E7E72618-D5DD-1645-BD45-11304C70E0AF}"/>
              </a:ext>
            </a:extLst>
          </p:cNvPr>
          <p:cNvSpPr/>
          <p:nvPr/>
        </p:nvSpPr>
        <p:spPr>
          <a:xfrm>
            <a:off x="8396216" y="-6348"/>
            <a:ext cx="6639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45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Timbel</a:t>
            </a:r>
            <a:endParaRPr lang="en-US" sz="1400" dirty="0"/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286B0EFA-FD8C-85F5-955B-307D955EA43D}"/>
              </a:ext>
            </a:extLst>
          </p:cNvPr>
          <p:cNvSpPr/>
          <p:nvPr/>
        </p:nvSpPr>
        <p:spPr>
          <a:xfrm>
            <a:off x="83821" y="304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4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적용 로드맵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5"/>
          <p:cNvSpPr/>
          <p:nvPr/>
        </p:nvSpPr>
        <p:spPr>
          <a:xfrm>
            <a:off x="3823297" y="2177764"/>
            <a:ext cx="1577186" cy="45719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48">
            <a:extLst>
              <a:ext uri="{FF2B5EF4-FFF2-40B4-BE49-F238E27FC236}">
                <a16:creationId xmlns:a16="http://schemas.microsoft.com/office/drawing/2014/main" id="{98EAB12F-477D-B5F8-BB4A-64E5BDD180C9}"/>
              </a:ext>
            </a:extLst>
          </p:cNvPr>
          <p:cNvSpPr/>
          <p:nvPr/>
        </p:nvSpPr>
        <p:spPr>
          <a:xfrm flipH="1">
            <a:off x="1966513" y="1905789"/>
            <a:ext cx="45719" cy="903873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Text 0"/>
          <p:cNvSpPr/>
          <p:nvPr/>
        </p:nvSpPr>
        <p:spPr>
          <a:xfrm>
            <a:off x="83821" y="212597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222"/>
                </a:solidFill>
                <a:latin typeface="Calibri" pitchFamily="34" charset="0"/>
                <a:cs typeface="Calibri" pitchFamily="34" charset="-120"/>
              </a:rPr>
              <a:t>API Architecture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8872" y="621701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 </a:t>
            </a:r>
            <a:r>
              <a:rPr lang="en-US" altLang="ko-KR" sz="120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r>
              <a:rPr lang="en-US" sz="120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httpOnly 쿠키 직접형 · JWKS 자체 검증 · 내부망 신뢰 경계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66616" y="901106"/>
            <a:ext cx="8229600" cy="228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74320" y="1030714"/>
            <a:ext cx="8595360" cy="880382"/>
          </a:xfrm>
          <a:prstGeom prst="rect">
            <a:avLst/>
          </a:prstGeom>
          <a:solidFill>
            <a:srgbClr val="EEF2FF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56616" y="1075699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5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— httpOnly 쿠키만 (토큰 없음, JS 접근 불가)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84048" y="1356130"/>
            <a:ext cx="1371600" cy="438912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84048" y="1356130"/>
            <a:ext cx="137160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상담사·관리자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1610699"/>
            <a:ext cx="1371600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브라우저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343784" y="146249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 쿠키 (공유)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809664"/>
            <a:ext cx="3548977" cy="985096"/>
          </a:xfrm>
          <a:prstGeom prst="rect">
            <a:avLst/>
          </a:prstGeom>
          <a:solidFill>
            <a:srgbClr val="EDFAF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56616" y="2882920"/>
            <a:ext cx="1177613" cy="35634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56616" y="2882920"/>
            <a:ext cx="1177613" cy="383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대시보드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616525" y="2878873"/>
            <a:ext cx="1076604" cy="3709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616526" y="2882919"/>
            <a:ext cx="1076604" cy="366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어드바이저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75425" y="2878935"/>
            <a:ext cx="961955" cy="365123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2775425" y="2882919"/>
            <a:ext cx="961955" cy="361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56617" y="3294260"/>
            <a:ext cx="1177612" cy="44445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356617" y="3294260"/>
            <a:ext cx="1177612" cy="444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</a:t>
            </a:r>
            <a:r>
              <a:rPr lang="ko-KR" altLang="en-US" sz="1000" dirty="0"/>
              <a:t>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빌더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616526" y="3302552"/>
            <a:ext cx="1076604" cy="43616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1616525" y="3287676"/>
            <a:ext cx="1076605" cy="451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75425" y="3296148"/>
            <a:ext cx="961955" cy="43048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2775425" y="3294260"/>
            <a:ext cx="961955" cy="425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355971" y="2011680"/>
            <a:ext cx="3513709" cy="1783080"/>
          </a:xfrm>
          <a:prstGeom prst="rect">
            <a:avLst/>
          </a:prstGeom>
          <a:solidFill>
            <a:srgbClr val="F0F4FF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5400483" y="2033661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5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인증서비스 (/auth/*)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00484" y="2286000"/>
            <a:ext cx="1706062" cy="713232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5400484" y="2286000"/>
            <a:ext cx="1706062" cy="37144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발급·갱신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00484" y="2699675"/>
            <a:ext cx="1706062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개인키 RS256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167035" y="2286000"/>
            <a:ext cx="1611205" cy="713232"/>
          </a:xfrm>
          <a:prstGeom prst="rect">
            <a:avLst/>
          </a:prstGeom>
          <a:solidFill>
            <a:srgbClr val="1C3A6B"/>
          </a:solidFill>
          <a:ln w="12700">
            <a:solidFill>
              <a:srgbClr val="1C3A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7167035" y="2286000"/>
            <a:ext cx="1611205" cy="4136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JWKS</a:t>
            </a:r>
            <a:r>
              <a:rPr lang="en-US" sz="1000" dirty="0"/>
              <a:t>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151059" y="2699675"/>
            <a:ext cx="1627181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/.well-known/jwks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400483" y="3072384"/>
            <a:ext cx="3377757" cy="666330"/>
          </a:xfrm>
          <a:prstGeom prst="rect">
            <a:avLst/>
          </a:prstGeom>
          <a:solidFill>
            <a:srgbClr val="1C3A6B"/>
          </a:solidFill>
          <a:ln w="12700">
            <a:solidFill>
              <a:srgbClr val="1C3A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5400483" y="3072384"/>
            <a:ext cx="3377757" cy="3135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+ Grace 윈도우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00483" y="3422416"/>
            <a:ext cx="3377757" cy="352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재사용 감지 · 동일토큰반환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74320" y="4227074"/>
            <a:ext cx="4815627" cy="640080"/>
          </a:xfrm>
          <a:prstGeom prst="rect">
            <a:avLst/>
          </a:prstGeom>
          <a:solidFill>
            <a:srgbClr val="1C3A6B"/>
          </a:solidFill>
          <a:ln w="12700">
            <a:solidFill>
              <a:srgbClr val="1C3A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274320" y="4227074"/>
            <a:ext cx="4815627" cy="2627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API 서비스 (AICM · CE · LLM</a:t>
            </a:r>
            <a:r>
              <a:rPr lang="en-US" altLang="ko-Kore-KR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USER HOST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74320" y="4542542"/>
            <a:ext cx="4815627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 구간 — 도커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서비스명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통신</a:t>
            </a:r>
            <a:endParaRPr lang="en-US" sz="8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4612046" y="2286000"/>
            <a:ext cx="708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45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로그인·갱신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45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(only)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005072" y="2227436"/>
            <a:ext cx="74392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JWKS 취득(캐시)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656163" y="3791426"/>
            <a:ext cx="45719" cy="42317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384048" y="3899128"/>
            <a:ext cx="52189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내부망(도커 서비스명) — 사용자 토큰 없음, 내부 헤더만 (⚠ 의도적 신뢰 </a:t>
            </a:r>
            <a:r>
              <a:rPr lang="en-US" sz="800" b="1" dirty="0" err="1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경계</a:t>
            </a:r>
            <a:r>
              <a:rPr lang="en-US" sz="8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ko-KR" altLang="en-US" sz="8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8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ko-KR" altLang="en-US" sz="8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내부 시크릿 헤더 사용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74320" y="4894586"/>
            <a:ext cx="8595360" cy="0"/>
          </a:xfrm>
          <a:prstGeom prst="rect">
            <a:avLst/>
          </a:prstGeom>
          <a:solidFill>
            <a:srgbClr val="F4F7FF"/>
          </a:solidFill>
          <a:ln w="9525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D0A41155-B753-7D59-1A7B-F52DFE7A622F}"/>
              </a:ext>
            </a:extLst>
          </p:cNvPr>
          <p:cNvSpPr/>
          <p:nvPr/>
        </p:nvSpPr>
        <p:spPr>
          <a:xfrm>
            <a:off x="292607" y="2079133"/>
            <a:ext cx="3530689" cy="57831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API Gateway</a:t>
            </a:r>
          </a:p>
          <a:p>
            <a:pPr algn="ctr"/>
            <a:r>
              <a:rPr lang="ko-KR" altLang="en-US" sz="900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선제갱신 </a:t>
            </a:r>
            <a:r>
              <a:rPr lang="en-US" altLang="ko-Kore-KR" sz="900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· </a:t>
            </a:r>
            <a:r>
              <a:rPr lang="ko-KR" altLang="en-US" sz="900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라우팅</a:t>
            </a:r>
            <a:r>
              <a:rPr lang="en-US" altLang="ko-Kore-KR" sz="900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 ·</a:t>
            </a:r>
            <a:r>
              <a:rPr lang="ko-KR" altLang="en-US" sz="900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 검증 </a:t>
            </a:r>
            <a:r>
              <a:rPr lang="en-US" altLang="ko-Kore-KR" sz="900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· </a:t>
            </a:r>
            <a:r>
              <a:rPr lang="ko-KR" altLang="en-US" sz="900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쿠키관리</a:t>
            </a:r>
            <a:r>
              <a:rPr lang="en-US" altLang="ko-Kore-KR" sz="900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 ·</a:t>
            </a:r>
            <a:r>
              <a:rPr lang="ko-KR" altLang="en-US" sz="900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 공통정책</a:t>
            </a:r>
            <a:r>
              <a:rPr lang="en-US" altLang="ko-KR" sz="900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(rate</a:t>
            </a:r>
            <a:r>
              <a:rPr lang="ko-KR" altLang="en-US" sz="900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 </a:t>
            </a:r>
            <a:r>
              <a:rPr lang="en-US" altLang="ko-KR" sz="900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limit,</a:t>
            </a:r>
            <a:r>
              <a:rPr lang="ko-KR" altLang="en-US" sz="900" dirty="0" err="1">
                <a:solidFill>
                  <a:srgbClr val="FFFFFF"/>
                </a:solidFill>
                <a:latin typeface="+mn-ea"/>
                <a:cs typeface="Calibri" pitchFamily="34" charset="-120"/>
              </a:rPr>
              <a:t>로깅등</a:t>
            </a:r>
            <a:r>
              <a:rPr lang="en-US" altLang="ko-KR" sz="900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)</a:t>
            </a:r>
            <a:r>
              <a:rPr lang="ko-KR" altLang="en-US" sz="900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 </a:t>
            </a:r>
            <a:endParaRPr lang="en-US" altLang="ko-Kore-KR" sz="900" dirty="0">
              <a:latin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" y="25285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</a:t>
            </a:r>
            <a:r>
              <a:rPr lang="en-US" sz="2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세션(로그인 유지) 정책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28016" y="66522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개선안 도입 전 보안팀·현업 합의 필요 · 쿠키 종류는 코드 구조 아닌 설정값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66616" y="950976"/>
            <a:ext cx="8229600" cy="228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47472" y="1188720"/>
            <a:ext cx="8522208" cy="475488"/>
          </a:xfrm>
          <a:prstGeom prst="rect">
            <a:avLst/>
          </a:prstGeom>
          <a:solidFill>
            <a:srgbClr val="F0F4FF"/>
          </a:solidFill>
          <a:ln w="9525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02920" y="126187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5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원칙: 쿠키 종류(세션/지속)는 코드 구조 변경이 아니라 설정값 — 정책이 바뀌면 전환만 하면 됩니다.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737360"/>
            <a:ext cx="1664208" cy="347472"/>
          </a:xfrm>
          <a:prstGeom prst="rect">
            <a:avLst/>
          </a:prstGeom>
          <a:solidFill>
            <a:srgbClr val="1C3A6B"/>
          </a:solidFill>
          <a:ln w="12700">
            <a:solidFill>
              <a:srgbClr val="1C3A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47472" y="17373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정책 항목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48256" y="1737360"/>
            <a:ext cx="2176272" cy="347472"/>
          </a:xfrm>
          <a:prstGeom prst="rect">
            <a:avLst/>
          </a:prstGeom>
          <a:solidFill>
            <a:srgbClr val="1C3A6B"/>
          </a:solidFill>
          <a:ln w="12700">
            <a:solidFill>
              <a:srgbClr val="1C3A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304288" y="17373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정하는 것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61104" y="1737360"/>
            <a:ext cx="2560320" cy="347472"/>
          </a:xfrm>
          <a:prstGeom prst="rect">
            <a:avLst/>
          </a:prstGeom>
          <a:solidFill>
            <a:srgbClr val="1C3A6B"/>
          </a:solidFill>
          <a:ln w="12700">
            <a:solidFill>
              <a:srgbClr val="1C3A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261104" y="17373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확정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0" y="1737360"/>
            <a:ext cx="2029968" cy="347472"/>
          </a:xfrm>
          <a:prstGeom prst="rect">
            <a:avLst/>
          </a:prstGeom>
          <a:solidFill>
            <a:srgbClr val="1C3A6B"/>
          </a:solidFill>
          <a:ln w="12700">
            <a:solidFill>
              <a:srgbClr val="1C3A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858000" y="173736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비고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" y="2084832"/>
            <a:ext cx="1664208" cy="384048"/>
          </a:xfrm>
          <a:prstGeom prst="rect">
            <a:avLst/>
          </a:prstGeom>
          <a:solidFill>
            <a:srgbClr val="F8FAFE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20624" y="2130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쿠키 종류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057400" y="2084832"/>
            <a:ext cx="2167128" cy="384048"/>
          </a:xfrm>
          <a:prstGeom prst="rect">
            <a:avLst/>
          </a:prstGeom>
          <a:solidFill>
            <a:srgbClr val="F8FAFE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2156460" y="2130552"/>
            <a:ext cx="2049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브라우저를 닫으면?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61104" y="2084832"/>
            <a:ext cx="2560320" cy="384048"/>
          </a:xfrm>
          <a:prstGeom prst="rect">
            <a:avLst/>
          </a:prstGeom>
          <a:solidFill>
            <a:srgbClr val="F8FAFE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334256" y="21305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지속</a:t>
            </a: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(유지)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0" y="2084832"/>
            <a:ext cx="2029968" cy="384048"/>
          </a:xfrm>
          <a:prstGeom prst="rect">
            <a:avLst/>
          </a:prstGeom>
          <a:solidFill>
            <a:srgbClr val="F8FAFE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931152" y="2130552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설정값 — 전환 용이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7472" y="2468880"/>
            <a:ext cx="166420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20624" y="2514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수명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048256" y="2468880"/>
            <a:ext cx="217627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2156460" y="2514600"/>
            <a:ext cx="2049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재로그인 없이 유지되는 최대 기간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261104" y="2468880"/>
            <a:ext cx="2560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334256" y="25146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r>
              <a:rPr lang="ko-KR" alt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58000" y="2468880"/>
            <a:ext cx="202996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931152" y="2514600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유지의 실질 상한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7472" y="2852928"/>
            <a:ext cx="1664208" cy="384048"/>
          </a:xfrm>
          <a:prstGeom prst="rect">
            <a:avLst/>
          </a:prstGeom>
          <a:solidFill>
            <a:srgbClr val="F8FAFE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20624" y="28986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수명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048256" y="2852928"/>
            <a:ext cx="2176272" cy="384048"/>
          </a:xfrm>
          <a:prstGeom prst="rect">
            <a:avLst/>
          </a:prstGeom>
          <a:solidFill>
            <a:srgbClr val="F8FAFE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2156460" y="2898648"/>
            <a:ext cx="2049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토큰 재발급 주기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261104" y="2852928"/>
            <a:ext cx="2560320" cy="384048"/>
          </a:xfrm>
          <a:prstGeom prst="rect">
            <a:avLst/>
          </a:prstGeom>
          <a:solidFill>
            <a:srgbClr val="F8FAFE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4334256" y="28986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r>
              <a:rPr lang="ko-KR" alt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</a:t>
            </a:r>
            <a:r>
              <a:rPr lang="en-US" altLang="ko-KR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(Dev), 20</a:t>
            </a:r>
            <a:r>
              <a:rPr lang="ko-KR" alt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</a:t>
            </a:r>
            <a:r>
              <a:rPr lang="en-US" altLang="ko-KR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(Prod)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858000" y="2852928"/>
            <a:ext cx="2029968" cy="384048"/>
          </a:xfrm>
          <a:prstGeom prst="rect">
            <a:avLst/>
          </a:prstGeom>
          <a:solidFill>
            <a:srgbClr val="F8FAFE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6931152" y="2898648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refresh로 사용자 체감 없음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47472" y="3236976"/>
            <a:ext cx="166420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420624" y="32826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유휴(idle) 타임아웃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048256" y="3236976"/>
            <a:ext cx="217627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2156460" y="3282696"/>
            <a:ext cx="2049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무조작 방치 시 만료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261104" y="3236976"/>
            <a:ext cx="2560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4334256" y="328269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cs typeface="Calibri" pitchFamily="34" charset="-120"/>
              </a:rPr>
              <a:t>X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858000" y="3236976"/>
            <a:ext cx="202996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6931152" y="3282696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공용 PC 보안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47472" y="3621024"/>
            <a:ext cx="1664208" cy="384048"/>
          </a:xfrm>
          <a:prstGeom prst="rect">
            <a:avLst/>
          </a:prstGeom>
          <a:solidFill>
            <a:srgbClr val="F8FAFE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420624" y="36667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절대 만료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048256" y="3621024"/>
            <a:ext cx="2176272" cy="384048"/>
          </a:xfrm>
          <a:prstGeom prst="rect">
            <a:avLst/>
          </a:prstGeom>
          <a:solidFill>
            <a:srgbClr val="F8FAFE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2156460" y="3666744"/>
            <a:ext cx="2049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후 무조건 재로그인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261104" y="3621024"/>
            <a:ext cx="2560320" cy="384048"/>
          </a:xfrm>
          <a:prstGeom prst="rect">
            <a:avLst/>
          </a:prstGeom>
          <a:solidFill>
            <a:srgbClr val="F8FAFE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4334256" y="36667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858000" y="3621024"/>
            <a:ext cx="2029968" cy="384048"/>
          </a:xfrm>
          <a:prstGeom prst="rect">
            <a:avLst/>
          </a:prstGeom>
          <a:solidFill>
            <a:srgbClr val="F8FAFE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6931152" y="3666744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47472" y="4005072"/>
            <a:ext cx="166420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420624" y="40507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role별 차등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048256" y="4005072"/>
            <a:ext cx="217627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/>
          <p:nvPr/>
        </p:nvSpPr>
        <p:spPr>
          <a:xfrm>
            <a:off x="2156460" y="4050792"/>
            <a:ext cx="2049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상담사·관리자·공용/전용 PC 구분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261104" y="4005072"/>
            <a:ext cx="2560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4334256" y="40507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858000" y="4005072"/>
            <a:ext cx="202996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/>
          <p:nvPr/>
        </p:nvSpPr>
        <p:spPr>
          <a:xfrm>
            <a:off x="6931152" y="4050792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5448" y="2405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역할별</a:t>
            </a:r>
            <a:r>
              <a:rPr lang="en-US" sz="2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구현 가이드 개요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66616" y="719967"/>
            <a:ext cx="8229600" cy="228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66616" y="863464"/>
            <a:ext cx="4133088" cy="1810512"/>
          </a:xfrm>
          <a:prstGeom prst="rect">
            <a:avLst/>
          </a:prstGeom>
          <a:solidFill>
            <a:srgbClr val="F4F7FF"/>
          </a:solidFill>
          <a:ln w="9525">
            <a:solidFill>
              <a:srgbClr val="E8ECF0"/>
            </a:solidFill>
            <a:prstDash val="solid"/>
          </a:ln>
          <a:effectLst>
            <a:outerShdw blurRad="50800" dist="25400" dir="2700000" algn="bl" rotWithShape="0">
              <a:srgbClr val="AAAAA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66616" y="863464"/>
            <a:ext cx="4133088" cy="365760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39768" y="863464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포털 (인증서비스 담당)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6744" y="918328"/>
            <a:ext cx="768096" cy="256032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476744" y="91832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선행 필수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6344" y="1284088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RS256 키쌍 관리 · 공개키 외부 배포 (kid 복수 병존)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76344" y="1631560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JWKS 엔드포인트 공개: GET /.well-known/jwks.json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6344" y="1979032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access 수명 단축 (60분 → 5~15분, 정책값)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6344" y="2326504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refresh rotation + 재사용 감지 (갱신마다 새 refresh 발급)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6344" y="2673976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클레임 최소화 유지 (현 상태 양호)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66616" y="2783704"/>
            <a:ext cx="4133088" cy="1810512"/>
          </a:xfrm>
          <a:prstGeom prst="rect">
            <a:avLst/>
          </a:prstGeom>
          <a:solidFill>
            <a:srgbClr val="F4F7FF"/>
          </a:solidFill>
          <a:ln w="9525">
            <a:solidFill>
              <a:srgbClr val="E8ECF0"/>
            </a:solidFill>
            <a:prstDash val="solid"/>
          </a:ln>
          <a:effectLst>
            <a:outerShdw blurRad="50800" dist="25400" dir="2700000" algn="bl" rotWithShape="0">
              <a:srgbClr val="AAAAA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66616" y="2783704"/>
            <a:ext cx="4133088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239768" y="2783704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서비스 공통 (백엔드)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6744" y="2838568"/>
            <a:ext cx="768096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276344" y="3204328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쿠키(httpOnly·Secure·SameSite) 세팅 + CSRF 방어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76344" y="3551800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JWKS 로컬 검증 도입 (시작 시 취득·캐시, kid 매칭)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6344" y="3899272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갱신 single-flight (내부 동시 요청 → Promise 1개 공유)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76344" y="4246744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검증 실패(만료·위조) → 401 일관 반환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409432" y="2783704"/>
            <a:ext cx="4133088" cy="1810512"/>
          </a:xfrm>
          <a:prstGeom prst="rect">
            <a:avLst/>
          </a:prstGeom>
          <a:solidFill>
            <a:srgbClr val="F4F7FF"/>
          </a:solidFill>
          <a:ln w="9525">
            <a:solidFill>
              <a:srgbClr val="E8ECF0"/>
            </a:solidFill>
            <a:prstDash val="solid"/>
          </a:ln>
          <a:effectLst>
            <a:outerShdw blurRad="50800" dist="25400" dir="2700000" algn="bl" rotWithShape="0">
              <a:srgbClr val="AAAAA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409432" y="2783704"/>
            <a:ext cx="4133088" cy="365760"/>
          </a:xfrm>
          <a:prstGeom prst="rect">
            <a:avLst/>
          </a:prstGeom>
          <a:solidFill>
            <a:srgbClr val="6B48C8"/>
          </a:solidFill>
          <a:ln w="12700">
            <a:solidFill>
              <a:srgbClr val="6B4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482584" y="2783704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서비스 공통 (프론트)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19160" y="3204328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토큰을 sessionStorage/localStorage에 저장 금지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19160" y="3551800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API 호출 시 credentials:"include" (쿠키 자동 전송)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19160" y="3899272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프론트 refresh 인터셉터 제거 — 갱신은 백엔드 담당</a:t>
            </a:r>
            <a:endParaRPr lang="en-US" sz="950" dirty="0"/>
          </a:p>
        </p:txBody>
      </p:sp>
      <p:sp>
        <p:nvSpPr>
          <p:cNvPr id="6" name="Shape 32">
            <a:extLst>
              <a:ext uri="{FF2B5EF4-FFF2-40B4-BE49-F238E27FC236}">
                <a16:creationId xmlns:a16="http://schemas.microsoft.com/office/drawing/2014/main" id="{D15126C8-9865-FF35-C972-6AD059DD67FF}"/>
              </a:ext>
            </a:extLst>
          </p:cNvPr>
          <p:cNvSpPr/>
          <p:nvPr/>
        </p:nvSpPr>
        <p:spPr>
          <a:xfrm>
            <a:off x="4409432" y="872915"/>
            <a:ext cx="4133088" cy="1810512"/>
          </a:xfrm>
          <a:prstGeom prst="rect">
            <a:avLst/>
          </a:prstGeom>
          <a:solidFill>
            <a:srgbClr val="F4F7FF"/>
          </a:solidFill>
          <a:ln w="9525">
            <a:solidFill>
              <a:srgbClr val="E8ECF0"/>
            </a:solidFill>
            <a:prstDash val="solid"/>
          </a:ln>
          <a:effectLst>
            <a:outerShdw blurRad="50800" dist="25400" dir="2700000" algn="bl" rotWithShape="0">
              <a:srgbClr val="AAAAA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33">
            <a:extLst>
              <a:ext uri="{FF2B5EF4-FFF2-40B4-BE49-F238E27FC236}">
                <a16:creationId xmlns:a16="http://schemas.microsoft.com/office/drawing/2014/main" id="{FABFC808-ED92-EDA0-9D47-FDF17C54A1E4}"/>
              </a:ext>
            </a:extLst>
          </p:cNvPr>
          <p:cNvSpPr/>
          <p:nvPr/>
        </p:nvSpPr>
        <p:spPr>
          <a:xfrm>
            <a:off x="4409432" y="872915"/>
            <a:ext cx="4133088" cy="36576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34">
            <a:extLst>
              <a:ext uri="{FF2B5EF4-FFF2-40B4-BE49-F238E27FC236}">
                <a16:creationId xmlns:a16="http://schemas.microsoft.com/office/drawing/2014/main" id="{A6BDFB2B-4C38-C2E8-DE48-23C0CDD64AC4}"/>
              </a:ext>
            </a:extLst>
          </p:cNvPr>
          <p:cNvSpPr/>
          <p:nvPr/>
        </p:nvSpPr>
        <p:spPr>
          <a:xfrm>
            <a:off x="4482584" y="872915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</a:t>
            </a: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</a:t>
            </a:r>
            <a:endParaRPr lang="en-US" sz="1100" dirty="0"/>
          </a:p>
        </p:txBody>
      </p:sp>
      <p:sp>
        <p:nvSpPr>
          <p:cNvPr id="48" name="Text 37">
            <a:extLst>
              <a:ext uri="{FF2B5EF4-FFF2-40B4-BE49-F238E27FC236}">
                <a16:creationId xmlns:a16="http://schemas.microsoft.com/office/drawing/2014/main" id="{615AE62D-1DD8-E457-6130-4FDD825E49E7}"/>
              </a:ext>
            </a:extLst>
          </p:cNvPr>
          <p:cNvSpPr/>
          <p:nvPr/>
        </p:nvSpPr>
        <p:spPr>
          <a:xfrm>
            <a:off x="4519160" y="1293539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[백엔드] SSE(/assist-stream) 시작 전 선제 갱신 대응</a:t>
            </a:r>
            <a:endParaRPr lang="en-US" sz="950" dirty="0"/>
          </a:p>
        </p:txBody>
      </p:sp>
      <p:sp>
        <p:nvSpPr>
          <p:cNvPr id="49" name="Text 38">
            <a:extLst>
              <a:ext uri="{FF2B5EF4-FFF2-40B4-BE49-F238E27FC236}">
                <a16:creationId xmlns:a16="http://schemas.microsoft.com/office/drawing/2014/main" id="{AB10488D-182F-62F3-587D-291FB81A5C9D}"/>
              </a:ext>
            </a:extLst>
          </p:cNvPr>
          <p:cNvSpPr/>
          <p:nvPr/>
        </p:nvSpPr>
        <p:spPr>
          <a:xfrm>
            <a:off x="4519160" y="1641011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[백엔드] DynamicDatabaseService 정리 (정적 DB </a:t>
            </a:r>
            <a:r>
              <a:rPr lang="en-US" sz="950" dirty="0" err="1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</a:t>
            </a:r>
            <a:r>
              <a:rPr lang="ko-KR" altLang="en-US" sz="95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ko-KR" altLang="en-US" sz="95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95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r>
              <a:rPr lang="ko-KR" altLang="en-US" sz="95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타 서비스도 같은 경우 조치</a:t>
            </a:r>
            <a:endParaRPr lang="en-US" sz="950" dirty="0"/>
          </a:p>
        </p:txBody>
      </p:sp>
      <p:sp>
        <p:nvSpPr>
          <p:cNvPr id="50" name="Text 39">
            <a:extLst>
              <a:ext uri="{FF2B5EF4-FFF2-40B4-BE49-F238E27FC236}">
                <a16:creationId xmlns:a16="http://schemas.microsoft.com/office/drawing/2014/main" id="{398726CC-D71F-2F6A-7AAC-1560FE42362C}"/>
              </a:ext>
            </a:extLst>
          </p:cNvPr>
          <p:cNvSpPr/>
          <p:nvPr/>
        </p:nvSpPr>
        <p:spPr>
          <a:xfrm>
            <a:off x="4519160" y="1988483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[프론트] 직접호출(파일 API 등)을 BFF 경유로 변경 (a안)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3874" y="26289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 E  —  어드바이저 구체 작업 체크리스트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43874" y="65608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asst-service (백엔드) + asst-web (프론트) · 게이트웨이 없음 기준 (직접 접속)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43874" y="953262"/>
            <a:ext cx="8229600" cy="228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47472" y="1188720"/>
            <a:ext cx="4133088" cy="3611880"/>
          </a:xfrm>
          <a:prstGeom prst="rect">
            <a:avLst/>
          </a:prstGeom>
          <a:solidFill>
            <a:srgbClr val="F4F7FF"/>
          </a:solidFill>
          <a:ln w="9525">
            <a:solidFill>
              <a:srgbClr val="E8ECF0"/>
            </a:solidFill>
            <a:prstDash val="solid"/>
          </a:ln>
          <a:effectLst>
            <a:outerShdw blurRad="50800" dist="25400" dir="2700000" algn="bl" rotWithShape="0">
              <a:srgbClr val="AAAAA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47472" y="1188720"/>
            <a:ext cx="4133088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38912" y="1188720"/>
            <a:ext cx="3995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" y="1591056"/>
            <a:ext cx="4133088" cy="402336"/>
          </a:xfrm>
          <a:prstGeom prst="rect">
            <a:avLst/>
          </a:prstGeom>
          <a:solidFill>
            <a:srgbClr val="F8FAFE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38912" y="1682496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9808" y="1645920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토큰을 httpOnly·Secure·SameSite 쿠키로 세팅 (JS 접근 차단)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8483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9808" y="2048256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채택 — 쿠키 직접형: access/refresh를 httpOnly 쿠키에 직접 (세션스토어형은 세션ID를 타 앱이 해석 못 해 SSO 불가 → 비채택)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2395728"/>
            <a:ext cx="4133088" cy="402336"/>
          </a:xfrm>
          <a:prstGeom prst="rect">
            <a:avLst/>
          </a:prstGeom>
          <a:solidFill>
            <a:srgbClr val="F8FAFE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38912" y="248716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9808" y="2450592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쿠키 → 토큰 부착: 내부 호출 헤더(X-auth-token)에 access 삽입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8912" y="2889504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9808" y="2852928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refresh + single-flight: 잔여 수명 임계값 이하 → 선제 갱신·회전, 내부 동시요청은 1회로 합침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7472" y="3200400"/>
            <a:ext cx="4133088" cy="402336"/>
          </a:xfrm>
          <a:prstGeom prst="rect">
            <a:avLst/>
          </a:prstGeom>
          <a:solidFill>
            <a:srgbClr val="F8FAFE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38912" y="3291840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9808" y="3255264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JWKS 로컬 검증 적용 + USER_HOST 위임 제거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38912" y="3694176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9808" y="3657600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방어: SameSite=Lax + POST/PUT/DELETE에 CSRF 토큰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7472" y="4005072"/>
            <a:ext cx="4133088" cy="402336"/>
          </a:xfrm>
          <a:prstGeom prst="rect">
            <a:avLst/>
          </a:prstGeom>
          <a:solidFill>
            <a:srgbClr val="F8FAFE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38912" y="409651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9808" y="4059936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SSE(/assist-stream) 시작 직전 잔여 수명 확인 후 선제 갱신 (스트림 중 Set-Cookie 불가)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38912" y="449884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9808" y="4462272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DynamicDatabaseService 정리 — 단일 테넌트 확정으로 정적 DB 연결 전환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1188720"/>
            <a:ext cx="4133088" cy="3611880"/>
          </a:xfrm>
          <a:prstGeom prst="rect">
            <a:avLst/>
          </a:prstGeom>
          <a:solidFill>
            <a:srgbClr val="F4F7FF"/>
          </a:solidFill>
          <a:ln w="9525">
            <a:solidFill>
              <a:srgbClr val="E8ECF0"/>
            </a:solidFill>
            <a:prstDash val="solid"/>
          </a:ln>
          <a:effectLst>
            <a:outerShdw blurRad="50800" dist="25400" dir="2700000" algn="bl" rotWithShape="0">
              <a:srgbClr val="AAAAA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4663440" y="1188720"/>
            <a:ext cx="4133088" cy="347472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754880" y="1188720"/>
            <a:ext cx="3995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asst-web (프론트)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63440" y="1591056"/>
            <a:ext cx="4133088" cy="402336"/>
          </a:xfrm>
          <a:prstGeom prst="rect">
            <a:avLst/>
          </a:prstGeom>
          <a:solidFill>
            <a:srgbClr val="F8FAFE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754880" y="1682496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5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65776" y="1645920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sessionStorage/localStorage 토큰 저장 코드 전부 제거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54880" y="208483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5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65776" y="2048256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결과를 스토리지에 저장하지 말고 쿠키로 수신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63440" y="2395728"/>
            <a:ext cx="4133088" cy="402336"/>
          </a:xfrm>
          <a:prstGeom prst="rect">
            <a:avLst/>
          </a:prstGeom>
          <a:solidFill>
            <a:srgbClr val="F8FAFE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4754880" y="248716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5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65776" y="2450592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axios/fetch에 credentials:"include" 추가 (쿠키 자동 전송)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754880" y="2889504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5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65776" y="2852928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X-auth-token 헤더 직접 생성 로직 제거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63440" y="3200400"/>
            <a:ext cx="4133088" cy="402336"/>
          </a:xfrm>
          <a:prstGeom prst="rect">
            <a:avLst/>
          </a:prstGeom>
          <a:solidFill>
            <a:srgbClr val="F8FAFE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4754880" y="3291840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5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065776" y="3255264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프론트 refresh 인터셉터 제거 — 401 시 재로그인 유도만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754880" y="3694176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5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065776" y="3657600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직접호출(파일 API 등) → BFF 경유 라우트로 변경 (a안)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47472" y="4892040"/>
            <a:ext cx="8522208" cy="0"/>
          </a:xfrm>
          <a:prstGeom prst="rect">
            <a:avLst/>
          </a:prstGeom>
          <a:solidFill>
            <a:srgbClr val="F4F7FF"/>
          </a:solidFill>
          <a:ln w="9525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664796E-34C1-F084-FDDD-9D42F32F1248}"/>
              </a:ext>
            </a:extLst>
          </p:cNvPr>
          <p:cNvSpPr/>
          <p:nvPr/>
        </p:nvSpPr>
        <p:spPr>
          <a:xfrm>
            <a:off x="8396216" y="-6348"/>
            <a:ext cx="6639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45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Timbel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824" y="26623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환경별</a:t>
            </a:r>
            <a:r>
              <a:rPr lang="en-US" sz="2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쿠키 설정 · 롤아웃 순서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46304" y="69324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서버라 쿠키 도메인 이슈 없음(포트 무관 자동 공유) · 순차 전환으로 빅뱅 회피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66616" y="956136"/>
            <a:ext cx="8229600" cy="228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44424" y="11612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환경별 쿠키 설정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4424" y="1444752"/>
            <a:ext cx="1463040" cy="320040"/>
          </a:xfrm>
          <a:prstGeom prst="rect">
            <a:avLst/>
          </a:prstGeom>
          <a:solidFill>
            <a:srgbClr val="1C3A6B"/>
          </a:solidFill>
          <a:ln w="12700">
            <a:solidFill>
              <a:srgbClr val="1C3A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44424" y="14447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환경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5752" y="1444752"/>
            <a:ext cx="731520" cy="320040"/>
          </a:xfrm>
          <a:prstGeom prst="rect">
            <a:avLst/>
          </a:prstGeom>
          <a:solidFill>
            <a:srgbClr val="1C3A6B"/>
          </a:solidFill>
          <a:ln w="12700">
            <a:solidFill>
              <a:srgbClr val="1C3A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825752" y="144475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75560" y="1444752"/>
            <a:ext cx="1097280" cy="320040"/>
          </a:xfrm>
          <a:prstGeom prst="rect">
            <a:avLst/>
          </a:prstGeom>
          <a:solidFill>
            <a:srgbClr val="1C3A6B"/>
          </a:solidFill>
          <a:ln w="12700">
            <a:solidFill>
              <a:srgbClr val="1C3A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575560" y="144475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SameSite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09416" y="1444752"/>
            <a:ext cx="1097280" cy="320040"/>
          </a:xfrm>
          <a:prstGeom prst="rect">
            <a:avLst/>
          </a:prstGeom>
          <a:solidFill>
            <a:srgbClr val="1C3A6B"/>
          </a:solidFill>
          <a:ln w="12700">
            <a:solidFill>
              <a:srgbClr val="1C3A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709416" y="144475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비고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4424" y="1764792"/>
            <a:ext cx="1463040" cy="502920"/>
          </a:xfrm>
          <a:prstGeom prst="rect">
            <a:avLst/>
          </a:prstGeom>
          <a:solidFill>
            <a:srgbClr val="F8FAFE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pPr algn="ctr"/>
            <a:endParaRPr lang="ko-KR" altLang="en-US" dirty="0"/>
          </a:p>
        </p:txBody>
      </p:sp>
      <p:sp>
        <p:nvSpPr>
          <p:cNvPr id="17" name="Text 15"/>
          <p:cNvSpPr/>
          <p:nvPr/>
        </p:nvSpPr>
        <p:spPr>
          <a:xfrm>
            <a:off x="399288" y="181051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</a:t>
            </a: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HTTPS</a:t>
            </a:r>
            <a:r>
              <a:rPr lang="ko-KR" altLang="en-US" sz="950" dirty="0"/>
              <a:t> </a:t>
            </a: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ko-KR" alt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b="1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25752" y="1764792"/>
            <a:ext cx="731520" cy="502920"/>
          </a:xfrm>
          <a:prstGeom prst="rect">
            <a:avLst/>
          </a:prstGeom>
          <a:solidFill>
            <a:srgbClr val="F8FAFE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880616" y="1810512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 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75560" y="1764792"/>
            <a:ext cx="1097280" cy="502920"/>
          </a:xfrm>
          <a:prstGeom prst="rect">
            <a:avLst/>
          </a:prstGeom>
          <a:solidFill>
            <a:srgbClr val="F8FAFE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2630424" y="181051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Lax (크로스출처=None+Secure)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709416" y="1764792"/>
            <a:ext cx="1097280" cy="502920"/>
          </a:xfrm>
          <a:prstGeom prst="rect">
            <a:avLst/>
          </a:prstGeom>
          <a:solidFill>
            <a:srgbClr val="F8FAFE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764280" y="181051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권장 최종형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4424" y="2267712"/>
            <a:ext cx="1463040" cy="502920"/>
          </a:xfrm>
          <a:prstGeom prst="rect">
            <a:avLst/>
          </a:prstGeom>
          <a:solidFill>
            <a:srgbClr val="FFF8F0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pPr algn="ctr"/>
            <a:endParaRPr lang="ko-KR" altLang="en-US" dirty="0"/>
          </a:p>
        </p:txBody>
      </p:sp>
      <p:sp>
        <p:nvSpPr>
          <p:cNvPr id="25" name="Text 23"/>
          <p:cNvSpPr/>
          <p:nvPr/>
        </p:nvSpPr>
        <p:spPr>
          <a:xfrm>
            <a:off x="399288" y="231343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개발기</a:t>
            </a: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HTTP</a:t>
            </a:r>
            <a:r>
              <a:rPr lang="ko-KR" altLang="en-US" sz="950" dirty="0"/>
              <a:t> </a:t>
            </a: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ko-KR" alt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b="1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IP:포트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825752" y="2267712"/>
            <a:ext cx="731520" cy="502920"/>
          </a:xfrm>
          <a:prstGeom prst="rect">
            <a:avLst/>
          </a:prstGeom>
          <a:solidFill>
            <a:srgbClr val="FFF8F0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880616" y="2313432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불가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575560" y="2267712"/>
            <a:ext cx="1097280" cy="502920"/>
          </a:xfrm>
          <a:prstGeom prst="rect">
            <a:avLst/>
          </a:prstGeom>
          <a:solidFill>
            <a:srgbClr val="FFF8F0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2630424" y="231343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Lax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709416" y="2267712"/>
            <a:ext cx="1097280" cy="502920"/>
          </a:xfrm>
          <a:prstGeom prst="rect">
            <a:avLst/>
          </a:prstGeom>
          <a:solidFill>
            <a:srgbClr val="FFF8F0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3764280" y="231343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개발기 한정 완화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운영은 HTTPS 전제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5760" y="286054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httpOnly는 전 환경 필수 — XSS 방어 핵심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19472" y="1170432"/>
            <a:ext cx="3913632" cy="3456800"/>
          </a:xfrm>
          <a:prstGeom prst="rect">
            <a:avLst/>
          </a:prstGeom>
          <a:solidFill>
            <a:srgbClr val="F8F0FF"/>
          </a:solidFill>
          <a:ln w="9525">
            <a:solidFill>
              <a:srgbClr val="6B48C8"/>
            </a:solidFill>
            <a:prstDash val="solid"/>
          </a:ln>
          <a:effectLst>
            <a:outerShdw blurRad="50800" dist="25400" dir="2700000" algn="bl" rotWithShape="0">
              <a:srgbClr val="AAAAA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4919472" y="1170432"/>
            <a:ext cx="3913632" cy="320040"/>
          </a:xfrm>
          <a:prstGeom prst="rect">
            <a:avLst/>
          </a:prstGeom>
          <a:solidFill>
            <a:srgbClr val="6B48C8"/>
          </a:solidFill>
          <a:ln w="12700">
            <a:solidFill>
              <a:srgbClr val="6B4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5029200" y="11704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 — 인증 세션은 Redis 미사용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0" y="1554480"/>
            <a:ext cx="37307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쿠키 직접형 채택 → 인증용 별도 세션 스토어 불필요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029200" y="1810512"/>
            <a:ext cx="37307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기존 Redis(구독배포·소켓)는 인증과 무관하게 그대로 사용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029200" y="2068830"/>
            <a:ext cx="37307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단일 서버(106.242.165.142)에 모든 앱+인증서버 함께 기동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029200" y="2321579"/>
            <a:ext cx="37307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쿠키는 포트를 구분하지 않아 자동 공유 → 도메인 이슈 없음</a:t>
            </a:r>
            <a:endParaRPr lang="en-US" sz="9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385D871-3475-8825-DA53-BE75505E177B}"/>
              </a:ext>
            </a:extLst>
          </p:cNvPr>
          <p:cNvSpPr/>
          <p:nvPr/>
        </p:nvSpPr>
        <p:spPr>
          <a:xfrm>
            <a:off x="8396216" y="-6348"/>
            <a:ext cx="6639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45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Timbel</a:t>
            </a:r>
            <a:endParaRPr lang="en-US" sz="1400" dirty="0"/>
          </a:p>
        </p:txBody>
      </p:sp>
      <p:sp>
        <p:nvSpPr>
          <p:cNvPr id="59" name="Text 3">
            <a:extLst>
              <a:ext uri="{FF2B5EF4-FFF2-40B4-BE49-F238E27FC236}">
                <a16:creationId xmlns:a16="http://schemas.microsoft.com/office/drawing/2014/main" id="{DD240AFD-FE38-69E6-233D-F535890B1ADE}"/>
              </a:ext>
            </a:extLst>
          </p:cNvPr>
          <p:cNvSpPr/>
          <p:nvPr/>
        </p:nvSpPr>
        <p:spPr>
          <a:xfrm>
            <a:off x="83821" y="302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</a:t>
            </a:r>
            <a:endParaRPr lang="en-US" sz="1000" dirty="0"/>
          </a:p>
        </p:txBody>
      </p:sp>
      <p:sp>
        <p:nvSpPr>
          <p:cNvPr id="6" name="Text 37">
            <a:extLst>
              <a:ext uri="{FF2B5EF4-FFF2-40B4-BE49-F238E27FC236}">
                <a16:creationId xmlns:a16="http://schemas.microsoft.com/office/drawing/2014/main" id="{D7575514-9A42-7C31-836A-6690C705972B}"/>
              </a:ext>
            </a:extLst>
          </p:cNvPr>
          <p:cNvSpPr/>
          <p:nvPr/>
        </p:nvSpPr>
        <p:spPr>
          <a:xfrm>
            <a:off x="5029200" y="2582105"/>
            <a:ext cx="3730752" cy="1320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altLang="ko-KR" sz="9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ko-KR" altLang="en-US" sz="9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 </a:t>
            </a:r>
            <a:r>
              <a:rPr lang="en-US" altLang="ko-KR" sz="9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ko-KR" altLang="en-US" sz="9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개정 </a:t>
            </a:r>
            <a:r>
              <a:rPr lang="en-US" altLang="ko-KR" sz="9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ko-KR" altLang="en-US" sz="9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 동시 로그인 불가 정책 등을 위한 </a:t>
            </a:r>
            <a:r>
              <a:rPr lang="ko-KR" altLang="en-US" sz="950" dirty="0" err="1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로그인세션관리는</a:t>
            </a:r>
            <a:r>
              <a:rPr lang="ko-KR" altLang="en-US" sz="9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별도로 구축을 통해 진행 예시</a:t>
            </a:r>
            <a:r>
              <a:rPr lang="en-US" altLang="ko-KR" sz="9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ko-KR" altLang="en-US" sz="9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로그인 성공시점에 </a:t>
            </a:r>
            <a:r>
              <a:rPr lang="en-US" altLang="ko-KR" sz="9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r>
              <a:rPr lang="ko-KR" altLang="en-US" sz="950" dirty="0" err="1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</a:t>
            </a:r>
            <a:r>
              <a:rPr lang="ko-KR" altLang="en-US" sz="9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9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user:{</a:t>
            </a:r>
            <a:r>
              <a:rPr lang="en-US" altLang="ko-KR" sz="950" dirty="0" err="1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</a:t>
            </a:r>
            <a:r>
              <a:rPr lang="en-US" altLang="ko-KR" sz="9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}:</a:t>
            </a:r>
            <a:r>
              <a:rPr lang="en-US" altLang="ko-KR" sz="950" dirty="0" err="1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active_session</a:t>
            </a:r>
            <a:r>
              <a:rPr lang="ko-KR" altLang="en-US" sz="9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키로 세션식별</a:t>
            </a:r>
            <a:endParaRPr lang="en-US" altLang="ko-KR" sz="950" dirty="0">
              <a:solidFill>
                <a:srgbClr val="C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9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</a:t>
            </a:r>
            <a:r>
              <a:rPr lang="en-US" altLang="ko-KR" sz="9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ECP</a:t>
            </a:r>
            <a:r>
              <a:rPr lang="ko-KR" altLang="en-US" sz="9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에서 적용된 적극적 방식</a:t>
            </a:r>
            <a:r>
              <a:rPr lang="en-US" altLang="ko-KR" sz="9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ko-KR" altLang="en-US" sz="9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9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Pub/Sub</a:t>
            </a:r>
            <a:r>
              <a:rPr lang="ko-KR" altLang="en-US" sz="9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채널 인프라를 통해 동시로그인 방지</a:t>
            </a:r>
            <a:endParaRPr lang="en-US" altLang="ko-KR" sz="950" dirty="0">
              <a:solidFill>
                <a:srgbClr val="C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9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</a:t>
            </a:r>
            <a:r>
              <a:rPr lang="en-US" altLang="ko-KR" sz="9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ko-KR" altLang="en-US" sz="9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950" dirty="0" err="1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어드바이저의</a:t>
            </a:r>
            <a:r>
              <a:rPr lang="ko-KR" altLang="en-US" sz="9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경우 실시간 </a:t>
            </a:r>
            <a:r>
              <a:rPr lang="ko-KR" altLang="en-US" sz="950" dirty="0" err="1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상담중에</a:t>
            </a:r>
            <a:r>
              <a:rPr lang="ko-KR" altLang="en-US" sz="9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950" dirty="0" err="1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다른사람이</a:t>
            </a:r>
            <a:r>
              <a:rPr lang="ko-KR" altLang="en-US" sz="9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로그인하는 특수상황이 벌어질 경우를 대비해서 역으로 </a:t>
            </a:r>
            <a:r>
              <a:rPr lang="en-US" altLang="ko-KR" sz="9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＂</a:t>
            </a:r>
            <a:r>
              <a:rPr lang="ko-KR" altLang="en-US" sz="9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로그인을 거부</a:t>
            </a:r>
            <a:r>
              <a:rPr lang="en-US" altLang="ko-KR" sz="9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＂</a:t>
            </a:r>
            <a:r>
              <a:rPr lang="ko-KR" altLang="en-US" sz="9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또는 </a:t>
            </a:r>
            <a:r>
              <a:rPr lang="en-US" altLang="ko-KR" sz="9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r>
              <a:rPr lang="ko-KR" altLang="en-US" sz="950" dirty="0" err="1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로그인되면</a:t>
            </a:r>
            <a:r>
              <a:rPr lang="ko-KR" altLang="en-US" sz="9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950" dirty="0" err="1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다른곳에서</a:t>
            </a:r>
            <a:r>
              <a:rPr lang="ko-KR" altLang="en-US" sz="9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950" dirty="0" err="1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로그아웃됩니다</a:t>
            </a:r>
            <a:r>
              <a:rPr lang="en-US" altLang="ko-KR" sz="9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＂</a:t>
            </a:r>
            <a:r>
              <a:rPr lang="ko-KR" altLang="en-US" sz="9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등 정책도 고려해볼 상황</a:t>
            </a:r>
            <a:endParaRPr lang="en-US" altLang="ko-KR" sz="950" dirty="0">
              <a:solidFill>
                <a:srgbClr val="C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포털 </a:t>
            </a:r>
            <a:r>
              <a:rPr lang="en-US" sz="1800" b="1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인프라</a:t>
            </a:r>
            <a:r>
              <a:rPr lang="en-US" sz="1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구성도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20040" y="530352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B안: API Gateway — Docker 기반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20040" y="786384"/>
            <a:ext cx="850392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20040" y="859536"/>
            <a:ext cx="8503920" cy="256032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20040" y="85953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방화벽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85039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BBBB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65760" y="1197864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엣지 / L4 HA (Keepalived + HAProxy)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834640" y="1371600"/>
            <a:ext cx="155448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834640" y="137160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HAProxy A (Active)</a:t>
            </a:r>
            <a:endParaRPr lang="en-US" sz="73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155448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754880" y="137160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HAProxy B (Standby)</a:t>
            </a:r>
            <a:endParaRPr lang="en-US" sz="730" dirty="0"/>
          </a:p>
        </p:txBody>
      </p:sp>
      <p:sp>
        <p:nvSpPr>
          <p:cNvPr id="13" name="Shape 11"/>
          <p:cNvSpPr/>
          <p:nvPr/>
        </p:nvSpPr>
        <p:spPr>
          <a:xfrm>
            <a:off x="457200" y="1828800"/>
            <a:ext cx="8229600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BBBBB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02920" y="1837944"/>
            <a:ext cx="8138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Host(들) — 다중 서버, Docker 컨테이너 직접 배포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94360" y="2011680"/>
            <a:ext cx="79552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BBBBB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0080" y="2020824"/>
            <a:ext cx="7863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라우팅 — B안: API Gateway — Docker 기반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291840" y="2157984"/>
            <a:ext cx="2560320" cy="347472"/>
          </a:xfrm>
          <a:prstGeom prst="rect">
            <a:avLst/>
          </a:prstGeom>
          <a:solidFill>
            <a:srgbClr val="6B48C8"/>
          </a:solidFill>
          <a:ln w="12700">
            <a:solidFill>
              <a:srgbClr val="6B4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291840" y="215798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(공통 인증체크·로깅·rate limit)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94360" y="2651760"/>
            <a:ext cx="79552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BBBBB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40080" y="2660904"/>
            <a:ext cx="7863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 컨테이너 (포트 32000~32100대, 컨테이너/도커 서비스명으로 상호 통신)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58368" y="2880360"/>
            <a:ext cx="914400" cy="1051560"/>
          </a:xfrm>
          <a:prstGeom prst="rect">
            <a:avLst/>
          </a:prstGeom>
          <a:solidFill>
            <a:srgbClr val="CFE0FF"/>
          </a:solidFill>
          <a:ln w="12700">
            <a:solidFill>
              <a:srgbClr val="CFE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58368" y="288036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Timbel AICC</a:t>
            </a:r>
            <a:endParaRPr lang="en-US" sz="630" dirty="0"/>
          </a:p>
          <a:p>
            <a:pPr marL="0" indent="0" algn="ctr">
              <a:buNone/>
            </a:pPr>
            <a:r>
              <a:rPr lang="en-US" sz="63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포털</a:t>
            </a:r>
            <a:endParaRPr lang="en-US" sz="630" dirty="0"/>
          </a:p>
          <a:p>
            <a:pPr marL="0" indent="0" algn="ctr">
              <a:buNone/>
            </a:pPr>
            <a:r>
              <a:rPr lang="en-US" sz="63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(ecp-api)</a:t>
            </a:r>
            <a:endParaRPr lang="en-US" sz="630" dirty="0"/>
          </a:p>
          <a:p>
            <a:pPr marL="0" indent="0" algn="ctr">
              <a:buNone/>
            </a:pPr>
            <a:r>
              <a:rPr lang="en-US" sz="63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:32000</a:t>
            </a:r>
            <a:endParaRPr lang="en-US" sz="630" dirty="0"/>
          </a:p>
        </p:txBody>
      </p:sp>
      <p:sp>
        <p:nvSpPr>
          <p:cNvPr id="23" name="Shape 21"/>
          <p:cNvSpPr/>
          <p:nvPr/>
        </p:nvSpPr>
        <p:spPr>
          <a:xfrm>
            <a:off x="1641348" y="2880360"/>
            <a:ext cx="914400" cy="1051560"/>
          </a:xfrm>
          <a:prstGeom prst="rect">
            <a:avLst/>
          </a:prstGeom>
          <a:solidFill>
            <a:srgbClr val="FFF3CC"/>
          </a:solidFill>
          <a:ln w="12700">
            <a:solidFill>
              <a:srgbClr val="FFF3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641348" y="288036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포털 인증서버</a:t>
            </a:r>
            <a:endParaRPr lang="en-US" sz="630" dirty="0"/>
          </a:p>
          <a:p>
            <a:pPr marL="0" indent="0" algn="ctr">
              <a:buNone/>
            </a:pPr>
            <a:r>
              <a:rPr lang="en-US" sz="63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(auth-service,</a:t>
            </a:r>
            <a:endParaRPr lang="en-US" sz="630" dirty="0"/>
          </a:p>
          <a:p>
            <a:pPr marL="0" indent="0" algn="ctr">
              <a:buNone/>
            </a:pPr>
            <a:r>
              <a:rPr lang="en-US" sz="63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 겸임)</a:t>
            </a:r>
            <a:endParaRPr lang="en-US" sz="630" dirty="0"/>
          </a:p>
          <a:p>
            <a:pPr marL="0" indent="0" algn="ctr">
              <a:buNone/>
            </a:pPr>
            <a:r>
              <a:rPr lang="en-US" sz="63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:32001</a:t>
            </a:r>
            <a:endParaRPr lang="en-US" sz="630" dirty="0"/>
          </a:p>
        </p:txBody>
      </p:sp>
      <p:sp>
        <p:nvSpPr>
          <p:cNvPr id="25" name="Shape 23"/>
          <p:cNvSpPr/>
          <p:nvPr/>
        </p:nvSpPr>
        <p:spPr>
          <a:xfrm>
            <a:off x="2624328" y="2880360"/>
            <a:ext cx="914400" cy="10515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2624328" y="288036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USER_HOST</a:t>
            </a:r>
            <a:endParaRPr lang="en-US" sz="630" dirty="0"/>
          </a:p>
          <a:p>
            <a:pPr marL="0" indent="0" algn="ctr">
              <a:buNone/>
            </a:pPr>
            <a:r>
              <a:rPr lang="en-US" sz="63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(user_host)</a:t>
            </a:r>
            <a:endParaRPr lang="en-US" sz="630" dirty="0"/>
          </a:p>
          <a:p>
            <a:pPr marL="0" indent="0" algn="ctr">
              <a:buNone/>
            </a:pPr>
            <a:r>
              <a:rPr lang="en-US" sz="63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:32002</a:t>
            </a:r>
            <a:endParaRPr lang="en-US" sz="630" dirty="0"/>
          </a:p>
        </p:txBody>
      </p:sp>
      <p:sp>
        <p:nvSpPr>
          <p:cNvPr id="27" name="Shape 25"/>
          <p:cNvSpPr/>
          <p:nvPr/>
        </p:nvSpPr>
        <p:spPr>
          <a:xfrm>
            <a:off x="3607308" y="2880360"/>
            <a:ext cx="914400" cy="1051560"/>
          </a:xfrm>
          <a:prstGeom prst="rect">
            <a:avLst/>
          </a:prstGeom>
          <a:solidFill>
            <a:srgbClr val="CFE0FF"/>
          </a:solidFill>
          <a:ln w="12700">
            <a:solidFill>
              <a:srgbClr val="CFE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3607308" y="288036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어드바이저</a:t>
            </a:r>
            <a:endParaRPr lang="en-US" sz="630" dirty="0"/>
          </a:p>
          <a:p>
            <a:pPr marL="0" indent="0" algn="ctr">
              <a:buNone/>
            </a:pPr>
            <a:r>
              <a:rPr lang="en-US" sz="63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(asst-service</a:t>
            </a:r>
            <a:endParaRPr lang="en-US" sz="630" dirty="0"/>
          </a:p>
          <a:p>
            <a:pPr marL="0" indent="0" algn="ctr">
              <a:buNone/>
            </a:pPr>
            <a:r>
              <a:rPr lang="en-US" sz="63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/web) :32010</a:t>
            </a:r>
            <a:endParaRPr lang="en-US" sz="630" dirty="0"/>
          </a:p>
        </p:txBody>
      </p:sp>
      <p:sp>
        <p:nvSpPr>
          <p:cNvPr id="29" name="Shape 27"/>
          <p:cNvSpPr/>
          <p:nvPr/>
        </p:nvSpPr>
        <p:spPr>
          <a:xfrm>
            <a:off x="4590288" y="2880360"/>
            <a:ext cx="914400" cy="1051560"/>
          </a:xfrm>
          <a:prstGeom prst="rect">
            <a:avLst/>
          </a:prstGeom>
          <a:solidFill>
            <a:srgbClr val="CFE0FF"/>
          </a:solidFill>
          <a:ln w="12700">
            <a:solidFill>
              <a:srgbClr val="CFE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590288" y="288036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AICM</a:t>
            </a:r>
            <a:endParaRPr lang="en-US" sz="630" dirty="0"/>
          </a:p>
          <a:p>
            <a:pPr marL="0" indent="0" algn="ctr">
              <a:buNone/>
            </a:pPr>
            <a:r>
              <a:rPr lang="en-US" sz="63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(kms-service</a:t>
            </a:r>
            <a:endParaRPr lang="en-US" sz="630" dirty="0"/>
          </a:p>
          <a:p>
            <a:pPr marL="0" indent="0" algn="ctr">
              <a:buNone/>
            </a:pPr>
            <a:r>
              <a:rPr lang="en-US" sz="63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/web) :32020</a:t>
            </a:r>
            <a:endParaRPr lang="en-US" sz="630" dirty="0"/>
          </a:p>
        </p:txBody>
      </p:sp>
      <p:sp>
        <p:nvSpPr>
          <p:cNvPr id="31" name="Shape 29"/>
          <p:cNvSpPr/>
          <p:nvPr/>
        </p:nvSpPr>
        <p:spPr>
          <a:xfrm>
            <a:off x="5573268" y="2880360"/>
            <a:ext cx="914400" cy="1051560"/>
          </a:xfrm>
          <a:prstGeom prst="rect">
            <a:avLst/>
          </a:prstGeom>
          <a:solidFill>
            <a:srgbClr val="CFE0FF"/>
          </a:solidFill>
          <a:ln w="12700">
            <a:solidFill>
              <a:srgbClr val="CFE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573268" y="288036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에이전트빌더</a:t>
            </a:r>
            <a:endParaRPr lang="en-US" sz="630" dirty="0"/>
          </a:p>
          <a:p>
            <a:pPr marL="0" indent="0" algn="ctr">
              <a:buNone/>
            </a:pPr>
            <a:r>
              <a:rPr lang="en-US" sz="63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(ce-service</a:t>
            </a:r>
            <a:endParaRPr lang="en-US" sz="630" dirty="0"/>
          </a:p>
          <a:p>
            <a:pPr marL="0" indent="0" algn="ctr">
              <a:buNone/>
            </a:pPr>
            <a:r>
              <a:rPr lang="en-US" sz="63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/web) :32030</a:t>
            </a:r>
            <a:endParaRPr lang="en-US" sz="630" dirty="0"/>
          </a:p>
        </p:txBody>
      </p:sp>
      <p:sp>
        <p:nvSpPr>
          <p:cNvPr id="33" name="Shape 31"/>
          <p:cNvSpPr/>
          <p:nvPr/>
        </p:nvSpPr>
        <p:spPr>
          <a:xfrm>
            <a:off x="6556248" y="2880360"/>
            <a:ext cx="914400" cy="1051560"/>
          </a:xfrm>
          <a:prstGeom prst="rect">
            <a:avLst/>
          </a:prstGeom>
          <a:solidFill>
            <a:srgbClr val="CFE0FF"/>
          </a:solidFill>
          <a:ln w="12700">
            <a:solidFill>
              <a:srgbClr val="CFE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6556248" y="288036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</a:t>
            </a:r>
            <a:endParaRPr lang="en-US" sz="630" dirty="0"/>
          </a:p>
          <a:p>
            <a:pPr marL="0" indent="0" algn="ctr">
              <a:buNone/>
            </a:pPr>
            <a:r>
              <a:rPr lang="en-US" sz="63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(ta-service</a:t>
            </a:r>
            <a:endParaRPr lang="en-US" sz="630" dirty="0"/>
          </a:p>
          <a:p>
            <a:pPr marL="0" indent="0" algn="ctr">
              <a:buNone/>
            </a:pPr>
            <a:r>
              <a:rPr lang="en-US" sz="63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/web) :32040</a:t>
            </a:r>
            <a:endParaRPr lang="en-US" sz="630" dirty="0"/>
          </a:p>
        </p:txBody>
      </p:sp>
      <p:sp>
        <p:nvSpPr>
          <p:cNvPr id="35" name="Shape 33"/>
          <p:cNvSpPr/>
          <p:nvPr/>
        </p:nvSpPr>
        <p:spPr>
          <a:xfrm>
            <a:off x="7539228" y="2880360"/>
            <a:ext cx="914400" cy="1051560"/>
          </a:xfrm>
          <a:prstGeom prst="rect">
            <a:avLst/>
          </a:prstGeom>
          <a:solidFill>
            <a:srgbClr val="CFE0FF"/>
          </a:solidFill>
          <a:ln w="12700">
            <a:solidFill>
              <a:srgbClr val="CFE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7539228" y="288036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630" dirty="0"/>
          </a:p>
          <a:p>
            <a:pPr marL="0" indent="0" algn="ctr">
              <a:buNone/>
            </a:pPr>
            <a:r>
              <a:rPr lang="en-US" sz="63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(qa-service</a:t>
            </a:r>
            <a:endParaRPr lang="en-US" sz="630" dirty="0"/>
          </a:p>
          <a:p>
            <a:pPr marL="0" indent="0" algn="ctr">
              <a:buNone/>
            </a:pPr>
            <a:r>
              <a:rPr lang="en-US" sz="63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/web) :32050</a:t>
            </a:r>
            <a:endParaRPr lang="en-US" sz="630" dirty="0"/>
          </a:p>
        </p:txBody>
      </p:sp>
      <p:sp>
        <p:nvSpPr>
          <p:cNvPr id="37" name="Shape 35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BBBB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502920" y="4261104"/>
            <a:ext cx="8138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프론트/백엔드 컨테이너는 각 앱당 2개(-web, -service)로 실제 더 세분화됨 — 표기 단순화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BBBBB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502920" y="4718304"/>
            <a:ext cx="8138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57200" y="4709160"/>
            <a:ext cx="8229600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320040" y="3794760"/>
            <a:ext cx="0" cy="0"/>
          </a:xfrm>
          <a:prstGeom prst="rect">
            <a:avLst/>
          </a:prstGeom>
          <a:solidFill>
            <a:srgbClr val="FFFFFF"/>
          </a:solidFill>
          <a:ln w="9525">
            <a:solidFill>
              <a:srgbClr val="BBBBB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365760" y="3803904"/>
            <a:ext cx="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107485" y="1115568"/>
            <a:ext cx="14630" cy="73152"/>
          </a:xfrm>
          <a:prstGeom prst="rect">
            <a:avLst/>
          </a:prstGeom>
          <a:solidFill>
            <a:srgbClr val="45515E"/>
          </a:solidFill>
          <a:ln w="12700">
            <a:solidFill>
              <a:srgbClr val="4551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3604565" y="1700784"/>
            <a:ext cx="14630" cy="128016"/>
          </a:xfrm>
          <a:prstGeom prst="rect">
            <a:avLst/>
          </a:prstGeom>
          <a:solidFill>
            <a:srgbClr val="45515E"/>
          </a:solidFill>
          <a:ln w="12700">
            <a:solidFill>
              <a:srgbClr val="4551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5524805" y="1700784"/>
            <a:ext cx="14630" cy="12801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4564685" y="2560320"/>
            <a:ext cx="14630" cy="91440"/>
          </a:xfrm>
          <a:prstGeom prst="rect">
            <a:avLst/>
          </a:prstGeom>
          <a:solidFill>
            <a:srgbClr val="45515E"/>
          </a:solidFill>
          <a:ln w="12700">
            <a:solidFill>
              <a:srgbClr val="4551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3">
            <a:extLst>
              <a:ext uri="{FF2B5EF4-FFF2-40B4-BE49-F238E27FC236}">
                <a16:creationId xmlns:a16="http://schemas.microsoft.com/office/drawing/2014/main" id="{7E48E274-B525-C528-50E5-46C443DCDF5A}"/>
              </a:ext>
            </a:extLst>
          </p:cNvPr>
          <p:cNvSpPr/>
          <p:nvPr/>
        </p:nvSpPr>
        <p:spPr>
          <a:xfrm>
            <a:off x="8396216" y="-6348"/>
            <a:ext cx="6639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45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Timbel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/ 캐시 / 스토리지 계층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20040" y="530352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Redis · Elasticsearch · MinIO — 모두 Docker 컨테이너로 운영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20040" y="786384"/>
            <a:ext cx="850392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8229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1(마스터)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+ 2,3(스탠바이)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스트리밍 복제, 앱별 schema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1737360" cy="8229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291840" y="11887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(캐싱, STT/구독배포)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212080" y="1188720"/>
            <a:ext cx="1828800" cy="8229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212080" y="11887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(검색, 캐시 없을 시)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223760" y="1188720"/>
            <a:ext cx="1691640" cy="822960"/>
          </a:xfrm>
          <a:prstGeom prst="rect">
            <a:avLst/>
          </a:prstGeom>
          <a:solidFill>
            <a:srgbClr val="C87F0A"/>
          </a:solidFill>
          <a:ln w="12700">
            <a:solidFill>
              <a:srgbClr val="C87F0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223760" y="11887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(S3 호환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오브젝트 스토리지)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0040" y="2377440"/>
            <a:ext cx="969264" cy="777240"/>
          </a:xfrm>
          <a:prstGeom prst="rect">
            <a:avLst/>
          </a:prstGeom>
          <a:solidFill>
            <a:srgbClr val="CFE0FF"/>
          </a:solidFill>
          <a:ln w="12700">
            <a:solidFill>
              <a:srgbClr val="CFE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20040" y="2377440"/>
            <a:ext cx="969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Timbel AICC</a:t>
            </a:r>
            <a:endParaRPr lang="en-US" sz="620" dirty="0"/>
          </a:p>
          <a:p>
            <a:pPr marL="0" indent="0" algn="ctr">
              <a:buNone/>
            </a:pPr>
            <a:r>
              <a:rPr lang="en-US" sz="62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포털</a:t>
            </a:r>
            <a:endParaRPr lang="en-US" sz="620" dirty="0"/>
          </a:p>
          <a:p>
            <a:pPr marL="0" indent="0" algn="ctr">
              <a:buNone/>
            </a:pPr>
            <a:r>
              <a:rPr lang="en-US" sz="62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(ecp-api)</a:t>
            </a:r>
            <a:endParaRPr lang="en-US" sz="620" dirty="0"/>
          </a:p>
          <a:p>
            <a:pPr marL="0" indent="0" algn="ctr">
              <a:buNone/>
            </a:pPr>
            <a:r>
              <a:rPr lang="en-US" sz="62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:32000</a:t>
            </a:r>
            <a:endParaRPr lang="en-US" sz="620" dirty="0"/>
          </a:p>
        </p:txBody>
      </p:sp>
      <p:sp>
        <p:nvSpPr>
          <p:cNvPr id="15" name="Shape 13"/>
          <p:cNvSpPr/>
          <p:nvPr/>
        </p:nvSpPr>
        <p:spPr>
          <a:xfrm>
            <a:off x="1380744" y="2377440"/>
            <a:ext cx="969264" cy="777240"/>
          </a:xfrm>
          <a:prstGeom prst="rect">
            <a:avLst/>
          </a:prstGeom>
          <a:solidFill>
            <a:srgbClr val="FFF3CC"/>
          </a:solidFill>
          <a:ln w="12700">
            <a:solidFill>
              <a:srgbClr val="FFF3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380744" y="2377440"/>
            <a:ext cx="969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포털 인증서버</a:t>
            </a:r>
            <a:endParaRPr lang="en-US" sz="620" dirty="0"/>
          </a:p>
          <a:p>
            <a:pPr marL="0" indent="0" algn="ctr">
              <a:buNone/>
            </a:pPr>
            <a:r>
              <a:rPr lang="en-US" sz="62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(auth-service,</a:t>
            </a:r>
            <a:endParaRPr lang="en-US" sz="620" dirty="0"/>
          </a:p>
          <a:p>
            <a:pPr marL="0" indent="0" algn="ctr">
              <a:buNone/>
            </a:pPr>
            <a:r>
              <a:rPr lang="en-US" sz="62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 겸임)</a:t>
            </a:r>
            <a:endParaRPr lang="en-US" sz="620" dirty="0"/>
          </a:p>
          <a:p>
            <a:pPr marL="0" indent="0" algn="ctr">
              <a:buNone/>
            </a:pPr>
            <a:r>
              <a:rPr lang="en-US" sz="62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:32001</a:t>
            </a:r>
            <a:endParaRPr lang="en-US" sz="620" dirty="0"/>
          </a:p>
        </p:txBody>
      </p:sp>
      <p:sp>
        <p:nvSpPr>
          <p:cNvPr id="17" name="Shape 15"/>
          <p:cNvSpPr/>
          <p:nvPr/>
        </p:nvSpPr>
        <p:spPr>
          <a:xfrm>
            <a:off x="2441448" y="2377440"/>
            <a:ext cx="969264" cy="77724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2441448" y="2377440"/>
            <a:ext cx="969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USER_HOST</a:t>
            </a:r>
            <a:endParaRPr lang="en-US" sz="620" dirty="0"/>
          </a:p>
          <a:p>
            <a:pPr marL="0" indent="0" algn="ctr">
              <a:buNone/>
            </a:pPr>
            <a:r>
              <a:rPr lang="en-US" sz="62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(user_host)</a:t>
            </a:r>
            <a:endParaRPr lang="en-US" sz="620" dirty="0"/>
          </a:p>
          <a:p>
            <a:pPr marL="0" indent="0" algn="ctr">
              <a:buNone/>
            </a:pPr>
            <a:r>
              <a:rPr lang="en-US" sz="62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:32002</a:t>
            </a:r>
            <a:endParaRPr lang="en-US" sz="620" dirty="0"/>
          </a:p>
        </p:txBody>
      </p:sp>
      <p:sp>
        <p:nvSpPr>
          <p:cNvPr id="19" name="Shape 17"/>
          <p:cNvSpPr/>
          <p:nvPr/>
        </p:nvSpPr>
        <p:spPr>
          <a:xfrm>
            <a:off x="3502152" y="2377440"/>
            <a:ext cx="969264" cy="777240"/>
          </a:xfrm>
          <a:prstGeom prst="rect">
            <a:avLst/>
          </a:prstGeom>
          <a:solidFill>
            <a:srgbClr val="CFE0FF"/>
          </a:solidFill>
          <a:ln w="12700">
            <a:solidFill>
              <a:srgbClr val="CFE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502152" y="2377440"/>
            <a:ext cx="969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어드바이저</a:t>
            </a:r>
            <a:endParaRPr lang="en-US" sz="620" dirty="0"/>
          </a:p>
          <a:p>
            <a:pPr marL="0" indent="0" algn="ctr">
              <a:buNone/>
            </a:pPr>
            <a:r>
              <a:rPr lang="en-US" sz="62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(asst-service</a:t>
            </a:r>
            <a:endParaRPr lang="en-US" sz="620" dirty="0"/>
          </a:p>
          <a:p>
            <a:pPr marL="0" indent="0" algn="ctr">
              <a:buNone/>
            </a:pPr>
            <a:r>
              <a:rPr lang="en-US" sz="62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/web) :32010</a:t>
            </a:r>
            <a:endParaRPr lang="en-US" sz="620" dirty="0"/>
          </a:p>
        </p:txBody>
      </p:sp>
      <p:sp>
        <p:nvSpPr>
          <p:cNvPr id="21" name="Shape 19"/>
          <p:cNvSpPr/>
          <p:nvPr/>
        </p:nvSpPr>
        <p:spPr>
          <a:xfrm>
            <a:off x="4562856" y="2377440"/>
            <a:ext cx="969264" cy="777240"/>
          </a:xfrm>
          <a:prstGeom prst="rect">
            <a:avLst/>
          </a:prstGeom>
          <a:solidFill>
            <a:srgbClr val="CFE0FF"/>
          </a:solidFill>
          <a:ln w="12700">
            <a:solidFill>
              <a:srgbClr val="CFE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562856" y="2377440"/>
            <a:ext cx="969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AICM</a:t>
            </a:r>
            <a:endParaRPr lang="en-US" sz="620" dirty="0"/>
          </a:p>
          <a:p>
            <a:pPr marL="0" indent="0" algn="ctr">
              <a:buNone/>
            </a:pPr>
            <a:r>
              <a:rPr lang="en-US" sz="62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(kms-service</a:t>
            </a:r>
            <a:endParaRPr lang="en-US" sz="620" dirty="0"/>
          </a:p>
          <a:p>
            <a:pPr marL="0" indent="0" algn="ctr">
              <a:buNone/>
            </a:pPr>
            <a:r>
              <a:rPr lang="en-US" sz="62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/web) :32020</a:t>
            </a:r>
            <a:endParaRPr lang="en-US" sz="620" dirty="0"/>
          </a:p>
        </p:txBody>
      </p:sp>
      <p:sp>
        <p:nvSpPr>
          <p:cNvPr id="23" name="Shape 21"/>
          <p:cNvSpPr/>
          <p:nvPr/>
        </p:nvSpPr>
        <p:spPr>
          <a:xfrm>
            <a:off x="5623560" y="2377440"/>
            <a:ext cx="969264" cy="777240"/>
          </a:xfrm>
          <a:prstGeom prst="rect">
            <a:avLst/>
          </a:prstGeom>
          <a:solidFill>
            <a:srgbClr val="CFE0FF"/>
          </a:solidFill>
          <a:ln w="12700">
            <a:solidFill>
              <a:srgbClr val="CFE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623560" y="2377440"/>
            <a:ext cx="969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에이전트빌더</a:t>
            </a:r>
            <a:endParaRPr lang="en-US" sz="620" dirty="0"/>
          </a:p>
          <a:p>
            <a:pPr marL="0" indent="0" algn="ctr">
              <a:buNone/>
            </a:pPr>
            <a:r>
              <a:rPr lang="en-US" sz="62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(ce-service</a:t>
            </a:r>
            <a:endParaRPr lang="en-US" sz="620" dirty="0"/>
          </a:p>
          <a:p>
            <a:pPr marL="0" indent="0" algn="ctr">
              <a:buNone/>
            </a:pPr>
            <a:r>
              <a:rPr lang="en-US" sz="62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/web) :32030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6684264" y="2377440"/>
            <a:ext cx="969264" cy="777240"/>
          </a:xfrm>
          <a:prstGeom prst="rect">
            <a:avLst/>
          </a:prstGeom>
          <a:solidFill>
            <a:srgbClr val="CFE0FF"/>
          </a:solidFill>
          <a:ln w="12700">
            <a:solidFill>
              <a:srgbClr val="CFE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684264" y="2377440"/>
            <a:ext cx="969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</a:t>
            </a:r>
            <a:endParaRPr lang="en-US" sz="620" dirty="0"/>
          </a:p>
          <a:p>
            <a:pPr marL="0" indent="0" algn="ctr">
              <a:buNone/>
            </a:pPr>
            <a:r>
              <a:rPr lang="en-US" sz="62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(ta-service</a:t>
            </a:r>
            <a:endParaRPr lang="en-US" sz="620" dirty="0"/>
          </a:p>
          <a:p>
            <a:pPr marL="0" indent="0" algn="ctr">
              <a:buNone/>
            </a:pPr>
            <a:r>
              <a:rPr lang="en-US" sz="62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/web) :32040</a:t>
            </a:r>
            <a:endParaRPr lang="en-US" sz="620" dirty="0"/>
          </a:p>
        </p:txBody>
      </p:sp>
      <p:sp>
        <p:nvSpPr>
          <p:cNvPr id="27" name="Shape 25"/>
          <p:cNvSpPr/>
          <p:nvPr/>
        </p:nvSpPr>
        <p:spPr>
          <a:xfrm>
            <a:off x="7744968" y="2377440"/>
            <a:ext cx="969264" cy="777240"/>
          </a:xfrm>
          <a:prstGeom prst="rect">
            <a:avLst/>
          </a:prstGeom>
          <a:solidFill>
            <a:srgbClr val="CFE0FF"/>
          </a:solidFill>
          <a:ln w="12700">
            <a:solidFill>
              <a:srgbClr val="CFE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744968" y="2377440"/>
            <a:ext cx="969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620" dirty="0"/>
          </a:p>
          <a:p>
            <a:pPr marL="0" indent="0" algn="ctr">
              <a:buNone/>
            </a:pPr>
            <a:r>
              <a:rPr lang="en-US" sz="62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(qa-service</a:t>
            </a:r>
            <a:endParaRPr lang="en-US" sz="620" dirty="0"/>
          </a:p>
          <a:p>
            <a:pPr marL="0" indent="0" algn="ctr">
              <a:buNone/>
            </a:pPr>
            <a:r>
              <a:rPr lang="en-US" sz="62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/web) :32050</a:t>
            </a:r>
            <a:endParaRPr lang="en-US" sz="620" dirty="0"/>
          </a:p>
        </p:txBody>
      </p:sp>
      <p:sp>
        <p:nvSpPr>
          <p:cNvPr id="29" name="Shape 27"/>
          <p:cNvSpPr/>
          <p:nvPr/>
        </p:nvSpPr>
        <p:spPr>
          <a:xfrm>
            <a:off x="797357" y="1828800"/>
            <a:ext cx="14630" cy="5486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858061" y="1828800"/>
            <a:ext cx="14630" cy="5486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2918765" y="1828800"/>
            <a:ext cx="14630" cy="5486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3979469" y="1828800"/>
            <a:ext cx="14630" cy="5486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5040173" y="1828800"/>
            <a:ext cx="14630" cy="5486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6100877" y="1828800"/>
            <a:ext cx="14630" cy="5486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7161581" y="1828800"/>
            <a:ext cx="14630" cy="5486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8222285" y="1828800"/>
            <a:ext cx="14630" cy="5486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320040" y="32918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앱 컨테이너 → PostgreSQL(자기 schema)·Redis·Elasticsearch·MinIO에 필요한 것만 연결</a:t>
            </a:r>
            <a:endParaRPr lang="en-US" sz="950" dirty="0"/>
          </a:p>
        </p:txBody>
      </p:sp>
      <p:sp>
        <p:nvSpPr>
          <p:cNvPr id="38" name="Text 3">
            <a:extLst>
              <a:ext uri="{FF2B5EF4-FFF2-40B4-BE49-F238E27FC236}">
                <a16:creationId xmlns:a16="http://schemas.microsoft.com/office/drawing/2014/main" id="{BB52B516-6EA3-8262-8A1C-550C6A68C48E}"/>
              </a:ext>
            </a:extLst>
          </p:cNvPr>
          <p:cNvSpPr/>
          <p:nvPr/>
        </p:nvSpPr>
        <p:spPr>
          <a:xfrm>
            <a:off x="8396216" y="-6348"/>
            <a:ext cx="6639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45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Timbel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서버의 중요성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20040" y="530352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B안 채택 시 — Gateway가 실제로 수행하는 역할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20040" y="786384"/>
            <a:ext cx="850392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54864" cy="512064"/>
          </a:xfrm>
          <a:prstGeom prst="rect">
            <a:avLst/>
          </a:prstGeom>
          <a:solidFill>
            <a:srgbClr val="6B48C8"/>
          </a:solidFill>
          <a:ln w="12700">
            <a:solidFill>
              <a:srgbClr val="6B4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74904" y="1051560"/>
            <a:ext cx="8174736" cy="512064"/>
          </a:xfrm>
          <a:prstGeom prst="rect">
            <a:avLst/>
          </a:prstGeom>
          <a:solidFill>
            <a:srgbClr val="F8FAFE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진입점 (Single Entry Point)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926080" y="1051560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외부(North-South) 트래픽이 반드시 거쳐가는 유일한 경로 — 장애/오설정 시 전체 서비스 영향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320040" y="1618488"/>
            <a:ext cx="54864" cy="512064"/>
          </a:xfrm>
          <a:prstGeom prst="rect">
            <a:avLst/>
          </a:prstGeom>
          <a:solidFill>
            <a:srgbClr val="6B48C8"/>
          </a:solidFill>
          <a:ln w="12700">
            <a:solidFill>
              <a:srgbClr val="6B4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74904" y="1618488"/>
            <a:ext cx="817473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02920" y="1618488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 검증 수행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26080" y="1618488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앱이 개별 구현하던 JWKS 자체 검증을 한 곳에서 통합 수행 — 검증 로직의 유일한 실행 지점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320040" y="2185416"/>
            <a:ext cx="54864" cy="512064"/>
          </a:xfrm>
          <a:prstGeom prst="rect">
            <a:avLst/>
          </a:prstGeom>
          <a:solidFill>
            <a:srgbClr val="6B48C8"/>
          </a:solidFill>
          <a:ln w="12700">
            <a:solidFill>
              <a:srgbClr val="6B4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74904" y="2185416"/>
            <a:ext cx="8174736" cy="512064"/>
          </a:xfrm>
          <a:prstGeom prst="rect">
            <a:avLst/>
          </a:prstGeom>
          <a:solidFill>
            <a:srgbClr val="F8FAFE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02920" y="2185416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라우팅 규칙 관리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26080" y="2185416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경로별 대상 서비스 매핑을 관리 — 신규 서비스 추가/변경 시 라우트 등록·수정 필요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320040" y="2752344"/>
            <a:ext cx="54864" cy="512064"/>
          </a:xfrm>
          <a:prstGeom prst="rect">
            <a:avLst/>
          </a:prstGeom>
          <a:solidFill>
            <a:srgbClr val="6B48C8"/>
          </a:solidFill>
          <a:ln w="12700">
            <a:solidFill>
              <a:srgbClr val="6B4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374904" y="2752344"/>
            <a:ext cx="817473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02920" y="2752344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경로별 인증정책 차등 적용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26080" y="2752344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내부용(쿠키/JWT)과 외부 파트너 연동용(API Key 등) 정책을 경로 단위로 분리 적용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320040" y="3319272"/>
            <a:ext cx="54864" cy="512064"/>
          </a:xfrm>
          <a:prstGeom prst="rect">
            <a:avLst/>
          </a:prstGeom>
          <a:solidFill>
            <a:srgbClr val="6B48C8"/>
          </a:solidFill>
          <a:ln w="12700">
            <a:solidFill>
              <a:srgbClr val="6B4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374904" y="3319272"/>
            <a:ext cx="8174736" cy="512064"/>
          </a:xfrm>
          <a:prstGeom prst="rect">
            <a:avLst/>
          </a:prstGeom>
          <a:solidFill>
            <a:srgbClr val="F8FAFE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02920" y="3319272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정책 일괄 처리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26080" y="3319272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Limit, 로깅, 트래픽 모니터링 등 전 서비스 공통 정책을 중앙에서 적용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320040" y="3886200"/>
            <a:ext cx="54864" cy="512064"/>
          </a:xfrm>
          <a:prstGeom prst="rect">
            <a:avLst/>
          </a:prstGeom>
          <a:solidFill>
            <a:srgbClr val="6B48C8"/>
          </a:solidFill>
          <a:ln w="12700">
            <a:solidFill>
              <a:srgbClr val="6B4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374904" y="3886200"/>
            <a:ext cx="817473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02920" y="388620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버전·보안 패치 관리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926080" y="3886200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자체(프레임워크/라이브러리) 버전 및 보안 취약점에 대한 지속적 관리 필요</a:t>
            </a:r>
            <a:endParaRPr lang="en-US" sz="930" dirty="0"/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3F1BC8FF-D1F0-1299-662C-02199BE89E5F}"/>
              </a:ext>
            </a:extLst>
          </p:cNvPr>
          <p:cNvSpPr/>
          <p:nvPr/>
        </p:nvSpPr>
        <p:spPr>
          <a:xfrm>
            <a:off x="8396216" y="-6348"/>
            <a:ext cx="6639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45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Timbel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 — 데이터/캐시/스토리지 이중화 방식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20040" y="530352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컴포넌트별 이중화 옵션 · 개발환경 vs 양산환경 비교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20040" y="786384"/>
            <a:ext cx="850392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1371600" cy="365760"/>
          </a:xfrm>
          <a:prstGeom prst="rect">
            <a:avLst/>
          </a:prstGeom>
          <a:solidFill>
            <a:srgbClr val="1C3A6B"/>
          </a:solidFill>
          <a:ln w="12700">
            <a:solidFill>
              <a:srgbClr val="1C3A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컴포넌트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691640" y="960120"/>
            <a:ext cx="1828800" cy="365760"/>
          </a:xfrm>
          <a:prstGeom prst="rect">
            <a:avLst/>
          </a:prstGeom>
          <a:solidFill>
            <a:srgbClr val="1C3A6B"/>
          </a:solidFill>
          <a:ln w="12700">
            <a:solidFill>
              <a:srgbClr val="1C3A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691640" y="960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이중화 방식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520440" y="960120"/>
            <a:ext cx="1554480" cy="365760"/>
          </a:xfrm>
          <a:prstGeom prst="rect">
            <a:avLst/>
          </a:prstGeom>
          <a:solidFill>
            <a:srgbClr val="1C3A6B"/>
          </a:solidFill>
          <a:ln w="12700">
            <a:solidFill>
              <a:srgbClr val="1C3A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520440" y="960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개발환경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74920" y="960120"/>
            <a:ext cx="1828800" cy="365760"/>
          </a:xfrm>
          <a:prstGeom prst="rect">
            <a:avLst/>
          </a:prstGeom>
          <a:solidFill>
            <a:srgbClr val="1C3A6B"/>
          </a:solidFill>
          <a:ln w="12700">
            <a:solidFill>
              <a:srgbClr val="1C3A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074920" y="960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양산환경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903720" y="960120"/>
            <a:ext cx="1965960" cy="365760"/>
          </a:xfrm>
          <a:prstGeom prst="rect">
            <a:avLst/>
          </a:prstGeom>
          <a:solidFill>
            <a:srgbClr val="1C3A6B"/>
          </a:solidFill>
          <a:ln w="12700">
            <a:solidFill>
              <a:srgbClr val="1C3A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비고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1325880"/>
            <a:ext cx="1371600" cy="621792"/>
          </a:xfrm>
          <a:prstGeom prst="rect">
            <a:avLst/>
          </a:prstGeom>
          <a:solidFill>
            <a:srgbClr val="F8FAFE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74904" y="1325880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1C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1691640" y="1325880"/>
            <a:ext cx="1828800" cy="621792"/>
          </a:xfrm>
          <a:prstGeom prst="rect">
            <a:avLst/>
          </a:prstGeom>
          <a:solidFill>
            <a:srgbClr val="F8FAFE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746504" y="132588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마스터+스탠바이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스트리밍 복제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3520440" y="1325880"/>
            <a:ext cx="1554480" cy="621792"/>
          </a:xfrm>
          <a:prstGeom prst="rect">
            <a:avLst/>
          </a:prstGeom>
          <a:solidFill>
            <a:srgbClr val="F8FAFE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575304" y="132588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인스턴스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5074920" y="1325880"/>
            <a:ext cx="1828800" cy="621792"/>
          </a:xfrm>
          <a:prstGeom prst="rect">
            <a:avLst/>
          </a:prstGeom>
          <a:solidFill>
            <a:srgbClr val="F8FAFE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129784" y="132588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마스터1 + 스탠바이2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6903720" y="1325880"/>
            <a:ext cx="1965960" cy="621792"/>
          </a:xfrm>
          <a:prstGeom prst="rect">
            <a:avLst/>
          </a:prstGeom>
          <a:solidFill>
            <a:srgbClr val="F8FAFE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958584" y="1325880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쓰기는 논리적으로 1대(마스터), 물리적으로는 최소 2~3대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320040" y="1947672"/>
            <a:ext cx="1371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374904" y="1947672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1C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1691640" y="1947672"/>
            <a:ext cx="1828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1746504" y="1947672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(마스터+레플리카+감시자)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3520440" y="1947672"/>
            <a:ext cx="1554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3575304" y="1947672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인스턴스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5074920" y="1947672"/>
            <a:ext cx="1828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129784" y="1947672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최소 구성 권장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6903720" y="1947672"/>
            <a:ext cx="1965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6958584" y="1947672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 토큰은 저장 안 함 — STT·pub/sub·중복로그인 방지용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320040" y="2569464"/>
            <a:ext cx="1371600" cy="621792"/>
          </a:xfrm>
          <a:prstGeom prst="rect">
            <a:avLst/>
          </a:prstGeom>
          <a:solidFill>
            <a:srgbClr val="F8FAFE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374904" y="2569464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1C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</a:t>
            </a:r>
            <a:endParaRPr lang="en-US" sz="830" dirty="0"/>
          </a:p>
        </p:txBody>
      </p:sp>
      <p:sp>
        <p:nvSpPr>
          <p:cNvPr id="37" name="Shape 35"/>
          <p:cNvSpPr/>
          <p:nvPr/>
        </p:nvSpPr>
        <p:spPr>
          <a:xfrm>
            <a:off x="1691640" y="2569464"/>
            <a:ext cx="1828800" cy="621792"/>
          </a:xfrm>
          <a:prstGeom prst="rect">
            <a:avLst/>
          </a:prstGeom>
          <a:solidFill>
            <a:srgbClr val="F8FAFE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1746504" y="2569464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mode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(노드/디스크 분산)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3520440" y="2569464"/>
            <a:ext cx="1554480" cy="621792"/>
          </a:xfrm>
          <a:prstGeom prst="rect">
            <a:avLst/>
          </a:prstGeom>
          <a:solidFill>
            <a:srgbClr val="F8FAFE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3575304" y="2569464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노드</a:t>
            </a:r>
            <a:endParaRPr lang="en-US" sz="830" dirty="0"/>
          </a:p>
        </p:txBody>
      </p:sp>
      <p:sp>
        <p:nvSpPr>
          <p:cNvPr id="41" name="Shape 39"/>
          <p:cNvSpPr/>
          <p:nvPr/>
        </p:nvSpPr>
        <p:spPr>
          <a:xfrm>
            <a:off x="5074920" y="2569464"/>
            <a:ext cx="1828800" cy="621792"/>
          </a:xfrm>
          <a:prstGeom prst="rect">
            <a:avLst/>
          </a:prstGeom>
          <a:solidFill>
            <a:srgbClr val="F8FAFE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5129784" y="2569464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 4노드 분산모드 권장</a:t>
            </a:r>
            <a:endParaRPr lang="en-US" sz="830" dirty="0"/>
          </a:p>
        </p:txBody>
      </p:sp>
      <p:sp>
        <p:nvSpPr>
          <p:cNvPr id="43" name="Shape 41"/>
          <p:cNvSpPr/>
          <p:nvPr/>
        </p:nvSpPr>
        <p:spPr>
          <a:xfrm>
            <a:off x="6903720" y="2569464"/>
            <a:ext cx="1965960" cy="621792"/>
          </a:xfrm>
          <a:prstGeom prst="rect">
            <a:avLst/>
          </a:prstGeom>
          <a:solidFill>
            <a:srgbClr val="F8FAFE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6958584" y="2569464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1노드는 디스크 장애 시 파일 유실 위험</a:t>
            </a:r>
            <a:endParaRPr lang="en-US" sz="830" dirty="0"/>
          </a:p>
        </p:txBody>
      </p:sp>
      <p:sp>
        <p:nvSpPr>
          <p:cNvPr id="45" name="Shape 43"/>
          <p:cNvSpPr/>
          <p:nvPr/>
        </p:nvSpPr>
        <p:spPr>
          <a:xfrm>
            <a:off x="320040" y="3191256"/>
            <a:ext cx="1371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374904" y="3191256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1C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830" dirty="0"/>
          </a:p>
        </p:txBody>
      </p:sp>
      <p:sp>
        <p:nvSpPr>
          <p:cNvPr id="47" name="Shape 45"/>
          <p:cNvSpPr/>
          <p:nvPr/>
        </p:nvSpPr>
        <p:spPr>
          <a:xfrm>
            <a:off x="1691640" y="3191256"/>
            <a:ext cx="1828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1746504" y="3191256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클러스터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(샤드+레플리카)</a:t>
            </a:r>
            <a:endParaRPr lang="en-US" sz="830" dirty="0"/>
          </a:p>
        </p:txBody>
      </p:sp>
      <p:sp>
        <p:nvSpPr>
          <p:cNvPr id="49" name="Shape 47"/>
          <p:cNvSpPr/>
          <p:nvPr/>
        </p:nvSpPr>
        <p:spPr>
          <a:xfrm>
            <a:off x="3520440" y="3191256"/>
            <a:ext cx="1554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3575304" y="3191256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노드</a:t>
            </a:r>
            <a:endParaRPr lang="en-US" sz="830" dirty="0"/>
          </a:p>
        </p:txBody>
      </p:sp>
      <p:sp>
        <p:nvSpPr>
          <p:cNvPr id="51" name="Shape 49"/>
          <p:cNvSpPr/>
          <p:nvPr/>
        </p:nvSpPr>
        <p:spPr>
          <a:xfrm>
            <a:off x="5074920" y="3191256"/>
            <a:ext cx="1828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5129784" y="3191256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 3노드 클러스터 권장</a:t>
            </a:r>
            <a:endParaRPr lang="en-US" sz="830" dirty="0"/>
          </a:p>
        </p:txBody>
      </p:sp>
      <p:sp>
        <p:nvSpPr>
          <p:cNvPr id="53" name="Shape 51"/>
          <p:cNvSpPr/>
          <p:nvPr/>
        </p:nvSpPr>
        <p:spPr>
          <a:xfrm>
            <a:off x="6903720" y="3191256"/>
            <a:ext cx="1965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6958584" y="3191256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검색용, Redis 캐시 없을 시 사용</a:t>
            </a:r>
            <a:endParaRPr lang="en-US" sz="830" dirty="0"/>
          </a:p>
        </p:txBody>
      </p:sp>
      <p:sp>
        <p:nvSpPr>
          <p:cNvPr id="55" name="Text 3">
            <a:extLst>
              <a:ext uri="{FF2B5EF4-FFF2-40B4-BE49-F238E27FC236}">
                <a16:creationId xmlns:a16="http://schemas.microsoft.com/office/drawing/2014/main" id="{AE346104-3069-C354-ECA5-7BFC2A1B2D3E}"/>
              </a:ext>
            </a:extLst>
          </p:cNvPr>
          <p:cNvSpPr/>
          <p:nvPr/>
        </p:nvSpPr>
        <p:spPr>
          <a:xfrm>
            <a:off x="8396216" y="-6348"/>
            <a:ext cx="6639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45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Timbel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양산 On-Premises 필요사항 — 올인원 구조 (1/2)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" y="786384"/>
            <a:ext cx="850392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54964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57200" cy="77724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0789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백업 / 재해복구(DR)  [필수]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371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복제는 장애 즉시대응이지 백업이 아님. 정기 스냅샷 백업 + 복구 절차 별도 필요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1874520"/>
            <a:ext cx="854964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20040" y="1874520"/>
            <a:ext cx="457200" cy="77724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20040" y="187452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19476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모니터링 / 알림 체계  [필수]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240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Prometheus+Grafana 등으로 상태 감시 + 이상 시 알림(슬랙/메일) 필요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743200"/>
            <a:ext cx="854964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20040" y="2743200"/>
            <a:ext cx="457200" cy="77724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20040" y="27432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281635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하드닝  [필수]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108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 구간분리(DMZ/내부망), OS 패치정책, 취약점 점검, 서버 접근제어 정책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611880"/>
            <a:ext cx="854964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320040" y="3611880"/>
            <a:ext cx="457200" cy="77724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20040" y="36118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36850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용량 산정(Capacity Sizing)  [필수]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3977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예상 동시접속자 수 기반으로 코어/메모리/디스크 재산정 필요</a:t>
            </a:r>
            <a:endParaRPr lang="en-US" sz="950" dirty="0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0DBB0AF0-2D5B-0737-BA38-CA4A8E7F1A0C}"/>
              </a:ext>
            </a:extLst>
          </p:cNvPr>
          <p:cNvSpPr/>
          <p:nvPr/>
        </p:nvSpPr>
        <p:spPr>
          <a:xfrm>
            <a:off x="8396216" y="-6348"/>
            <a:ext cx="6639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45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Timbel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양산 On-Premises 필요사항 — 올인원 구조 (2/2)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" y="786384"/>
            <a:ext cx="850392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54964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57200" cy="77724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0789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문서 / 런북  [필수]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371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장애대응 매뉴얼, 배포 절차, 계정관리 정책 등 운영팀 인수인계용 문서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1874520"/>
            <a:ext cx="854964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20040" y="1874520"/>
            <a:ext cx="457200" cy="777240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20040" y="187452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19476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· 배포 파이프라인  [권장]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240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 자동화 도구 도입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743200"/>
            <a:ext cx="854964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20040" y="2743200"/>
            <a:ext cx="457200" cy="77724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20040" y="27432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281635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SSL/TLS 인증서 관리  [필수]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108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사설 CA / 공인 CA 중 발급·갱신 주체 결정 필요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611880"/>
            <a:ext cx="854964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320040" y="3611880"/>
            <a:ext cx="457200" cy="77724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20040" y="36118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36850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라이선스 / 유지보수 계약  [선택]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3977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구성요소도 SLA 요구 시 기업용 지원계약 검토</a:t>
            </a:r>
            <a:endParaRPr lang="en-US" sz="950" dirty="0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3F7AB9C2-19BC-6900-9693-76D0A874C63C}"/>
              </a:ext>
            </a:extLst>
          </p:cNvPr>
          <p:cNvSpPr/>
          <p:nvPr/>
        </p:nvSpPr>
        <p:spPr>
          <a:xfrm>
            <a:off x="8396216" y="-6348"/>
            <a:ext cx="6639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45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Timbel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120C3-5AB2-5BB4-5ABE-E988F7F6D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9039380-3035-57E4-ACC7-3276474D7D26}"/>
              </a:ext>
            </a:extLst>
          </p:cNvPr>
          <p:cNvSpPr/>
          <p:nvPr/>
        </p:nvSpPr>
        <p:spPr>
          <a:xfrm>
            <a:off x="0" y="213360"/>
            <a:ext cx="9144000" cy="5143500"/>
          </a:xfrm>
          <a:prstGeom prst="rect">
            <a:avLst/>
          </a:prstGeom>
          <a:solidFill>
            <a:srgbClr val="181E25"/>
          </a:solidFill>
          <a:ln w="12700">
            <a:solidFill>
              <a:srgbClr val="181E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73724DC-19AF-981C-D663-0FEC79F388B2}"/>
              </a:ext>
            </a:extLst>
          </p:cNvPr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5CEA59B-3E08-6B92-CB0E-4FA146D8D222}"/>
              </a:ext>
            </a:extLst>
          </p:cNvPr>
          <p:cNvSpPr/>
          <p:nvPr/>
        </p:nvSpPr>
        <p:spPr>
          <a:xfrm>
            <a:off x="50292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[Application Stack]</a:t>
            </a:r>
            <a:endParaRPr lang="en-US" sz="1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53EA78C-7798-14CE-3B20-46A56A10C837}"/>
              </a:ext>
            </a:extLst>
          </p:cNvPr>
          <p:cNvSpPr/>
          <p:nvPr/>
        </p:nvSpPr>
        <p:spPr>
          <a:xfrm>
            <a:off x="502920" y="17373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어드바이저</a:t>
            </a:r>
            <a:r>
              <a:rPr lang="ko-KR" altLang="en-US" sz="2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altLang="ko-KR" sz="2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Front-End/Back-End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9639383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799A7-5FE5-3C6D-FEC1-DDEA78912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0D535B6-4436-8482-9997-D523691A3C89}"/>
              </a:ext>
            </a:extLst>
          </p:cNvPr>
          <p:cNvSpPr/>
          <p:nvPr/>
        </p:nvSpPr>
        <p:spPr>
          <a:xfrm>
            <a:off x="83821" y="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Stack</a:t>
            </a:r>
            <a:endParaRPr lang="en-US" sz="1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85333F6-02B0-C4E4-C4E3-1682C0CA6B03}"/>
              </a:ext>
            </a:extLst>
          </p:cNvPr>
          <p:cNvSpPr/>
          <p:nvPr/>
        </p:nvSpPr>
        <p:spPr>
          <a:xfrm flipV="1">
            <a:off x="83821" y="345949"/>
            <a:ext cx="8976358" cy="45719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58B0A77C-9AE1-2DDD-C021-051730E46670}"/>
              </a:ext>
            </a:extLst>
          </p:cNvPr>
          <p:cNvSpPr/>
          <p:nvPr/>
        </p:nvSpPr>
        <p:spPr>
          <a:xfrm>
            <a:off x="8396216" y="-6348"/>
            <a:ext cx="6639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45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Timbel</a:t>
            </a:r>
            <a:endParaRPr lang="en-US" sz="1400" dirty="0"/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F6AAB6CA-2EA6-0D5F-171B-BF34493854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201942"/>
              </p:ext>
            </p:extLst>
          </p:nvPr>
        </p:nvGraphicFramePr>
        <p:xfrm>
          <a:off x="148442" y="469644"/>
          <a:ext cx="8713618" cy="39042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5546">
                  <a:extLst>
                    <a:ext uri="{9D8B030D-6E8A-4147-A177-3AD203B41FA5}">
                      <a16:colId xmlns:a16="http://schemas.microsoft.com/office/drawing/2014/main" val="1260535803"/>
                    </a:ext>
                  </a:extLst>
                </a:gridCol>
                <a:gridCol w="3895928">
                  <a:extLst>
                    <a:ext uri="{9D8B030D-6E8A-4147-A177-3AD203B41FA5}">
                      <a16:colId xmlns:a16="http://schemas.microsoft.com/office/drawing/2014/main" val="2752640961"/>
                    </a:ext>
                  </a:extLst>
                </a:gridCol>
                <a:gridCol w="3032144">
                  <a:extLst>
                    <a:ext uri="{9D8B030D-6E8A-4147-A177-3AD203B41FA5}">
                      <a16:colId xmlns:a16="http://schemas.microsoft.com/office/drawing/2014/main" val="1882989443"/>
                    </a:ext>
                  </a:extLst>
                </a:gridCol>
              </a:tblGrid>
              <a:tr h="26309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내용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96347546"/>
                  </a:ext>
                </a:extLst>
              </a:tr>
              <a:tr h="26309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개발언어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ko-Kore-KR" sz="1000" dirty="0">
                          <a:latin typeface="+mn-ea"/>
                          <a:ea typeface="+mn-ea"/>
                        </a:rPr>
                        <a:t>Vue.js 3.5.18 (with TypeScript ~5.1.6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ore-KR" altLang="ko-Kore-KR" sz="1000" dirty="0"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ko-Kore-KR" sz="1000" dirty="0">
                          <a:latin typeface="+mn-ea"/>
                          <a:ea typeface="+mn-ea"/>
                        </a:rPr>
                        <a:t>Composition API / SFC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4363340"/>
                  </a:ext>
                </a:extLst>
              </a:tr>
              <a:tr h="26309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Module &amp; WAS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ko-Kore-KR" sz="1000" dirty="0"/>
                        <a:t>Node ( v2</a:t>
                      </a:r>
                      <a:r>
                        <a:rPr lang="en-US" altLang="ko-Kore-KR" sz="1000" dirty="0"/>
                        <a:t>4</a:t>
                      </a:r>
                      <a:r>
                        <a:rPr lang="ko-Kore-KR" altLang="ko-Kore-KR" sz="1000" dirty="0"/>
                        <a:t> )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24.16</a:t>
                      </a:r>
                      <a:endParaRPr lang="ko-KR" altLang="en-US"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2384485"/>
                  </a:ext>
                </a:extLst>
              </a:tr>
              <a:tr h="26309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지원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OS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ko-Kore-KR" sz="1000" dirty="0"/>
                        <a:t>Windows, macOS, iOS, AOS 등 </a:t>
                      </a:r>
                      <a:r>
                        <a:rPr lang="ko-Kore-KR" altLang="en-US" sz="1000" dirty="0"/>
                        <a:t>모든</a:t>
                      </a:r>
                      <a:r>
                        <a:rPr lang="ko-KR" altLang="en-US" sz="1000" dirty="0"/>
                        <a:t> </a:t>
                      </a:r>
                      <a:r>
                        <a:rPr lang="ko-Kore-KR" altLang="ko-Kore-KR" sz="1000" dirty="0"/>
                        <a:t>브라우저 환경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481260"/>
                  </a:ext>
                </a:extLst>
              </a:tr>
              <a:tr h="31966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지원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Browser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ko-Kore-KR" sz="1000" dirty="0"/>
                        <a:t>Chrome, Edge, Firefox, Safari(macOS/iOS) 최신 계열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ko-Kore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browserslist</a:t>
                      </a:r>
                      <a:r>
                        <a:rPr lang="ko-Kore-KR" altLang="ko-Kore-KR" sz="900" dirty="0"/>
                        <a:t>: last 1 chrome/firefox/safari, (배포) </a:t>
                      </a:r>
                      <a:r>
                        <a:rPr lang="ko-Kore-KR" altLang="ko-Kore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&gt;1%, not dead</a:t>
                      </a:r>
                      <a:r>
                        <a:rPr lang="ko-Kore-KR" altLang="ko-Kore-KR" sz="900" dirty="0"/>
                        <a:t> · IE 미지원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034120"/>
                  </a:ext>
                </a:extLst>
              </a:tr>
              <a:tr h="26309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Framework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Build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ko-Kore-KR" sz="1000" dirty="0"/>
                        <a:t>Vue 3 + Module Federation (Micro-Frontend) / Webpack 5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ko-Kore-KR" sz="900" dirty="0"/>
                        <a:t>앱 이름 </a:t>
                      </a:r>
                      <a:r>
                        <a:rPr lang="ko-Kore-KR" altLang="ko-Kore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advisor_app</a:t>
                      </a:r>
                      <a:r>
                        <a:rPr lang="ko-Kore-KR" altLang="ko-Kore-KR" sz="900" dirty="0"/>
                        <a:t>, </a:t>
                      </a:r>
                      <a:r>
                        <a:rPr lang="ko-Kore-KR" altLang="ko-Kore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remoteEntry.js</a:t>
                      </a:r>
                      <a:r>
                        <a:rPr lang="ko-Kore-KR" altLang="ko-Kore-KR" sz="900" dirty="0"/>
                        <a:t> 노출 (host 앱에 임베드)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106072"/>
                  </a:ext>
                </a:extLst>
              </a:tr>
              <a:tr h="31787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Design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ko-Kore-KR" sz="1000" dirty="0"/>
                        <a:t>기본 SCSS(Sass) + UI-Component(Element Plus 2.9.3, </a:t>
                      </a:r>
                      <a:endParaRPr lang="en-US" altLang="ko-Kore-KR" sz="10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ko-Kore-KR" sz="1000" dirty="0"/>
                        <a:t>자체킷 @timbel-aicc/ecp-ui-kit)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ko-Kore-KR" sz="1000" dirty="0"/>
                        <a:t>보조: Quasar 2.12.6, DevExtreme 21.2.5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438707"/>
                  </a:ext>
                </a:extLst>
              </a:tr>
              <a:tr h="26309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Networking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ore-KR" sz="1000" dirty="0"/>
                        <a:t>Axios (with Socket.IO / WebStomp / SockJS 실시간)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ko-Kore-KR" sz="1000" dirty="0"/>
                        <a:t>REST + WebSocket/STOMP 병행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248892"/>
                  </a:ext>
                </a:extLst>
              </a:tr>
              <a:tr h="26309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State Management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ko-Kore-KR" sz="1000" dirty="0"/>
                        <a:t>Pinia ( with pinia-plugin-persistedstate → Local Storage )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0364961"/>
                  </a:ext>
                </a:extLst>
              </a:tr>
              <a:tr h="26309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Navigation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ko-Kore-KR" sz="1000" dirty="0"/>
                        <a:t>Vue Router 4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3839155"/>
                  </a:ext>
                </a:extLst>
              </a:tr>
              <a:tr h="26309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Multi-Language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Vue-i18n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다국어</a:t>
                      </a:r>
                      <a:r>
                        <a:rPr lang="en-US" altLang="ko-KR" sz="1000" b="1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en" altLang="ko-KR" sz="1000" b="1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ko </a:t>
                      </a:r>
                      <a:r>
                        <a:rPr lang="ko-KR" altLang="en-US" sz="1000" b="1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단일</a:t>
                      </a:r>
                      <a:r>
                        <a:rPr lang="en-US" altLang="ko-KR" sz="1000" b="1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" altLang="ko-KR" sz="1000" b="1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i18n </a:t>
                      </a:r>
                      <a:r>
                        <a:rPr lang="ko-KR" altLang="en-US" sz="1000" b="1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뼈대만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6806429"/>
                  </a:ext>
                </a:extLst>
              </a:tr>
              <a:tr h="26309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PWA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System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000" strike="sngStrik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미적용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707926"/>
                  </a:ext>
                </a:extLst>
              </a:tr>
              <a:tr h="31787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필수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Library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ko-Kore-KR" sz="1000" dirty="0"/>
                        <a:t>vue, vue-router, pinia, axios, element-plus, typescript, @timbel-aicc/ecp-ui-kit 등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0861407"/>
                  </a:ext>
                </a:extLst>
              </a:tr>
              <a:tr h="31787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etc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Library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ko-Kore-KR" sz="1000" dirty="0"/>
                        <a:t>dayjs, vue-i18n, highcharts, exceljs/vue3-xlsx, tiptap, @vue-flow, gojs/drawflow, devextreme, marked, pdfjs-dist, crypto-js 등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ko-Kore-KR" sz="1000" dirty="0"/>
                        <a:t>차트 · 에디터 · 플로우 · 문서변환 등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1279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81137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76D83-82B1-AE12-76AE-7AAE364DF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4CCCAB4-ECA2-6F7B-C49A-EF5E74A7278D}"/>
              </a:ext>
            </a:extLst>
          </p:cNvPr>
          <p:cNvSpPr/>
          <p:nvPr/>
        </p:nvSpPr>
        <p:spPr>
          <a:xfrm>
            <a:off x="83821" y="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 Stack</a:t>
            </a:r>
            <a:endParaRPr lang="en-US" sz="1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827E6B6-5FB0-0E16-A0FF-1384F0183F28}"/>
              </a:ext>
            </a:extLst>
          </p:cNvPr>
          <p:cNvSpPr/>
          <p:nvPr/>
        </p:nvSpPr>
        <p:spPr>
          <a:xfrm flipV="1">
            <a:off x="83821" y="345949"/>
            <a:ext cx="8976358" cy="45719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BD7BF829-7589-133C-604D-E4535B991FEC}"/>
              </a:ext>
            </a:extLst>
          </p:cNvPr>
          <p:cNvSpPr/>
          <p:nvPr/>
        </p:nvSpPr>
        <p:spPr>
          <a:xfrm>
            <a:off x="8396216" y="-6348"/>
            <a:ext cx="6639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45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Timbel</a:t>
            </a:r>
            <a:endParaRPr lang="en-US" sz="1400" dirty="0"/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31432BE2-E212-2820-E946-2BC80FF6D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0648816"/>
              </p:ext>
            </p:extLst>
          </p:nvPr>
        </p:nvGraphicFramePr>
        <p:xfrm>
          <a:off x="148442" y="469644"/>
          <a:ext cx="8713618" cy="37418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5546">
                  <a:extLst>
                    <a:ext uri="{9D8B030D-6E8A-4147-A177-3AD203B41FA5}">
                      <a16:colId xmlns:a16="http://schemas.microsoft.com/office/drawing/2014/main" val="1260535803"/>
                    </a:ext>
                  </a:extLst>
                </a:gridCol>
                <a:gridCol w="3895928">
                  <a:extLst>
                    <a:ext uri="{9D8B030D-6E8A-4147-A177-3AD203B41FA5}">
                      <a16:colId xmlns:a16="http://schemas.microsoft.com/office/drawing/2014/main" val="2752640961"/>
                    </a:ext>
                  </a:extLst>
                </a:gridCol>
                <a:gridCol w="3032144">
                  <a:extLst>
                    <a:ext uri="{9D8B030D-6E8A-4147-A177-3AD203B41FA5}">
                      <a16:colId xmlns:a16="http://schemas.microsoft.com/office/drawing/2014/main" val="1882989443"/>
                    </a:ext>
                  </a:extLst>
                </a:gridCol>
              </a:tblGrid>
              <a:tr h="26309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내용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96347546"/>
                  </a:ext>
                </a:extLst>
              </a:tr>
              <a:tr h="26309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개발언어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Node (v2</a:t>
                      </a:r>
                      <a:r>
                        <a:rPr lang="en-US" altLang="ko-Kore-KR" sz="1000" b="0" dirty="0">
                          <a:latin typeface="+mn-ea"/>
                          <a:ea typeface="+mn-ea"/>
                        </a:rPr>
                        <a:t>4</a:t>
                      </a:r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 이상), TypeScript (v5.8.3</a:t>
                      </a:r>
                      <a:r>
                        <a:rPr lang="en-US" altLang="ko-Kore-KR" sz="1000" b="0" dirty="0">
                          <a:latin typeface="+mn-ea"/>
                          <a:ea typeface="+mn-ea"/>
                        </a:rPr>
                        <a:t>)</a:t>
                      </a:r>
                      <a:endParaRPr lang="ko-Kore-KR" altLang="ko-Kore-KR" sz="1000" b="0" dirty="0"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배포 이미지 </a:t>
                      </a:r>
                      <a:r>
                        <a:rPr lang="ko-Kore-KR" altLang="ko-Kore-KR" sz="10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node:24-alpine</a:t>
                      </a:r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ore-KR" altLang="ko-Kore-KR" sz="10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engines: "&gt;=20"</a:t>
                      </a:r>
                      <a:endParaRPr lang="ko-Kore-KR" altLang="ko-Kore-KR" sz="1000" b="0" dirty="0"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4363340"/>
                  </a:ext>
                </a:extLst>
              </a:tr>
              <a:tr h="26309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Module &amp; WAS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Node (Express 기반)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ko-Kore-KR" sz="10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@nestjs/platform-express</a:t>
                      </a:r>
                      <a:endParaRPr lang="ko-Kore-KR" altLang="ko-Kore-KR" sz="1000" b="0" dirty="0"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2384485"/>
                  </a:ext>
                </a:extLst>
              </a:tr>
              <a:tr h="26309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Framework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Build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NestJS (v11.1)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앱 이름 </a:t>
                      </a:r>
                      <a:r>
                        <a:rPr lang="ko-Kore-KR" altLang="ko-Kore-KR" sz="10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advisor_app</a:t>
                      </a:r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ore-KR" altLang="ko-Kore-KR" sz="10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remoteEntry.js</a:t>
                      </a:r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 노출 (host 앱에 임베드)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106072"/>
                  </a:ext>
                </a:extLst>
              </a:tr>
              <a:tr h="31787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ORM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TypeORM (v0.3.25)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보조: Quasar 2.12.6, DevExtreme 21.2.5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438707"/>
                  </a:ext>
                </a:extLst>
              </a:tr>
              <a:tr h="26309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Networking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axios (v1.11)</a:t>
                      </a:r>
                      <a:endParaRPr lang="ko-Kore-KR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ore-KR" altLang="ko-Kore-KR" sz="1000" b="0" dirty="0"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248892"/>
                  </a:ext>
                </a:extLst>
              </a:tr>
              <a:tr h="26309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Database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PostgreSQL (</a:t>
                      </a:r>
                      <a:r>
                        <a:rPr lang="ko-Kore-KR" altLang="ko-Kore-KR" sz="10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pg</a:t>
                      </a:r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 v8.16), Redis (v4.7)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ore-KR" altLang="ko-Kore-KR" sz="1000" b="0" dirty="0"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0364961"/>
                  </a:ext>
                </a:extLst>
              </a:tr>
              <a:tr h="26309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보안 및 인증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커스텀 AuthMiddleware (</a:t>
                      </a:r>
                      <a:r>
                        <a:rPr lang="ko-Kore-KR" altLang="ko-Kore-KR" sz="10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x-auth-token</a:t>
                      </a:r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 헤더 → 외부 User 서비스 검증)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JWT/passport 미사용, 인증은 게이트웨이·외부 User 서비스에 위임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3839155"/>
                  </a:ext>
                </a:extLst>
              </a:tr>
              <a:tr h="263096">
                <a:tc>
                  <a:txBody>
                    <a:bodyPr/>
                    <a:lstStyle/>
                    <a:p>
                      <a:pPr algn="ctr"/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유효성 검사 및 변환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class-validator (v0.14), class-transformer (v0.5), joi (v17)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전역 ValidationPipe (whitelist + forbidNonWhitelisted)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6806429"/>
                  </a:ext>
                </a:extLst>
              </a:tr>
              <a:tr h="263096">
                <a:tc>
                  <a:txBody>
                    <a:bodyPr/>
                    <a:lstStyle/>
                    <a:p>
                      <a:pPr algn="ctr"/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API 문서화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@nestjs/swagger (v11.2)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000" b="0" strike="sngStrike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707926"/>
                  </a:ext>
                </a:extLst>
              </a:tr>
              <a:tr h="317872">
                <a:tc>
                  <a:txBody>
                    <a:bodyPr/>
                    <a:lstStyle/>
                    <a:p>
                      <a:pPr algn="ctr"/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실시간 통신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Socket.IO (v4.8)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ko-Kore-KR" sz="10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@nestjs/websockets</a:t>
                      </a:r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ore-KR" altLang="ko-Kore-KR" sz="10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@nestjs/platform-socket.io</a:t>
                      </a:r>
                      <a:endParaRPr lang="ko-Kore-KR" altLang="ko-Kore-KR" sz="1000" b="0" dirty="0"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0861407"/>
                  </a:ext>
                </a:extLst>
              </a:tr>
              <a:tr h="3178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관측성(Observability)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OpenTelemetry (</a:t>
                      </a:r>
                      <a:r>
                        <a:rPr lang="ko-Kore-KR" altLang="ko-Kore-KR" sz="10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@opentelemetry/sdk-node</a:t>
                      </a:r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 등)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OTLP HTTP 트레이스 익스포터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507481"/>
                  </a:ext>
                </a:extLst>
              </a:tr>
              <a:tr h="31787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etc</a:t>
                      </a: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Library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uuid (v11), rxjs (v7.8), reflect-metadata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외부 서비스 HTTP 호출·유</a:t>
                      </a:r>
                      <a:r>
                        <a:rPr lang="ko-Kore-KR" altLang="en-US" sz="1000" b="0" dirty="0">
                          <a:latin typeface="+mn-ea"/>
                          <a:ea typeface="+mn-ea"/>
                        </a:rPr>
                        <a:t>틸</a:t>
                      </a:r>
                      <a:endParaRPr lang="ko-Kore-KR" altLang="ko-Kore-KR" sz="1000" b="0" dirty="0"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1279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90809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9C214-68FA-CCF1-2359-993E052CA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3CC0085-1AEF-AF18-4581-C13B485EB376}"/>
              </a:ext>
            </a:extLst>
          </p:cNvPr>
          <p:cNvSpPr/>
          <p:nvPr/>
        </p:nvSpPr>
        <p:spPr>
          <a:xfrm>
            <a:off x="0" y="213360"/>
            <a:ext cx="9144000" cy="5143500"/>
          </a:xfrm>
          <a:prstGeom prst="rect">
            <a:avLst/>
          </a:prstGeom>
          <a:solidFill>
            <a:srgbClr val="181E25"/>
          </a:solidFill>
          <a:ln w="12700">
            <a:solidFill>
              <a:srgbClr val="181E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6BB17D1-EF95-D47D-FFB4-4EE40E64428B}"/>
              </a:ext>
            </a:extLst>
          </p:cNvPr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08218DA-AF63-9A99-E83B-E26AFBD6AA76}"/>
              </a:ext>
            </a:extLst>
          </p:cNvPr>
          <p:cNvSpPr/>
          <p:nvPr/>
        </p:nvSpPr>
        <p:spPr>
          <a:xfrm>
            <a:off x="50292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[Application Stack]</a:t>
            </a:r>
            <a:endParaRPr lang="en-US" sz="1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81E8752-95D1-6E71-E82F-5D63E4A989E6}"/>
              </a:ext>
            </a:extLst>
          </p:cNvPr>
          <p:cNvSpPr/>
          <p:nvPr/>
        </p:nvSpPr>
        <p:spPr>
          <a:xfrm>
            <a:off x="502920" y="17373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2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API Gateway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6567485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59FCC-6D4C-3A5F-ED2E-BFE8F5306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F78507-F84D-FBC9-FF63-5D9E1E375E5D}"/>
              </a:ext>
            </a:extLst>
          </p:cNvPr>
          <p:cNvSpPr/>
          <p:nvPr/>
        </p:nvSpPr>
        <p:spPr>
          <a:xfrm>
            <a:off x="83821" y="0"/>
            <a:ext cx="29846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Stack</a:t>
            </a:r>
            <a:endParaRPr lang="en-US" sz="1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A35BCB3-9755-A5A9-583E-E9B4BFD18496}"/>
              </a:ext>
            </a:extLst>
          </p:cNvPr>
          <p:cNvSpPr/>
          <p:nvPr/>
        </p:nvSpPr>
        <p:spPr>
          <a:xfrm flipV="1">
            <a:off x="83821" y="345949"/>
            <a:ext cx="8976358" cy="45719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FC01EE7B-742E-A6B6-BEB3-672CB92EFA7D}"/>
              </a:ext>
            </a:extLst>
          </p:cNvPr>
          <p:cNvSpPr/>
          <p:nvPr/>
        </p:nvSpPr>
        <p:spPr>
          <a:xfrm>
            <a:off x="8396216" y="-6348"/>
            <a:ext cx="6639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45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Timbel</a:t>
            </a:r>
            <a:endParaRPr lang="en-US" sz="1400" dirty="0"/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ABA7554C-8A92-60A6-B765-D56500FCA694}"/>
              </a:ext>
            </a:extLst>
          </p:cNvPr>
          <p:cNvGraphicFramePr>
            <a:graphicFrameLocks noGrp="1"/>
          </p:cNvGraphicFramePr>
          <p:nvPr/>
        </p:nvGraphicFramePr>
        <p:xfrm>
          <a:off x="148442" y="469644"/>
          <a:ext cx="8713618" cy="37418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5546">
                  <a:extLst>
                    <a:ext uri="{9D8B030D-6E8A-4147-A177-3AD203B41FA5}">
                      <a16:colId xmlns:a16="http://schemas.microsoft.com/office/drawing/2014/main" val="1260535803"/>
                    </a:ext>
                  </a:extLst>
                </a:gridCol>
                <a:gridCol w="3895928">
                  <a:extLst>
                    <a:ext uri="{9D8B030D-6E8A-4147-A177-3AD203B41FA5}">
                      <a16:colId xmlns:a16="http://schemas.microsoft.com/office/drawing/2014/main" val="2752640961"/>
                    </a:ext>
                  </a:extLst>
                </a:gridCol>
                <a:gridCol w="3032144">
                  <a:extLst>
                    <a:ext uri="{9D8B030D-6E8A-4147-A177-3AD203B41FA5}">
                      <a16:colId xmlns:a16="http://schemas.microsoft.com/office/drawing/2014/main" val="1882989443"/>
                    </a:ext>
                  </a:extLst>
                </a:gridCol>
              </a:tblGrid>
              <a:tr h="26309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내용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96347546"/>
                  </a:ext>
                </a:extLst>
              </a:tr>
              <a:tr h="26309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개발언어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Node (v2</a:t>
                      </a:r>
                      <a:r>
                        <a:rPr lang="en-US" altLang="ko-Kore-KR" sz="1000" b="0" dirty="0">
                          <a:latin typeface="+mn-ea"/>
                          <a:ea typeface="+mn-ea"/>
                        </a:rPr>
                        <a:t>4</a:t>
                      </a:r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 이상), TypeScript (v5.8.3</a:t>
                      </a:r>
                      <a:r>
                        <a:rPr lang="en-US" altLang="ko-Kore-KR" sz="1000" b="0" dirty="0">
                          <a:latin typeface="+mn-ea"/>
                          <a:ea typeface="+mn-ea"/>
                        </a:rPr>
                        <a:t>)</a:t>
                      </a:r>
                      <a:endParaRPr lang="ko-Kore-KR" altLang="ko-Kore-KR" sz="1000" b="0" dirty="0"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배포 이미지 </a:t>
                      </a:r>
                      <a:r>
                        <a:rPr lang="ko-Kore-KR" altLang="ko-Kore-KR" sz="10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node:24-alpine</a:t>
                      </a:r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ore-KR" altLang="ko-Kore-KR" sz="10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engines: "&gt;=20"</a:t>
                      </a:r>
                      <a:endParaRPr lang="ko-Kore-KR" altLang="ko-Kore-KR" sz="1000" b="0" dirty="0"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4363340"/>
                  </a:ext>
                </a:extLst>
              </a:tr>
              <a:tr h="26309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Module &amp; WAS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Node (Express 기반)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ko-Kore-KR" sz="10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@nestjs/platform-express</a:t>
                      </a:r>
                      <a:endParaRPr lang="ko-Kore-KR" altLang="ko-Kore-KR" sz="1000" b="0" dirty="0"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2384485"/>
                  </a:ext>
                </a:extLst>
              </a:tr>
              <a:tr h="26309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Framework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Build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NestJS (v11.1)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앱 이름 </a:t>
                      </a:r>
                      <a:r>
                        <a:rPr lang="ko-Kore-KR" altLang="ko-Kore-KR" sz="10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advisor_app</a:t>
                      </a:r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ore-KR" altLang="ko-Kore-KR" sz="10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remoteEntry.js</a:t>
                      </a:r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 노출 (host 앱에 임베드)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106072"/>
                  </a:ext>
                </a:extLst>
              </a:tr>
              <a:tr h="31787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ORM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TypeORM (v0.3.25)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보조: Quasar 2.12.6, DevExtreme 21.2.5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438707"/>
                  </a:ext>
                </a:extLst>
              </a:tr>
              <a:tr h="26309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Networking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axios (v1.11)</a:t>
                      </a:r>
                      <a:endParaRPr lang="ko-Kore-KR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ore-KR" altLang="ko-Kore-KR" sz="1000" b="0" dirty="0"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248892"/>
                  </a:ext>
                </a:extLst>
              </a:tr>
              <a:tr h="26309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Database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PostgreSQL (</a:t>
                      </a:r>
                      <a:r>
                        <a:rPr lang="ko-Kore-KR" altLang="ko-Kore-KR" sz="10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pg</a:t>
                      </a:r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 v8.16), Redis (v4.7)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ore-KR" altLang="ko-Kore-KR" sz="1000" b="0" dirty="0"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0364961"/>
                  </a:ext>
                </a:extLst>
              </a:tr>
              <a:tr h="26309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보안 및 인증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커스텀 AuthMiddleware (</a:t>
                      </a:r>
                      <a:r>
                        <a:rPr lang="ko-Kore-KR" altLang="ko-Kore-KR" sz="10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x-auth-token</a:t>
                      </a:r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 헤더 → 외부 User 서비스 검증)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JWT/passport 미사용, 인증은 게이트웨이·외부 User 서비스에 위임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3839155"/>
                  </a:ext>
                </a:extLst>
              </a:tr>
              <a:tr h="263096">
                <a:tc>
                  <a:txBody>
                    <a:bodyPr/>
                    <a:lstStyle/>
                    <a:p>
                      <a:pPr algn="ctr"/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유효성 검사 및 변환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class-validator (v0.14), class-transformer (v0.5), joi (v17)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전역 ValidationPipe (whitelist + forbidNonWhitelisted)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6806429"/>
                  </a:ext>
                </a:extLst>
              </a:tr>
              <a:tr h="263096">
                <a:tc>
                  <a:txBody>
                    <a:bodyPr/>
                    <a:lstStyle/>
                    <a:p>
                      <a:pPr algn="ctr"/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API 문서화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@nestjs/swagger (v11.2)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000" b="0" strike="sngStrike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707926"/>
                  </a:ext>
                </a:extLst>
              </a:tr>
              <a:tr h="317872">
                <a:tc>
                  <a:txBody>
                    <a:bodyPr/>
                    <a:lstStyle/>
                    <a:p>
                      <a:pPr algn="ctr"/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실시간 통신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Socket.IO (v4.8)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ko-Kore-KR" sz="10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@nestjs/websockets</a:t>
                      </a:r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ore-KR" altLang="ko-Kore-KR" sz="10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@nestjs/platform-socket.io</a:t>
                      </a:r>
                      <a:endParaRPr lang="ko-Kore-KR" altLang="ko-Kore-KR" sz="1000" b="0" dirty="0"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0861407"/>
                  </a:ext>
                </a:extLst>
              </a:tr>
              <a:tr h="3178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관측성(Observability)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OpenTelemetry (</a:t>
                      </a:r>
                      <a:r>
                        <a:rPr lang="ko-Kore-KR" altLang="ko-Kore-KR" sz="10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@opentelemetry/sdk-node</a:t>
                      </a:r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 등)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OTLP HTTP 트레이스 익스포터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507481"/>
                  </a:ext>
                </a:extLst>
              </a:tr>
              <a:tr h="31787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etc</a:t>
                      </a: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Library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uuid (v11), rxjs (v7.8), reflect-metadata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ko-Kore-KR" sz="1000" b="0" dirty="0">
                          <a:latin typeface="+mn-ea"/>
                          <a:ea typeface="+mn-ea"/>
                        </a:rPr>
                        <a:t>외부 서비스 HTTP 호출·유</a:t>
                      </a:r>
                      <a:r>
                        <a:rPr lang="ko-Kore-KR" altLang="en-US" sz="1000" b="0" dirty="0">
                          <a:latin typeface="+mn-ea"/>
                          <a:ea typeface="+mn-ea"/>
                        </a:rPr>
                        <a:t>틸</a:t>
                      </a:r>
                      <a:endParaRPr lang="ko-Kore-KR" altLang="ko-Kore-KR" sz="1000" b="0" dirty="0"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1279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4935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05252"/>
        </a:solidFill>
        <a:ln w="12700">
          <a:solidFill>
            <a:srgbClr val="E05252"/>
          </a:solidFill>
          <a:prstDash val="solid"/>
        </a:ln>
      </a:spPr>
      <a:bodyPr anchor="ctr"/>
      <a:lstStyle>
        <a:defPPr algn="ctr">
          <a:defRPr sz="1000" dirty="0">
            <a:solidFill>
              <a:schemeClr val="bg1"/>
            </a:solidFill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2171</TotalTime>
  <Words>3725</Words>
  <Application>Microsoft Macintosh PowerPoint</Application>
  <PresentationFormat>화면 슬라이드 쇼(16:9)</PresentationFormat>
  <Paragraphs>564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노성남</cp:lastModifiedBy>
  <cp:revision>30</cp:revision>
  <dcterms:created xsi:type="dcterms:W3CDTF">2026-07-16T13:43:16Z</dcterms:created>
  <dcterms:modified xsi:type="dcterms:W3CDTF">2026-07-22T00:53:27Z</dcterms:modified>
</cp:coreProperties>
</file>