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19" r:id="rId2"/>
    <p:sldId id="318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9"/>
    <p:restoredTop sz="96245"/>
  </p:normalViewPr>
  <p:slideViewPr>
    <p:cSldViewPr snapToGrid="0" snapToObjects="1">
      <p:cViewPr varScale="1">
        <p:scale>
          <a:sx n="170" d="100"/>
          <a:sy n="170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4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타이틀(표지)">
    <p:bg>
      <p:bgPr>
        <a:solidFill>
          <a:srgbClr val="18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" descr="gra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32" cy="5143721"/>
          </a:xfrm>
          <a:prstGeom prst="rect">
            <a:avLst/>
          </a:prstGeom>
        </p:spPr>
      </p:pic>
      <p:sp>
        <p:nvSpPr>
          <p:cNvPr id="3" name="section_tag"/>
          <p:cNvSpPr/>
          <p:nvPr/>
        </p:nvSpPr>
        <p:spPr>
          <a:xfrm>
            <a:off x="106682" y="83830"/>
            <a:ext cx="3750066" cy="20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885" b="1" kern="0" dirty="0" err="1">
                <a:solidFill>
                  <a:srgbClr val="CFE0FF"/>
                </a:solidFill>
                <a:latin typeface="Calibri" pitchFamily="34" charset="0"/>
                <a:cs typeface="Calibri" pitchFamily="34" charset="-120"/>
              </a:rPr>
              <a:t>Timbel</a:t>
            </a:r>
            <a:r>
              <a:rPr lang="ko-KR" altLang="en-US" sz="885" b="1" kern="0" dirty="0">
                <a:solidFill>
                  <a:srgbClr val="CFE0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ko-KR" sz="885" b="1" kern="0" dirty="0">
                <a:solidFill>
                  <a:srgbClr val="CFE0FF"/>
                </a:solidFill>
                <a:latin typeface="Calibri" pitchFamily="34" charset="0"/>
                <a:cs typeface="Calibri" pitchFamily="34" charset="-120"/>
              </a:rPr>
              <a:t>AICC</a:t>
            </a:r>
            <a:r>
              <a:rPr lang="ko-KR" altLang="en-US" sz="885" b="1" kern="0" dirty="0">
                <a:solidFill>
                  <a:srgbClr val="CFE0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ko-KR" sz="885" b="1" kern="0" dirty="0">
                <a:solidFill>
                  <a:srgbClr val="CFE0FF"/>
                </a:solidFill>
                <a:latin typeface="Calibri" pitchFamily="34" charset="0"/>
                <a:cs typeface="Calibri" pitchFamily="34" charset="-120"/>
              </a:rPr>
              <a:t>Portal</a:t>
            </a:r>
            <a:endParaRPr lang="ko-KR" altLang="en-US" sz="748" dirty="0"/>
          </a:p>
        </p:txBody>
      </p:sp>
      <p:pic>
        <p:nvPicPr>
          <p:cNvPr id="4" name="logo_w" descr="timbel_logo_rea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21" y="91456"/>
            <a:ext cx="659257" cy="219465"/>
          </a:xfrm>
          <a:prstGeom prst="rect">
            <a:avLst/>
          </a:prstGeom>
        </p:spPr>
      </p:pic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50" y="1575068"/>
            <a:ext cx="8024000" cy="787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>
              <a:buNone/>
              <a:defRPr/>
            </a:lvl1pPr>
          </a:lstStyle>
          <a:p>
            <a:pPr marL="0" indent="0" algn="l">
              <a:buNone/>
            </a:pPr>
            <a:r>
              <a:rPr lang="ko-KR" altLang="en-US" sz="3402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제목을 입력하세요</a:t>
            </a:r>
            <a:endParaRPr lang="ko-KR" altLang="en-US" sz="748" dirty="0"/>
          </a:p>
        </p:txBody>
      </p:sp>
      <p:sp>
        <p:nvSpPr>
          <p:cNvPr id="7" name="subtitle"/>
          <p:cNvSpPr>
            <a:spLocks noGrp="1"/>
          </p:cNvSpPr>
          <p:nvPr>
            <p:ph type="subTitle" idx="1"/>
          </p:nvPr>
        </p:nvSpPr>
        <p:spPr>
          <a:xfrm>
            <a:off x="571510" y="2285961"/>
            <a:ext cx="7886838" cy="4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>
              <a:lnSpc>
                <a:spcPct val="150000"/>
              </a:lnSpc>
              <a:buNone/>
              <a:defRPr/>
            </a:lvl1pPr>
          </a:lstStyle>
          <a:p>
            <a:pPr marL="0" indent="0" algn="l">
              <a:lnSpc>
                <a:spcPct val="150000"/>
              </a:lnSpc>
              <a:buNone/>
            </a:pPr>
            <a:r>
              <a:rPr lang="ko-KR" altLang="en-US" sz="987" kern="0" dirty="0">
                <a:solidFill>
                  <a:srgbClr val="CFE0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부제목을 입력하세요</a:t>
            </a:r>
            <a:endParaRPr lang="ko-KR" altLang="en-US" sz="748" dirty="0"/>
          </a:p>
        </p:txBody>
      </p:sp>
    </p:spTree>
    <p:extLst>
      <p:ext uri="{BB962C8B-B14F-4D97-AF65-F5344CB8AC3E}">
        <p14:creationId xmlns:p14="http://schemas.microsoft.com/office/powerpoint/2010/main" val="41358167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(반복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timbel_log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449" y="77676"/>
            <a:ext cx="561583" cy="186950"/>
          </a:xfrm>
          <a:prstGeom prst="rect">
            <a:avLst/>
          </a:prstGeom>
        </p:spPr>
      </p:pic>
      <p:sp>
        <p:nvSpPr>
          <p:cNvPr id="200" name="footer_r"/>
          <p:cNvSpPr/>
          <p:nvPr/>
        </p:nvSpPr>
        <p:spPr>
          <a:xfrm>
            <a:off x="7720161" y="4894411"/>
            <a:ext cx="1337871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612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 | AI Modeling Solution</a:t>
            </a:r>
            <a:endParaRPr lang="ko-KR" altLang="en-US" sz="748" dirty="0"/>
          </a:p>
        </p:txBody>
      </p:sp>
      <p:cxnSp>
        <p:nvCxnSpPr>
          <p:cNvPr id="8" name="직선 연결선[R] 7"/>
          <p:cNvCxnSpPr/>
          <p:nvPr/>
        </p:nvCxnSpPr>
        <p:spPr>
          <a:xfrm>
            <a:off x="43064" y="340982"/>
            <a:ext cx="905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ction_label"/>
          <p:cNvSpPr>
            <a:spLocks noGrp="1"/>
          </p:cNvSpPr>
          <p:nvPr>
            <p:ph type="title"/>
          </p:nvPr>
        </p:nvSpPr>
        <p:spPr>
          <a:xfrm>
            <a:off x="86128" y="74271"/>
            <a:ext cx="6000105" cy="20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>
              <a:buNone/>
              <a:defRPr/>
            </a:lvl1pPr>
          </a:lstStyle>
          <a:p>
            <a:pPr marL="0" indent="0" algn="l">
              <a:buNone/>
            </a:pPr>
            <a:r>
              <a:rPr lang="ko-KR" altLang="en-US" sz="816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제목</a:t>
            </a:r>
            <a:endParaRPr lang="ko-KR" altLang="en-US" sz="748" dirty="0"/>
          </a:p>
        </p:txBody>
      </p:sp>
      <p:sp>
        <p:nvSpPr>
          <p:cNvPr id="9" name="page_number"/>
          <p:cNvSpPr>
            <a:spLocks noGrp="1"/>
          </p:cNvSpPr>
          <p:nvPr>
            <p:ph type="sldNum" sz="quarter" idx="4294967295"/>
          </p:nvPr>
        </p:nvSpPr>
        <p:spPr>
          <a:xfrm>
            <a:off x="86128" y="4894411"/>
            <a:ext cx="675012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fld id="{1B3D67FA-0D7C-4EF6-8410-D34DC02501CE}" type="slidenum">
              <a:rPr lang="en-US" altLang="ko-KR" sz="612" kern="0" smtClean="0">
                <a:solidFill>
                  <a:srgbClr val="8E8E93"/>
                </a:solidFill>
                <a:ea typeface="Calibri" pitchFamily="34" charset="-122"/>
                <a:cs typeface="Calibri" pitchFamily="34" charset="-120"/>
              </a:rPr>
              <a:pPr/>
              <a:t>‹#›</a:t>
            </a:fld>
            <a:endParaRPr lang="ko-KR" altLang="en-US" sz="612" dirty="0">
              <a:solidFill>
                <a:srgbClr val="8E8E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9850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900" b="1" i="0">
                <a:solidFill>
                  <a:srgbClr val="8E8E93"/>
                </a:solidFill>
                <a:latin typeface="Calibri"/>
              </a:rPr>
              <a:t>RDBMS ·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Calibri"/>
              </a:rPr>
              <a:t>RDBMS vs NoSQL — MariaDB &amp;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94944"/>
            <a:ext cx="8503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>
                <a:solidFill>
                  <a:srgbClr val="8E8E93"/>
                </a:solidFill>
                <a:latin typeface="Calibri"/>
              </a:rPr>
              <a:t>택일이 아니라 분담 — 성격이 다른 두 데이터를 나눠 쓰는 폴리글랏 퍼시스턴스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755740"/>
              </p:ext>
            </p:extLst>
          </p:nvPr>
        </p:nvGraphicFramePr>
        <p:xfrm>
          <a:off x="320040" y="1005840"/>
          <a:ext cx="8503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구분</a:t>
                      </a:r>
                    </a:p>
                  </a:txBody>
                  <a:tcPr marL="1016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RDBMS · MariaDB</a:t>
                      </a:r>
                    </a:p>
                  </a:txBody>
                  <a:tcPr marL="101600" marT="38100" marB="381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NoSQL · MongoDB</a:t>
                      </a:r>
                    </a:p>
                  </a:txBody>
                  <a:tcPr marL="101600" marT="38100" marB="381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주된 목적 / 계열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정합성이 요구사항인 데이터 · MySQL 포크 오픈소스 RDBMS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형태·규모가 계속 변하는 데이터 · 문서지향 NoSQL 표준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데이터 모델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테이블 + 외래키 관계 (Row)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문서 / 키-값 / 컬럼 / 그래프 (BSON Document)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스키마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사전 정의 필수 · ALTER TABLE 비용 발생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유연 · 필드 추가만 하면 끝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정합성 / 트랜잭션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ACID 강한 일관성 · 트랜잭션 기본 제공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BASE 결과적 일관성 · 4.0+ 트랜잭션 지원 (레플리카셋 전제)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확장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수직 확장 (Scale-Up)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수평 확장 (Scale-Out)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강점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참조 무결성 · 트랜잭션 · 뷰(View)</a:t>
                      </a: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중첩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구조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·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대용량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문서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·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샤딩</a:t>
                      </a:r>
                      <a:r>
                        <a:rPr lang="en-US" altLang="ko-KR"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(</a:t>
                      </a:r>
                      <a:r>
                        <a:rPr lang="en-US" altLang="ko-KR" sz="950" b="0" i="0" dirty="0">
                          <a:solidFill>
                            <a:srgbClr val="333333"/>
                          </a:solidFill>
                          <a:latin typeface="+mn-lt"/>
                        </a:rPr>
                        <a:t>mongos)</a:t>
                      </a:r>
                      <a:endParaRPr sz="950" b="0" i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101600" marT="38100" marB="38100"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1F3864"/>
                          </a:solidFill>
                          <a:latin typeface="Calibri"/>
                        </a:rPr>
                        <a:t>적합 영역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3333"/>
                          </a:solidFill>
                          <a:latin typeface="Calibri"/>
                        </a:rPr>
                        <a:t>결제·권한·재고·집계 → 회원·권한·공유·통계</a:t>
                      </a: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콘텐츠·로그·캐시·이벤트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→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전사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결과·AI</a:t>
                      </a:r>
                      <a:r>
                        <a:rPr sz="950" b="0" i="0" dirty="0">
                          <a:solidFill>
                            <a:srgbClr val="333333"/>
                          </a:solidFill>
                          <a:latin typeface="Calibri"/>
                        </a:rPr>
                        <a:t> </a:t>
                      </a:r>
                      <a:r>
                        <a:rPr sz="950" b="0" i="0" dirty="0" err="1">
                          <a:solidFill>
                            <a:srgbClr val="333333"/>
                          </a:solidFill>
                          <a:latin typeface="Calibri"/>
                        </a:rPr>
                        <a:t>요약·노트</a:t>
                      </a:r>
                      <a:endParaRPr sz="950" b="0" i="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41985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4472C4"/>
                </a:solidFill>
                <a:latin typeface="Calibri"/>
              </a:rPr>
              <a:t>RDBMS 대표 제품 4종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3611880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MariaDB / MySQL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오픈소스 · 웹/커머스 표준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8024" y="3611880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PostgreSQL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오픈소스 · 고급 SQL, 확장성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3611880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Oracle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엔터프라이즈 · 대규모 트랜잭션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93992" y="3611880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SQL Server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MS 생태계 · 엔터프라이즈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42232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i="0">
                <a:solidFill>
                  <a:srgbClr val="4472C4"/>
                </a:solidFill>
                <a:latin typeface="Calibri"/>
              </a:rPr>
              <a:t>NoSQL 주요 모델 4종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334256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문서(Document)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MongoDB — 콘텐츠, 프로필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8024" y="4334256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키-값(Key-Value)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Redis, DynamoDB — 캐시, 세션, 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4334256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컬럼(Wide-Column)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Cassandra, HBase — 시계열, 로그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4334256"/>
            <a:ext cx="2029968" cy="384048"/>
          </a:xfrm>
          <a:prstGeom prst="roundRect">
            <a:avLst>
              <a:gd name="adj" fmla="val 14000"/>
            </a:avLst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3864"/>
                </a:solidFill>
                <a:latin typeface="Calibri"/>
              </a:rPr>
              <a:t>그래프(Graph)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700" b="0" i="0">
                <a:solidFill>
                  <a:srgbClr val="8E8E93"/>
                </a:solidFill>
                <a:latin typeface="Calibri"/>
              </a:rPr>
              <a:t>Neo4j — 관계 추천, 경로 탐색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900" b="1" i="0">
                <a:solidFill>
                  <a:srgbClr val="8E8E93"/>
                </a:solidFill>
                <a:latin typeface="Calibri"/>
              </a:rPr>
              <a:t>RDBMS · NoSQL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>
                <a:solidFill>
                  <a:srgbClr val="1F3864"/>
                </a:solidFill>
                <a:latin typeface="Calibri"/>
              </a:rPr>
              <a:t>Timblo AI 회의록 적용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94944"/>
            <a:ext cx="85039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1" dirty="0">
                <a:solidFill>
                  <a:srgbClr val="8E8E93"/>
                </a:solidFill>
                <a:latin typeface="Calibri"/>
              </a:rPr>
              <a:t>Prisma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하나로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두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DB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동시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사용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—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호출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8E8E93"/>
                </a:solidFill>
                <a:latin typeface="Calibri"/>
              </a:rPr>
              <a:t>비중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MariaDB </a:t>
            </a:r>
            <a:r>
              <a:rPr lang="en-US" altLang="ko-KR" sz="1000" b="0" i="1" dirty="0">
                <a:solidFill>
                  <a:srgbClr val="8E8E93"/>
                </a:solidFill>
                <a:latin typeface="Calibri"/>
              </a:rPr>
              <a:t>78%</a:t>
            </a:r>
            <a:r>
              <a:rPr sz="1000" b="0" i="1" dirty="0">
                <a:solidFill>
                  <a:srgbClr val="8E8E93"/>
                </a:solidFill>
                <a:latin typeface="Calibri"/>
              </a:rPr>
              <a:t> : MongoDB </a:t>
            </a:r>
            <a:r>
              <a:rPr lang="en-US" altLang="ko-KR" sz="1000" i="1" dirty="0">
                <a:solidFill>
                  <a:srgbClr val="8E8E93"/>
                </a:solidFill>
                <a:latin typeface="Calibri"/>
              </a:rPr>
              <a:t>22%</a:t>
            </a:r>
            <a:endParaRPr sz="1000" b="0" i="1" dirty="0">
              <a:solidFill>
                <a:srgbClr val="8E8E93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0040" y="987552"/>
            <a:ext cx="8503920" cy="237744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Service → Model (BaseDatabase)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4160520" cy="237744"/>
          </a:xfrm>
          <a:prstGeom prst="roundRect">
            <a:avLst>
              <a:gd name="adj" fmla="val 22000"/>
            </a:avLst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50" b="1" i="0" dirty="0" err="1">
                <a:solidFill>
                  <a:srgbClr val="1F3864"/>
                </a:solidFill>
                <a:latin typeface="Calibri"/>
              </a:rPr>
              <a:t>mariaDB</a:t>
            </a:r>
            <a:endParaRPr sz="950" b="1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63440" y="1280160"/>
            <a:ext cx="4160520" cy="237744"/>
          </a:xfrm>
          <a:prstGeom prst="roundRect">
            <a:avLst>
              <a:gd name="adj" fmla="val 22000"/>
            </a:avLst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950" b="1" i="0" dirty="0" err="1">
                <a:solidFill>
                  <a:srgbClr val="2E7D32"/>
                </a:solidFill>
                <a:latin typeface="Calibri"/>
              </a:rPr>
              <a:t>mongoDB</a:t>
            </a:r>
            <a:endParaRPr sz="95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1545336"/>
            <a:ext cx="8503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8E8E93"/>
                </a:solidFill>
                <a:latin typeface="Calibri"/>
              </a:rPr>
              <a:t>공용 키 · contentId 로 두 DB를 연결 (FK 아닌 앱이 보증)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83080"/>
            <a:ext cx="40919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 i="0">
                <a:solidFill>
                  <a:srgbClr val="4472C4"/>
                </a:solidFill>
                <a:latin typeface="Calibri"/>
              </a:rPr>
              <a:t>MariaDB — 관계와 권한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02535"/>
            <a:ext cx="4091940" cy="1175005"/>
          </a:xfrm>
          <a:prstGeom prst="rect">
            <a:avLst/>
          </a:prstGeom>
          <a:solidFill>
            <a:srgbClr val="EEF2FA"/>
          </a:solidFill>
          <a:ln w="9525">
            <a:solidFill>
              <a:srgbClr val="C9D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 dirty="0">
                <a:solidFill>
                  <a:srgbClr val="1F3864"/>
                </a:solidFill>
                <a:latin typeface="Calibri"/>
              </a:rPr>
              <a:t>content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회의록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메타데이터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 dirty="0" err="1">
                <a:solidFill>
                  <a:srgbClr val="1F3864"/>
                </a:solidFill>
                <a:latin typeface="Calibri"/>
              </a:rPr>
              <a:t>contentShareUser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공유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대상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 dirty="0">
                <a:solidFill>
                  <a:srgbClr val="1F3864"/>
                </a:solidFill>
                <a:latin typeface="Calibri"/>
              </a:rPr>
              <a:t>member / workspace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조직·권한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 dirty="0">
                <a:solidFill>
                  <a:srgbClr val="1F3864"/>
                </a:solidFill>
                <a:latin typeface="Calibri"/>
              </a:rPr>
              <a:t>memo / contact / folder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 i="0" dirty="0" err="1">
                <a:solidFill>
                  <a:srgbClr val="333333"/>
                </a:solidFill>
                <a:latin typeface="Calibri"/>
              </a:rPr>
              <a:t>통계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·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로그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· STT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사전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32020" y="1783080"/>
            <a:ext cx="40919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 i="0">
                <a:solidFill>
                  <a:srgbClr val="4472C4"/>
                </a:solidFill>
                <a:latin typeface="Calibri"/>
              </a:rPr>
              <a:t>MongoDB — 가변 구조 본문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2020" y="2002536"/>
            <a:ext cx="4091940" cy="1175004"/>
          </a:xfrm>
          <a:prstGeom prst="rect">
            <a:avLst/>
          </a:prstGeom>
          <a:solidFill>
            <a:srgbClr val="EEF6EF"/>
          </a:solidFill>
          <a:ln w="9525">
            <a:solidFill>
              <a:srgbClr val="BE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transcribeResult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STT 전사 + AI 요약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file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미디어 정보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note / noteRevision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노트와 버전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highlight / bookmarks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1F3864"/>
                </a:solidFill>
                <a:latin typeface="Calibri"/>
              </a:rPr>
              <a:t>template</a:t>
            </a:r>
            <a:r>
              <a:rPr sz="1000" b="0" i="0">
                <a:solidFill>
                  <a:srgbClr val="333333"/>
                </a:solidFill>
                <a:latin typeface="Calibri"/>
              </a:rPr>
              <a:t> — 요약 템플릿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337560"/>
            <a:ext cx="8503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50" b="1" i="0" dirty="0" err="1">
                <a:solidFill>
                  <a:srgbClr val="4472C4"/>
                </a:solidFill>
                <a:latin typeface="Calibri"/>
              </a:rPr>
              <a:t>두</a:t>
            </a:r>
            <a:r>
              <a:rPr sz="950" b="1" i="0" dirty="0">
                <a:solidFill>
                  <a:srgbClr val="4472C4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4472C4"/>
                </a:solidFill>
                <a:latin typeface="Calibri"/>
              </a:rPr>
              <a:t>DB를</a:t>
            </a:r>
            <a:r>
              <a:rPr sz="950" b="1" i="0" dirty="0">
                <a:solidFill>
                  <a:srgbClr val="4472C4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4472C4"/>
                </a:solidFill>
                <a:latin typeface="Calibri"/>
              </a:rPr>
              <a:t>잇는</a:t>
            </a:r>
            <a:r>
              <a:rPr sz="950" b="1" i="0" dirty="0">
                <a:solidFill>
                  <a:srgbClr val="4472C4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4472C4"/>
                </a:solidFill>
                <a:latin typeface="Calibri"/>
              </a:rPr>
              <a:t>지점</a:t>
            </a:r>
            <a:r>
              <a:rPr sz="950" b="1" i="0" dirty="0">
                <a:solidFill>
                  <a:srgbClr val="4472C4"/>
                </a:solidFill>
                <a:latin typeface="Calibri"/>
              </a:rPr>
              <a:t>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47872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b="0" i="0" dirty="0">
                <a:solidFill>
                  <a:srgbClr val="4472C4"/>
                </a:solidFill>
                <a:latin typeface="Calibri"/>
              </a:rPr>
              <a:t>• 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공용</a:t>
            </a:r>
            <a:r>
              <a:rPr sz="85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키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contentId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로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연결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(FK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아닌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앱이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보증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b="0" i="0" dirty="0">
                <a:solidFill>
                  <a:srgbClr val="4472C4"/>
                </a:solidFill>
                <a:latin typeface="Calibri"/>
              </a:rPr>
              <a:t>• 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동시</a:t>
            </a:r>
            <a:r>
              <a:rPr sz="85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생성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회의록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1건 = MariaDB content + MongoDB file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b="0" i="0" dirty="0">
                <a:solidFill>
                  <a:srgbClr val="4472C4"/>
                </a:solidFill>
                <a:latin typeface="Calibri"/>
              </a:rPr>
              <a:t>• 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병렬</a:t>
            </a:r>
            <a:r>
              <a:rPr sz="85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조회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Promise.all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로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두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DB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동시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조회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후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앱에서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조합</a:t>
            </a:r>
            <a:endParaRPr sz="850" b="0" i="0" dirty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b="0" i="0" dirty="0">
                <a:solidFill>
                  <a:srgbClr val="4472C4"/>
                </a:solidFill>
                <a:latin typeface="Calibri"/>
              </a:rPr>
              <a:t>• 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응답</a:t>
            </a:r>
            <a:r>
              <a:rPr sz="85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조립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본문은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MongoDB, meta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는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MariaDB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b="0" i="0" dirty="0">
                <a:solidFill>
                  <a:srgbClr val="4472C4"/>
                </a:solidFill>
                <a:latin typeface="Calibri"/>
              </a:rPr>
              <a:t>• 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단계별</a:t>
            </a:r>
            <a:r>
              <a:rPr sz="85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850" b="1" i="0" dirty="0" err="1">
                <a:solidFill>
                  <a:srgbClr val="1F3864"/>
                </a:solidFill>
                <a:latin typeface="Calibri"/>
              </a:rPr>
              <a:t>검색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내용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검색은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MongoDB → </a:t>
            </a:r>
            <a:r>
              <a:rPr sz="850" b="0" i="0" dirty="0" err="1">
                <a:solidFill>
                  <a:srgbClr val="333333"/>
                </a:solidFill>
                <a:latin typeface="Calibri"/>
              </a:rPr>
              <a:t>권한·페이징은</a:t>
            </a:r>
            <a:r>
              <a:rPr sz="850" b="0" i="0" dirty="0">
                <a:solidFill>
                  <a:srgbClr val="333333"/>
                </a:solidFill>
                <a:latin typeface="Calibri"/>
              </a:rPr>
              <a:t> MariaDB (2단계)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617720"/>
            <a:ext cx="85039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1" dirty="0">
                <a:solidFill>
                  <a:srgbClr val="8E8E93"/>
                </a:solidFill>
                <a:latin typeface="Calibri"/>
              </a:rPr>
              <a:t>※ Redis(</a:t>
            </a:r>
            <a:r>
              <a:rPr sz="850" b="0" i="1" dirty="0" err="1">
                <a:solidFill>
                  <a:srgbClr val="8E8E93"/>
                </a:solidFill>
                <a:latin typeface="Calibri"/>
              </a:rPr>
              <a:t>캐시</a:t>
            </a:r>
            <a:r>
              <a:rPr sz="850" b="0" i="1" dirty="0">
                <a:solidFill>
                  <a:srgbClr val="8E8E93"/>
                </a:solidFill>
                <a:latin typeface="Calibri"/>
              </a:rPr>
              <a:t> ·  </a:t>
            </a:r>
            <a:r>
              <a:rPr sz="850" b="0" i="1" dirty="0" err="1">
                <a:solidFill>
                  <a:srgbClr val="8E8E93"/>
                </a:solidFill>
                <a:latin typeface="Calibri"/>
              </a:rPr>
              <a:t>큐</a:t>
            </a:r>
            <a:r>
              <a:rPr sz="850" b="0" i="1" dirty="0">
                <a:solidFill>
                  <a:srgbClr val="8E8E93"/>
                </a:solidFill>
                <a:latin typeface="Calibri"/>
              </a:rPr>
              <a:t>) </a:t>
            </a:r>
            <a:r>
              <a:rPr sz="850" b="0" i="1" dirty="0" err="1">
                <a:solidFill>
                  <a:srgbClr val="8E8E93"/>
                </a:solidFill>
                <a:latin typeface="Calibri"/>
              </a:rPr>
              <a:t>포함</a:t>
            </a:r>
            <a:r>
              <a:rPr sz="850" b="0" i="1" dirty="0">
                <a:solidFill>
                  <a:srgbClr val="8E8E93"/>
                </a:solidFill>
                <a:latin typeface="Calibri"/>
              </a:rPr>
              <a:t> → </a:t>
            </a:r>
            <a:r>
              <a:rPr sz="850" b="0" i="1" dirty="0" err="1">
                <a:solidFill>
                  <a:srgbClr val="8E8E93"/>
                </a:solidFill>
                <a:latin typeface="Calibri"/>
              </a:rPr>
              <a:t>실제로는</a:t>
            </a:r>
            <a:r>
              <a:rPr sz="850" b="0" i="1" dirty="0">
                <a:solidFill>
                  <a:srgbClr val="8E8E93"/>
                </a:solidFill>
                <a:latin typeface="Calibri"/>
              </a:rPr>
              <a:t> 3계층 </a:t>
            </a:r>
            <a:r>
              <a:rPr sz="850" b="0" i="1" dirty="0" err="1">
                <a:solidFill>
                  <a:srgbClr val="8E8E93"/>
                </a:solidFill>
                <a:latin typeface="Calibri"/>
              </a:rPr>
              <a:t>저장소</a:t>
            </a:r>
            <a:endParaRPr sz="850" b="0" i="1" dirty="0">
              <a:solidFill>
                <a:srgbClr val="8E8E93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5252"/>
        </a:solidFill>
        <a:ln w="12700">
          <a:solidFill>
            <a:srgbClr val="E05252"/>
          </a:solidFill>
          <a:prstDash val="solid"/>
        </a:ln>
      </a:spPr>
      <a:bodyPr anchor="ctr"/>
      <a:lstStyle>
        <a:defPPr algn="ctr">
          <a:defRPr sz="1000" dirty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3032</TotalTime>
  <Words>448</Words>
  <Application>Microsoft Macintosh PowerPoint</Application>
  <PresentationFormat>화면 슬라이드 쇼(16:9)</PresentationFormat>
  <Paragraphs>71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RDBMS · NoSQL</vt:lpstr>
      <vt:lpstr>RDBMS · NoSQL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노 성남</cp:lastModifiedBy>
  <cp:revision>50</cp:revision>
  <dcterms:created xsi:type="dcterms:W3CDTF">2026-07-16T13:43:16Z</dcterms:created>
  <dcterms:modified xsi:type="dcterms:W3CDTF">2026-08-22T06:49:48Z</dcterms:modified>
</cp:coreProperties>
</file>