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56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SK하이닉스 AI 회의록 운영 배포 시나리오 보고. 배포일 2026년 9월 10일 목요일 12시부터 17시까지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구성 11개 장 + 부록.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개요. 업무시간 중 진행되므로 관련 부서 스탠바이가 필요함.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아키텍처 기준 이번 배포 대상 구성. 회색은 변경 없는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변경 사항 상세는 담당자 확인 후 보완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7단계 배포 절차. 각 단계 상세 체크리스트는 별도 엑셀 파일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5시간 목표. 백업 90분이 가장 큰 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서비스 영향에 대한 고객사 우려 해소를 위한 슬라이드.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백업 필요성 및 롤백과 신규 배포의 분리 구조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롤백 결정 시한 17시. 롤백 착수 시 18시 정상화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 검증 통과 후에만 앱 HMP를 오픈함.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 대응 및 완료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향후 개선 로드맵. 1차 배포 이후 단계적 고도화 계획.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 - 운영 모니터링 도구 도입 현황.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725" y="3886201"/>
            <a:ext cx="5771774" cy="2935223"/>
          </a:xfrm>
          <a:prstGeom prst="roundRect">
            <a:avLst>
              <a:gd name="adj" fmla="val 6579"/>
            </a:avLst>
          </a:prstGeom>
          <a:solidFill>
            <a:srgbClr val="065A82">
              <a:alpha val="45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595360" y="120580"/>
            <a:ext cx="3482759" cy="3537020"/>
          </a:xfrm>
          <a:prstGeom prst="roundRect">
            <a:avLst>
              <a:gd name="adj" fmla="val 8065"/>
            </a:avLst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FC6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 |  AI 회의록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서비스 배포 시나리오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10일 (목)  12:00 ~ 17:00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926080" cy="18288"/>
          </a:xfrm>
          <a:prstGeom prst="rect">
            <a:avLst/>
          </a:prstGeom>
          <a:solidFill>
            <a:srgbClr val="5C7B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    노성남 수석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작성사    주식회사 팀벨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B9C6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보고일    2026. 09.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20640" y="475488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120640" y="4754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43891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6766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시스템 · 일시 · 참여 인원 · 목표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969264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120640" y="9692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93268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 및 배포 대상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1704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아키텍처 중 배포 대상 · 비대상 구분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46304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120640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4264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변경 사항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16642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· DB 마이그레이션 · 환경 설정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956816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120640" y="195681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92024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1579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 배포 프로세스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2450592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5120640" y="245059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241401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타임라인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6517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 ~ 17:00 단계별 소요 시간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944368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5120640" y="294436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290779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 영향 최소화 방안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31455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무결성 · 사전 검증 · 회귀 점검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438144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120640" y="343814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34015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안전장치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36393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필요성 · 복원 3요소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931920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5120640" y="393192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806440" y="38953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계획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41330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 · 절차 · 소요 시간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4425696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120640" y="442569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806440" y="43891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46268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· 모니터링 점검 항목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0640" y="4919472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5120640" y="491947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806440" y="488289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806440" y="51206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 대응 방안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5413248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5120640" y="541324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806440" y="53766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방향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806440" y="56144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배포 반영 목표 · 중장기 과제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20640" y="5907024"/>
            <a:ext cx="438912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120640" y="590702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806440" y="587044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모니터링 체계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806440" y="610819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Kuma · Dozzle · Grafana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개요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회의록 신규 버전을 운영 환경에 반영하기 위한 배포 계획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시간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작업 시간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 ~ 17:00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개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대상 서비스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3 · 백엔드 7 · DB 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481328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1627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명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참여 인원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· 서버 · 운영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시스템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063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(모바일 앱 / 웹 서비스 / 백엔드 API / 데이터베이스)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환경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3520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사내망 온프레미스 · Docker Compose 기반 운영 (DB 제외 단일 VM)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22960" y="3977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39776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중단 (중단 구간 점검 안내 페이지 노출)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434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인원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4348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담당 1명 · 서버 담당 1명 · 운영 담당 1명 (11:30 스탠바이)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solidFill>
            <a:srgbClr val="F7FAF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822960" y="4892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목표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48920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및 DB 마이그레이션 반영 후 17:00 정상 서비스 재개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349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결정 시한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5349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(롤백 시 약 1시간 소요, 18:00 정상화)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 및 배포 대상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배포 대상은 FE · API Gateway · BE Domain · 데이터베이스이며, 그 외 구간은 변경되지 않습니다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48132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(Client)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57400" y="1481328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112264" y="155448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User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12264" y="1728216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접속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260848" y="1481328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315712" y="155448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Device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315712" y="1728216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앱 (iOS / AOS)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464296" y="1481328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519160" y="155448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Application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519160" y="1728216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· 예정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08483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08483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/ HA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084832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112264" y="2157984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DMZ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112264" y="233172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구간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260848" y="2084832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315712" y="2157984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 스위치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315712" y="233172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 Proxy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464296" y="2084832"/>
            <a:ext cx="3057144" cy="512064"/>
          </a:xfrm>
          <a:prstGeom prst="roundRect">
            <a:avLst>
              <a:gd name="adj" fmla="val 10714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8519160" y="2157984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519160" y="2331720"/>
            <a:ext cx="2947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리버스 프록시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2688336"/>
            <a:ext cx="274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2688336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· Gateway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57400" y="2688336"/>
            <a:ext cx="463143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9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48840" y="2706624"/>
            <a:ext cx="4448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Domain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67128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221992" y="2944368"/>
            <a:ext cx="1263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서버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86556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3741420" y="2944368"/>
            <a:ext cx="1263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사이트 (회의록)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05984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5260848" y="2944368"/>
            <a:ext cx="1263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사이트 (BackOffice)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90004" y="2688336"/>
            <a:ext cx="4631436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C9D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6981444" y="2706624"/>
            <a:ext cx="4448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99732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7054596" y="2944368"/>
            <a:ext cx="1263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SCG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19160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574024" y="2944368"/>
            <a:ext cx="12633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SCG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038588" y="2944368"/>
            <a:ext cx="1373124" cy="566928"/>
          </a:xfrm>
          <a:prstGeom prst="roundRect">
            <a:avLst>
              <a:gd name="adj" fmla="val 967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0093452" y="3017520"/>
            <a:ext cx="1263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Consul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093452" y="3246120"/>
            <a:ext cx="1263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디스커버리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365760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96112" y="365760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Domain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57400" y="3657600"/>
            <a:ext cx="1775765" cy="585216"/>
          </a:xfrm>
          <a:prstGeom prst="roundRect">
            <a:avLst>
              <a:gd name="adj" fmla="val 9375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 txBox="1"/>
          <p:nvPr/>
        </p:nvSpPr>
        <p:spPr>
          <a:xfrm>
            <a:off x="2112264" y="3657600"/>
            <a:ext cx="1666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API Server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979469" y="3657600"/>
            <a:ext cx="1775765" cy="585216"/>
          </a:xfrm>
          <a:prstGeom prst="roundRect">
            <a:avLst>
              <a:gd name="adj" fmla="val 9375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4034333" y="3657600"/>
            <a:ext cx="1666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API Server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901538" y="3657600"/>
            <a:ext cx="1775765" cy="585216"/>
          </a:xfrm>
          <a:prstGeom prst="roundRect">
            <a:avLst>
              <a:gd name="adj" fmla="val 9375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5956402" y="3657600"/>
            <a:ext cx="1666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Notify API Server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823606" y="3657600"/>
            <a:ext cx="1775765" cy="585216"/>
          </a:xfrm>
          <a:prstGeom prst="roundRect">
            <a:avLst>
              <a:gd name="adj" fmla="val 9375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 txBox="1"/>
          <p:nvPr/>
        </p:nvSpPr>
        <p:spPr>
          <a:xfrm>
            <a:off x="7878470" y="3657600"/>
            <a:ext cx="1666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API Server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745675" y="3657600"/>
            <a:ext cx="1775765" cy="585216"/>
          </a:xfrm>
          <a:prstGeom prst="roundRect">
            <a:avLst>
              <a:gd name="adj" fmla="val 9375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800539" y="3657600"/>
            <a:ext cx="166603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API Server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4352544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96112" y="435254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 · 외부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057400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 txBox="1"/>
          <p:nvPr/>
        </p:nvSpPr>
        <p:spPr>
          <a:xfrm>
            <a:off x="2112264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2112264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 (Kraft)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656076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 txBox="1"/>
          <p:nvPr/>
        </p:nvSpPr>
        <p:spPr>
          <a:xfrm>
            <a:off x="3710940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 · Email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3710940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채널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254752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 txBox="1"/>
          <p:nvPr/>
        </p:nvSpPr>
        <p:spPr>
          <a:xfrm>
            <a:off x="5309616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309616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853428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 txBox="1"/>
          <p:nvPr/>
        </p:nvSpPr>
        <p:spPr>
          <a:xfrm>
            <a:off x="6908292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6908292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스토리지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452104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 txBox="1"/>
          <p:nvPr/>
        </p:nvSpPr>
        <p:spPr>
          <a:xfrm>
            <a:off x="8506968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7A2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HAIV Engine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8506968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EB8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전사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050780" y="4352544"/>
            <a:ext cx="1470660" cy="640080"/>
          </a:xfrm>
          <a:prstGeom prst="roundRect">
            <a:avLst>
              <a:gd name="adj" fmla="val 8571"/>
            </a:avLst>
          </a:prstGeom>
          <a:solidFill>
            <a:srgbClr val="E9F3EE"/>
          </a:solidFill>
          <a:ln w="19050">
            <a:solidFill>
              <a:srgbClr val="4E8C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 txBox="1"/>
          <p:nvPr/>
        </p:nvSpPr>
        <p:spPr>
          <a:xfrm>
            <a:off x="10105644" y="4425696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B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0105644" y="4727448"/>
            <a:ext cx="1360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9E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관리 · 선반영 완료</a:t>
            </a:r>
            <a:endParaRPr lang="en-US" sz="750" dirty="0"/>
          </a:p>
        </p:txBody>
      </p:sp>
      <p:sp>
        <p:nvSpPr>
          <p:cNvPr id="79" name="Text 77"/>
          <p:cNvSpPr txBox="1"/>
          <p:nvPr/>
        </p:nvSpPr>
        <p:spPr>
          <a:xfrm>
            <a:off x="640080" y="5102352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C0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896112" y="510235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99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계층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057400" y="5102352"/>
            <a:ext cx="2242566" cy="640080"/>
          </a:xfrm>
          <a:prstGeom prst="roundRect">
            <a:avLst>
              <a:gd name="adj" fmla="val 8571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2112264" y="5175504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(Master)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2112264" y="5477256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마이그레이션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464558" y="5102352"/>
            <a:ext cx="2242566" cy="640080"/>
          </a:xfrm>
          <a:prstGeom prst="roundRect">
            <a:avLst>
              <a:gd name="adj" fmla="val 8571"/>
            </a:avLst>
          </a:prstGeom>
          <a:solidFill>
            <a:srgbClr val="FDF6EA"/>
          </a:solidFill>
          <a:ln w="15875">
            <a:solidFill>
              <a:srgbClr val="E087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4519422" y="5175504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(Slave)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519422" y="5477256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8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복제로 자동 반영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871716" y="5102352"/>
            <a:ext cx="2242566" cy="640080"/>
          </a:xfrm>
          <a:prstGeom prst="roundRect">
            <a:avLst>
              <a:gd name="adj" fmla="val 8571"/>
            </a:avLst>
          </a:prstGeom>
          <a:solidFill>
            <a:srgbClr val="FDF6EA"/>
          </a:solidFill>
          <a:ln w="15875">
            <a:solidFill>
              <a:srgbClr val="E087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 txBox="1"/>
          <p:nvPr/>
        </p:nvSpPr>
        <p:spPr>
          <a:xfrm>
            <a:off x="6926580" y="5175504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6926580" y="5477256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8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백업만 수행 · 변경 없음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278874" y="5102352"/>
            <a:ext cx="2242566" cy="640080"/>
          </a:xfrm>
          <a:prstGeom prst="roundRect">
            <a:avLst>
              <a:gd name="adj" fmla="val 8571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 txBox="1"/>
          <p:nvPr/>
        </p:nvSpPr>
        <p:spPr>
          <a:xfrm>
            <a:off x="9333738" y="5175504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A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Prisma (ORM)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9333738" y="5477256"/>
            <a:ext cx="21328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서버에 포함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40080" y="5888736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E3EEF6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 txBox="1"/>
          <p:nvPr/>
        </p:nvSpPr>
        <p:spPr>
          <a:xfrm>
            <a:off x="1005840" y="5833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배포 대상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5888736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E9F3EE"/>
          </a:solidFill>
          <a:ln w="19050">
            <a:solidFill>
              <a:srgbClr val="4E8C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 txBox="1"/>
          <p:nvPr/>
        </p:nvSpPr>
        <p:spPr>
          <a:xfrm>
            <a:off x="3200400" y="5833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선반영 완료 (SKT 관리)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760720" y="5888736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FDF6EA"/>
          </a:solidFill>
          <a:ln w="15875">
            <a:solidFill>
              <a:srgbClr val="E087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 txBox="1"/>
          <p:nvPr/>
        </p:nvSpPr>
        <p:spPr>
          <a:xfrm>
            <a:off x="6126480" y="58338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· 복제 반영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229600" y="5888736"/>
            <a:ext cx="292608" cy="201168"/>
          </a:xfrm>
          <a:prstGeom prst="roundRect">
            <a:avLst>
              <a:gd name="adj" fmla="val 22727"/>
            </a:avLst>
          </a:prstGeom>
          <a:solidFill>
            <a:srgbClr val="F2F4F6"/>
          </a:solidFill>
          <a:ln w="12700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 txBox="1"/>
          <p:nvPr/>
        </p:nvSpPr>
        <p:spPr>
          <a:xfrm>
            <a:off x="8595360" y="5833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640080" y="6163056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LLM 은 운영 · 개발 공용 자원으로 SKT 측에서 관리하며, 이번 배포 내용은 사전에 반영이 완료되었습니다.    · 그 외 회색 구간(네트워크 · 메시징 · 캐시 · 외부 연동)은 변경하지 않습니다.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범위 및 변경 사항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추가 중심의 업데이트이며, 데이터베이스 스키마 변경은 소규모입니다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및 개선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59536" y="2103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템플릿 기능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3225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목적별 템플릿을 제공하여 회의록 작성 편의성 향상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59536" y="30723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59536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99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로그 기능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291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사용자 행위에 대한 감시 로그 기록 및 조회 기능 추가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59536" y="404164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59536" y="4041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968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보관 폴더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261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 폴더 단위로 분류·보관할 수 있는 기능 추가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80974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59536" y="501091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59536" y="5010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937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속도 개선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5230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및 처리 성능 개선을 통한 응답 속도 향상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변경 사항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0" y="1901952"/>
            <a:ext cx="4480560" cy="1133856"/>
          </a:xfrm>
          <a:prstGeom prst="roundRect">
            <a:avLst>
              <a:gd name="adj" fmla="val 6452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296912" y="20482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스키마 변경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2322576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· 컬럼 추가 위주의 소규모 변경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에만 적용 후 복제로 Slave 반영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40880" y="3163824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7296912" y="331012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96912" y="358444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변경 없음 (데이터 백업만 수행)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4133088"/>
            <a:ext cx="4480560" cy="841248"/>
          </a:xfrm>
          <a:prstGeom prst="roundRect">
            <a:avLst>
              <a:gd name="adj" fmla="val 8696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7296912" y="427939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환경설정(.env)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296912" y="455371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 기준으로 설정값 변경 후 반영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40880" y="5102352"/>
            <a:ext cx="4480560" cy="1133856"/>
          </a:xfrm>
          <a:prstGeom prst="roundRect">
            <a:avLst>
              <a:gd name="adj" fmla="val 6452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7296912" y="524865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296912" y="5522976"/>
            <a:ext cx="3968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신버전 스토어 등록 완료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배포·검증 완료 후 HMP 오픈 → 강제 업데이트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절차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중단부터 완료 보고까지 7단계로 진행합니다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6384" y="16733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86384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15727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157276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안내 페이지 전환 → 웹·백엔드 컨테이너 중단 → DB 복제(Replication) 중단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3113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86384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86384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2231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백업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69080" y="223113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Master 전체 덤프 백업 (롤백 기준점) · MongoDB 데이터 백업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8950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86384" y="29900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86384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28895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마이그레이션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69080" y="288950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Master 에만 마이그레이션 스크립트 실행 · 스키마 반영 확인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86384" y="36484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86384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35478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서비스 배포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354787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환경설정(.env) 반영 → 백엔드 7개 → 웹 프론트엔드 3개 순차 기동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86384" y="430682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786384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가동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069080" y="420624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재개 및 Master-Slave 동기화 · 데이터 정합성 확인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86460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86384" y="496519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86384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353312" y="4864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서비스 점검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069080" y="486460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QA → 1차 Go/No-Go 판단 → 앱 HMP 오픈 → 앱 QA · 모니터링 확인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522976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86384" y="56235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786384" y="5623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353312" y="55229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완료 보고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069080" y="552297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안내 페이지 해제 · 서비스 정상화 확인 후 완료 보고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타임라인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10일 (목) 11:30 스탠바이 ~ 17:00 완료 보고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448908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128868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4323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254283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99738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379698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25154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505114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50569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630529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75985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755945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201400" y="1783080"/>
            <a:ext cx="9144" cy="3977640"/>
          </a:xfrm>
          <a:prstGeom prst="rect">
            <a:avLst/>
          </a:prstGeom>
          <a:solidFill>
            <a:srgbClr val="E4EBF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088136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18:00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점검 · 스탠바이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86200" y="1901952"/>
            <a:ext cx="562708" cy="292608"/>
          </a:xfrm>
          <a:prstGeom prst="roundRect">
            <a:avLst>
              <a:gd name="adj" fmla="val 31250"/>
            </a:avLst>
          </a:prstGeom>
          <a:solidFill>
            <a:srgbClr val="9FB3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522060" y="19019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2814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908" y="2299716"/>
            <a:ext cx="281354" cy="292608"/>
          </a:xfrm>
          <a:prstGeom prst="roundRect">
            <a:avLst>
              <a:gd name="adj" fmla="val 325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4803414" y="22997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679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백업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30262" y="2697480"/>
            <a:ext cx="1688123" cy="292608"/>
          </a:xfrm>
          <a:prstGeom prst="roundRect">
            <a:avLst>
              <a:gd name="adj" fmla="val 3125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491537" y="2697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90분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0769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마이그레이션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18385" y="3095244"/>
            <a:ext cx="562708" cy="292608"/>
          </a:xfrm>
          <a:prstGeom prst="roundRect">
            <a:avLst>
              <a:gd name="adj" fmla="val 3125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054244" y="30952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474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서비스 배포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81092" y="3493008"/>
            <a:ext cx="844062" cy="292608"/>
          </a:xfrm>
          <a:prstGeom prst="roundRect">
            <a:avLst>
              <a:gd name="adj" fmla="val 3125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898306" y="34930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45분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8724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복제 재개 · 확인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25154" y="3890772"/>
            <a:ext cx="371387" cy="292608"/>
          </a:xfrm>
          <a:prstGeom prst="roundRect">
            <a:avLst>
              <a:gd name="adj" fmla="val 3125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8269693" y="38907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270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QA 점검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96541" y="4288536"/>
            <a:ext cx="1125415" cy="292608"/>
          </a:xfrm>
          <a:prstGeom prst="roundRect">
            <a:avLst>
              <a:gd name="adj" fmla="val 31250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395108" y="42885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6680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HMP 오픈 · 앱 QA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321956" y="4686300"/>
            <a:ext cx="562708" cy="292608"/>
          </a:xfrm>
          <a:prstGeom prst="roundRect">
            <a:avLst>
              <a:gd name="adj" fmla="val 31250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957816" y="46863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0657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안정화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884664" y="5084064"/>
            <a:ext cx="191321" cy="292608"/>
          </a:xfrm>
          <a:prstGeom prst="roundRect">
            <a:avLst>
              <a:gd name="adj" fmla="val 47794"/>
            </a:avLst>
          </a:prstGeom>
          <a:solidFill>
            <a:srgbClr val="9FB3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10149137" y="50840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4635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(필요 시)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75985" y="5481828"/>
            <a:ext cx="1125415" cy="292608"/>
          </a:xfrm>
          <a:prstGeom prst="roundRect">
            <a:avLst>
              <a:gd name="adj" fmla="val 31250"/>
            </a:avLst>
          </a:prstGeom>
          <a:solidFill>
            <a:srgbClr val="E08700">
              <a:alpha val="55000"/>
            </a:srgbClr>
          </a:solidFill>
          <a:ln w="12700">
            <a:solidFill>
              <a:srgbClr val="E0870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11274552" y="54818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075985" y="1783080"/>
            <a:ext cx="18288" cy="3977640"/>
          </a:xfrm>
          <a:prstGeom prst="rect">
            <a:avLst/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7927145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 완료 보고 / 롤백 결정 시한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백업 소요 시간은 데이터 용량에 따라 변동될 수 있으며, 지연 시 후속 단계 시각을 순연합니다.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 영향 최소화 방안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 반영이 기존 서비스 및 기존 데이터에 영향을 주지 않도록 다음과 같이 관리합니다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17904"/>
            <a:ext cx="5280660" cy="1691640"/>
          </a:xfrm>
          <a:prstGeom prst="roundRect">
            <a:avLst>
              <a:gd name="adj" fmla="val 43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7824" y="17190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7782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1700784"/>
            <a:ext cx="4274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데이터 무결성 확보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176272"/>
            <a:ext cx="4732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스키마 변경은 테이블 · 컬럼 추가 위주로, 기존 컬럼의 삭제 · 타입 변경 없음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컬럼은 기본값 또는 NULL 허용으로 추가되어 기존 로직에 영향 없음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기존 회의록 데이터는 변형되지 않으며 그대로 유지됨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0780" y="1517904"/>
            <a:ext cx="5280660" cy="1691640"/>
          </a:xfrm>
          <a:prstGeom prst="roundRect">
            <a:avLst>
              <a:gd name="adj" fmla="val 43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78524" y="17190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7852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90588" y="1700784"/>
            <a:ext cx="4274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사전 검증 완료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2176272"/>
            <a:ext cx="4732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신규 기능 및 기존 기능 전체를 개발 환경에서 테스트 완료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마이그레이션 스크립트를 사전 검증 후 확정 (운영에 동일 스크립트 적용)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적용 순서 및 예상 소요 시간 사전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465576"/>
            <a:ext cx="5280660" cy="1691640"/>
          </a:xfrm>
          <a:prstGeom prst="roundRect">
            <a:avLst>
              <a:gd name="adj" fmla="val 43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77824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77824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3648456"/>
            <a:ext cx="4274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회귀(Regression) 점검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23944"/>
            <a:ext cx="4732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QA 항목에 신규 기능뿐 아니라 기존 기능 점검을 포함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기존 회의록 목록 · 상세 조회로 마이그레이션 결과 직접 검증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메뉴 순차 점검으로 기존 화면 이상 유무 확인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0780" y="3465576"/>
            <a:ext cx="5280660" cy="1691640"/>
          </a:xfrm>
          <a:prstGeom prst="roundRect">
            <a:avLst>
              <a:gd name="adj" fmla="val 43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78524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78524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90588" y="3648456"/>
            <a:ext cx="4274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 시 즉시 복구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15100" y="4123944"/>
            <a:ext cx="47320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배포 전 상태(애플리케이션 · 설정 · 데이터)를 모두 별도 보관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17:00 까지 롤백 결정 시 약 1시간 내 배포 전 상태로 복구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앱은 HMP 클로즈로 강제 업데이트 즉시 차단 가능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41324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14400" y="54132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541324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버전은 기존 자산을 덮어쓰지 않고 별도로 기동되며, 배포 전 상태는 그대로 보관됩니다. 따라서 롤백 시 신규 배포 내용과 섞이지 않고 배포 전과 동일한 상태로 복구됩니다.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안전장치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마이그레이션은 애플리케이션만으로 되돌릴 수 없으므로, 배포 전 백업이 반드시 선행되어야 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백업이 필요한 이유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59536" y="21579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59536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299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기준점 확보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04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마이그레이션으로 변경된 스키마는 애플리케이션을 이전 버전으로 되돌려도 복구되지 않습니다. 중단 시점의 덤프가 롤백의 전제 조건입니다.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59536" y="3182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59536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540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이중화는 백업이 아님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284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의 변경은 복제를 통해 Slave 로 그대로 전파되므로, 이중화 구성만으로는 데이터 보존이 보장되지 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50208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59536" y="42062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5953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중 예외 상황 대비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525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스크립트가 예상과 다르게 동작하거나 작업 중 장애가 발생하는 경우, 복원할 원본 데이터가 필요합니다.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7433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59536" y="52303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59536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102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원인 분석 기준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3766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이슈 발생 시 배포 전 데이터와 비교하여 원인을 분석할 수 있습니다.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4813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상태 보관 (복원 3요소)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03720" y="1901952"/>
            <a:ext cx="461772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141464" y="201168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141464" y="224942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버전 이미지 보관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41464" y="2523744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이미지는 별도로 기동되며 이전 버전 이미지는 삭제하지 않고 그대로 보관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03720" y="3072384"/>
            <a:ext cx="461772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141464" y="318211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141464" y="341985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.env 파일 백업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41464" y="3694176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설정 변경 전 기존 파일을 백업하여 설정 단위로도 복구 가능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4242816"/>
            <a:ext cx="461772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141464" y="4352544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141464" y="459028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덤프 + 복제 중단 Slave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141464" y="4864608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 시점 Master 전체 덤프와, 복제를 중단해 마이그레이션 이전 상태로 동결된 Slave DB 를 이중으로 확보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6035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914400" y="603504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모두 배포 전 상태로 보관되므로, 롤백 시 신규 배포 내용이 혼재되지 않고 배포 직전과 동일한 상태로 복구됩니다.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계획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17:00까지 정상화가 어려운 경우 즉시 롤백하여 기존 서비스로 복구합니다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판단 기준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01952"/>
            <a:ext cx="5303520" cy="585216"/>
          </a:xfrm>
          <a:prstGeom prst="roundRect">
            <a:avLst>
              <a:gd name="adj" fmla="val 12500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22960" y="204825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190195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마이그레이션 실패 또는 데이터 정합성 이상 발생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15184"/>
            <a:ext cx="5303520" cy="585216"/>
          </a:xfrm>
          <a:prstGeom prst="roundRect">
            <a:avLst>
              <a:gd name="adj" fmla="val 12500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27614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261518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회의록 생성 등 핵심 기능의 정상 동작 불가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28416"/>
            <a:ext cx="5303520" cy="585216"/>
          </a:xfrm>
          <a:prstGeom prst="roundRect">
            <a:avLst>
              <a:gd name="adj" fmla="val 12500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4747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229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332841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17:00까지 서비스 정상화가 완료되지 않은 경우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5303520" cy="585216"/>
          </a:xfrm>
          <a:prstGeom prst="roundRect">
            <a:avLst>
              <a:gd name="adj" fmla="val 12500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418795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87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243584" y="404164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불가능한 장애로 담당자가 롤백을 결정한 경우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롤백 절차 및 소요 시간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95681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40080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190195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버전 컨테이너 전체 중지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60820" y="2286000"/>
            <a:ext cx="9144" cy="164592"/>
          </a:xfrm>
          <a:prstGeom prst="rect">
            <a:avLst/>
          </a:prstGeom>
          <a:solidFill>
            <a:srgbClr val="C3CE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00800" y="250545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40080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245059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버전 이미지로 백엔드 · 프론트엔드 재기동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60820" y="2834640"/>
            <a:ext cx="9144" cy="164592"/>
          </a:xfrm>
          <a:prstGeom prst="rect">
            <a:avLst/>
          </a:prstGeom>
          <a:solidFill>
            <a:srgbClr val="C3CE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400800" y="305409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6400800" y="3054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76288" y="299923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Master 를 백업 덤프로 복원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60820" y="3383280"/>
            <a:ext cx="9144" cy="164592"/>
          </a:xfrm>
          <a:prstGeom prst="rect">
            <a:avLst/>
          </a:prstGeom>
          <a:solidFill>
            <a:srgbClr val="C3CE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400800" y="360273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6400800" y="3602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876288" y="354787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Master-Slave 복제 재구성 및 동기화 확인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60820" y="3931920"/>
            <a:ext cx="9144" cy="164592"/>
          </a:xfrm>
          <a:prstGeom prst="rect">
            <a:avLst/>
          </a:prstGeom>
          <a:solidFill>
            <a:srgbClr val="C3CED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400800" y="415137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40080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876288" y="4096512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점검 후 서비스 정상화 · 결과 보고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47548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6656832" y="4882896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656832" y="5157216"/>
            <a:ext cx="46085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시작 시점에 복제를 중단하므로, Slave DB는 마이그레이션 이전 상태를 그대로 유지합니다. 덤프 복원이 지연될 경우 Slave 데이터를 활용한 복구가 가능합니다.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7548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DF6E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896112" y="4882896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7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롤백 소요 시간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96112" y="5157216"/>
            <a:ext cx="4791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1시간 (실작업 30분 + 예비 30분) 소요 예상이며, 17:00 롤백 결정 시 18:00 서비스 정상화를 목표로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검증 (QA)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기능과 함께 기존 기능의 정상 동작 여부를 함께 점검합니다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2548890" cy="32004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1536192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· 인증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9728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 로그인 정상 동작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28437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97280" y="272491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서버 연동 확인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4655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97280" y="334670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· 권한 처리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7570" y="1536192"/>
            <a:ext cx="2548890" cy="32004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1757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00450" y="1536192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0045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387477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기능 회귀 점검 (전체 메뉴)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00450" y="28437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3874770" y="272491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회의록 조회 (데이터 검증)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00450" y="34655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874770" y="334670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생성 · 템플릿 · 보관 폴더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00450" y="40873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3874770" y="3968496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사이트 기능 점검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5060" y="1536192"/>
            <a:ext cx="2548890" cy="32004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19506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6377940" y="1536192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7794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65226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로그인 (강제 업데이트 확인)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77940" y="28437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652260" y="272491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녹음 기능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77940" y="34655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6652260" y="334670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녹음 파일 업로드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77940" y="408736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6652260" y="3968496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 · Android 각각 확인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72550" y="1536192"/>
            <a:ext cx="2548890" cy="32004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972550" y="1536192"/>
            <a:ext cx="2548890" cy="475488"/>
          </a:xfrm>
          <a:prstGeom prst="roundRect">
            <a:avLst>
              <a:gd name="adj" fmla="val 15385"/>
            </a:avLst>
          </a:prstGeom>
          <a:solidFill>
            <a:srgbClr val="3E8FA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155430" y="1536192"/>
            <a:ext cx="2183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55430" y="2221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9429750" y="2103120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서버 지표 확인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55430" y="28437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429750" y="2724912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Dozzle 컨테이너 로그 오류 확인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55430" y="34655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DF3F7"/>
          </a:solidFill>
          <a:ln w="12700">
            <a:solidFill>
              <a:srgbClr val="B9CB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9429750" y="3346704"/>
            <a:ext cx="19088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로그 정상 기록 확인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0080" y="495604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14400" y="4956048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순서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2240280" y="4956048"/>
            <a:ext cx="9006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 QA (15:20~16:20)  →  1차 Go / No-Go 판단  →  앱 HMP 오픈 (16:20)  →  앱 QA  →  모니터링 안정화  →  최종 완료 보고 (17:00)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완료 기준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리스크에 대한 사전 대응 방안과 배포 완료 판단 기준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08813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41248" y="1536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리스크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1536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방안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1993392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993392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소요 시간이 예상(90분)을 초과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199339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MongoDB는 파일 단위 백업으로 단축 · 지연 시 후속 시각 순연 및 롤백 시한 재검토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1248" y="2560320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2560320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실패 또는 정합성 이상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56032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Slave 는 이전 상태 유지 · 즉시 롤백 판단 후 덤프 복원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27248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41248" y="3127248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78608" y="3127248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복제(Replication) 재개 실패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 단독 운영으로 서비스 재개 후 별도 시간에 Slave 재구성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41248" y="369417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578608" y="3694176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시간 중단에 따른 사용자 문의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27648" y="36941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공지 및 중단 구간 점검 안내 페이지 노출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261104"/>
            <a:ext cx="10881360" cy="566928"/>
          </a:xfrm>
          <a:prstGeom prst="rect">
            <a:avLst/>
          </a:prstGeom>
          <a:solidFill>
            <a:srgbClr val="F7FAFC"/>
          </a:solidFill>
          <a:ln w="12700">
            <a:solidFill>
              <a:srgbClr val="E7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41248" y="4261104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578608" y="4261104"/>
            <a:ext cx="3419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업데이트 후 앱 오류 발생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426110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검증 완료 후 HMP 오픈 · 이상 시 HMP 클로즈로 즉시 차단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완료 기준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008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89611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전 항목 통과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앱 · 관리자 점검 항목 이상 없음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459943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정상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9943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동기화 정상 · 컨테이너 오류 로그 없음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46720" y="5532120"/>
            <a:ext cx="347472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8302752" y="560527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재개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58795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페이지 해제 및 사용자 접속 정상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방향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배포 이후 배포 절차를 단계적으로 고도화하여 서비스 중단 시간을 지속적으로 단축하겠습니다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운영 배포 반영 목표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9B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SHORT TERM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41248" y="22037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41248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112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소요 시간 단축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백업 방식(xtrabackup 등) 또는 사전 백업 + 증분 확보 방식을 검토하여 중단 시간 축소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1248" y="306324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4124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롤백 스크립트화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명령을 표준 스크립트로 전환하여 실행 오류를 줄이고 작업 시간 단축 (사전 검증 후 적용)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41248" y="39227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41248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3831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버전 명시 관리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353312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롤백 대상 버전(이미지 태그)을 문서에 기록하여 복구 대상을 명확히 관리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590288"/>
            <a:ext cx="5852160" cy="768096"/>
          </a:xfrm>
          <a:prstGeom prst="roundRect">
            <a:avLst>
              <a:gd name="adj" fmla="val 9524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41248" y="47823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41248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4690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정량적 판단 기준 수립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49560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지표 기반 임계치(오류율 · 응답시간)를 사전 정의하여 Go / No-Go 판단을 객관화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14630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 개선 과제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173736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A9B7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 / LONG TERM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2011680"/>
            <a:ext cx="470916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7050024" y="213969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배포 체계 도입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242316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 · 구 버전을 병행 기동한 뒤 전환하는 방식(Blue-Green)을 적용하고, 데이터베이스는 하위 호환 스키마 설계로 대응합니다.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12280" y="3163824"/>
            <a:ext cx="470916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050024" y="329184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리허설 정례화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050024" y="357530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운영과 동일한 조건의 배포 리허설을 정규 절차에 포함하여 실제 소요 시간과 위험 요소를 사전에 확인합니다.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4315968"/>
            <a:ext cx="4709160" cy="1060704"/>
          </a:xfrm>
          <a:prstGeom prst="roundRect">
            <a:avLst>
              <a:gd name="adj" fmla="val 6897"/>
            </a:avLst>
          </a:prstGeom>
          <a:solidFill>
            <a:srgbClr val="F1F7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7050024" y="444398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파이프라인 연계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050024" y="4727448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형상관리 및 이미지 저장소를 활용한 배포 자동화를 단계적으로 적용합니다.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541264"/>
            <a:ext cx="10881360" cy="786384"/>
          </a:xfrm>
          <a:prstGeom prst="roundRect">
            <a:avLst>
              <a:gd name="adj" fmla="val 9302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914400" y="5541264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시간 단축 목표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5614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(2026.09)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5870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5시간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15000" y="5852160"/>
            <a:ext cx="256032" cy="182880"/>
          </a:xfrm>
          <a:prstGeom prst="rightArrow">
            <a:avLst/>
          </a:prstGeom>
          <a:solidFill>
            <a:srgbClr val="A9BC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6263640" y="5614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목표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5870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이내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95360" y="5852160"/>
            <a:ext cx="256032" cy="182880"/>
          </a:xfrm>
          <a:prstGeom prst="rightArrow">
            <a:avLst/>
          </a:prstGeom>
          <a:solidFill>
            <a:srgbClr val="A9BCC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144000" y="5614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 목표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5870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전환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[부록] 운영 모니터링 체계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5097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상태를 화면으로 상시 확인할 수 있는 모니터링 환경을 구성하였습니다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607040" y="3840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6E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4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AI 회의록 운영 배포 시나리오  |  팀벨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4447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배경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444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기존에는 서버에 직접 접속하여 콘솔에서 로그를 확인하는 방식으로 장애 원인 파악에 시간이 소요되었으며, 서비스 이상 여부를 사용자 문의를 통해 인지하는 구조였습니다.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개선하기 위해 화면 기반 모니터링 환경을 구성하였으며, 세 도구 모두 컨테이너 기반으로 별도 인프라 증설 없이 운영되어 서비스에 미치는 부하는 없습니다.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47472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2286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Kuma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2860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도입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85292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03580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API · 데이터베이스가 정상 응답하는지 주기적으로 자동 점검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511296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370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45537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중단 여부를 화면에서 즉시 확인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시 서비스 복구 시점 확인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694176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HTTP · 포트 · DB 접속 감시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응답 시간 및 가동률 기록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점검 일정(Maintenance) 등록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2286000"/>
            <a:ext cx="347472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343400" y="228600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544568" y="2286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Dozzle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22860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도입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285292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303580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컨테이너 로그를 서버 접속 없이 한 화면에서 확인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3511296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370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45537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발생 시 원인 로그 즉시 확인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시 각 서비스 기동 로그 확인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44568" y="3694176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컨테이너별 실시간 로그 확인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특정 시점 조회 및 키워드 검색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다중 컨테이너 동시 확인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2286000"/>
            <a:ext cx="3474720" cy="2798064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046720" y="228600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8247888" y="2286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228600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5DC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 운영 중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285292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247888" y="3035808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및 컨테이너의 자원 사용 현황을 시계열로 확인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3511296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247888" y="437083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247888" y="4553712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전후 자원 사용 추이 비교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이상 징후 확인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247888" y="3694176"/>
            <a:ext cx="3072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CPU · 메모리 · 디스크 사용량 추이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특정 기간 비교 조회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대시보드 기반 통합 조회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" y="523036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EAF2F7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640080" y="5230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 Kuma 는 「되는가」,  Dozzle 은 「왜 그런가」,  Grafana 는 「얼마나 쓰고 있는가」 를 확인합니다.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5888736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841248" y="5888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평상시 운영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240280" y="588873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가동 상태 상시 확인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43400" y="5888736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4544568" y="5888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점검 시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0" y="588873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 순서와 복구 시점 확인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46720" y="5888736"/>
            <a:ext cx="3474720" cy="512064"/>
          </a:xfrm>
          <a:prstGeom prst="roundRect">
            <a:avLst>
              <a:gd name="adj" fmla="val 14286"/>
            </a:avLst>
          </a:prstGeom>
          <a:solidFill>
            <a:srgbClr val="F5F8FA"/>
          </a:solidFill>
          <a:ln w="12700">
            <a:solidFill>
              <a:srgbClr val="E1E9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8247888" y="58887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244484" y="5888736"/>
            <a:ext cx="20940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구간 특정 및 원인 로그 확인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2463</Words>
  <Application>Microsoft Macintosh PowerPoint</Application>
  <PresentationFormat>와이드스크린</PresentationFormat>
  <Paragraphs>465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팀벨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회의록 운영 배포 시나리오</dc:title>
  <dc:subject>PptxGenJS Presentation</dc:subject>
  <dc:creator>노성남</dc:creator>
  <cp:lastModifiedBy>노 성남</cp:lastModifiedBy>
  <cp:revision>2</cp:revision>
  <dcterms:created xsi:type="dcterms:W3CDTF">2026-09-06T11:33:00Z</dcterms:created>
  <dcterms:modified xsi:type="dcterms:W3CDTF">2026-09-06T11:35:59Z</dcterms:modified>
</cp:coreProperties>
</file>