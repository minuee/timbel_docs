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gi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gi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gi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gi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gi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gi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gif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gif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gif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gif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gif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gi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A1A1A"/>
                </a:solidFill>
                <a:latin typeface="맑은 고딕"/>
              </a:rPr>
              <a:t>AI 회의록 전체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54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6E747C"/>
                </a:solidFill>
                <a:latin typeface="맑은 고딕"/>
              </a:rPr>
              <a:t>시작하기 · 회의록 만들기 · 확인하기 · 정리하기 · 찾기 · 관리와 설정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맑은 고딕"/>
              </a:rPr>
              <a:t>슬라이드쇼(F5)로 보시면 화면 동작이 재생됩니다.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A1A1A"/>
                </a:solidFill>
                <a:latin typeface="맑은 고딕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1부. 시작하기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18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01  왼쪽 메뉴 하나씩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11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02  화면 구성 — 홈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03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2부. 회의록 만들기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03  회의 녹음하기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04  AI 요약 템플릿 선택하기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72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05  AI 요약 템플릿 4종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655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3부. 회의록 확인하기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96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06  회의록 열어보기   〈준비 중〉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422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07  편집 · 공유 · 다운로드   〈준비 중〉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4부. 회의록 정리하기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18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08  폴더 만들기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11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09  폴더 메뉴 살펴보기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04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10  폴더 이름 바꾸기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967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11  폴더 삭제하기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989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12  회의록을 폴더로 옮기기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5부. 회의록 찾기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6184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13  검색하기 · 상세 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9110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14  캘린더로 찾기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2037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15  북마크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8590C"/>
                </a:solidFill>
                <a:latin typeface="맑은 고딕"/>
              </a:rPr>
              <a:t>6부. 관리와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16  알림 메시지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172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17  휴지통 — 복구와 영구삭제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465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18  이용 현황 — 기간 골라 보기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7581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19  이용 현황 — 지표 읽기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050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20  사전 관리 열기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21  단어 등록하기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636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22  미완성 회의록   〈준비 중〉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9286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맑은 고딕"/>
              </a:rPr>
              <a:t>23  관리자 설정   〈준비 중〉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맑은 고딕"/>
              </a:rPr>
              <a:t>이 문서를 보는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기능마다 두 장씩 있습니다 — 움직이는 화면 1장, 정지 화면 1장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움직이는 화면은 슬라이드쇼(F5)에서만 재생됩니다. 편집 화면에서는 첫 장면만 보입니다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PDF로 저장하거나 인쇄하면 움직임은 남지 않습니다. 이때는 정지 화면 쪽을 보세요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〈준비 중〉으로 표시된 단원은 화면 녹화가 준비되는 대로 채워집니다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1부. 시작하기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왼쪽 메뉴 하나씩 보기 · 화면 구성 — 홈 화면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01.  왼쪽 메뉴 하나씩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1.  홈 — 지금 화면에서 홈 화면으로 돌아옵니다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2.  전체 회의록 — 등록한 회의록이 전부 모입니다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3.  폴더 — 직접 만든 폴더. 주제별로 나눠 담습니다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4.  미완성 회의록 — 녹음·요약이 끝나지 않은 회의록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5.  캘린더 — 회의록을 날짜별로 모아서 봅니다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6.  알림 메시지 — 요약 완료·오류 알림이 쌓입니다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7.  북마크 — 북마크해 둔 회의록이 모입니다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8.  휴지통 — 삭제한 회의록을 30일 동안 보관합니다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9.  이용현황 — 녹음 시간·재요약 횟수 등 사용 기록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10.  개인 환경 설정 — 사전 관리 등 개인 설정을 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8_lnb-menu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490" y="566928"/>
            <a:ext cx="37356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lnb-menus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02.  화면 구성 — 홈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달력 — 회의가 있던 날짜에 표시가 뜹니다. 날짜를 누르면 그날 회의록을 볼 수 있습니다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최근 회의록 — 가장 최근에 만들어진 회의록을 폴더 · 유형 · 회의 시간 · 소요 시간과 함께 보여줍니다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최근 검색어 — 최근에 검색한 단어가 쌓입니다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최근 북마크 — 북마크해 둔 회의록이 모입니다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5.  기록된 회의 시간 — 녹음한 시간이 그래프로 쌓이고, 총 누적 시간이 표시됩니다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0_home-righ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01661"/>
            <a:ext cx="7178040" cy="38912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home-right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2부. 회의록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회의 녹음하기 · AI 요약 템플릿 선택하기 · AI 요약 템플릿 4종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03.  회의 녹음하기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좌측 상단의 빨간 「녹음」 버튼을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마이크 테스트 창이 열립니다. 입력 장치와 녹음 전 확인 주의사항을 확인합니다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「위 내용을 확인했습니다」에 체크한 뒤, 가운데 빨간 버튼을 눌러 녹음을 시작합니다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녹음이 시작됩니다. 경과 시간과 남은 시간이 표시됩니다 (최대 3시간)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5.  회의가 끝나면 「녹음 종료」를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6_recor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17488"/>
            <a:ext cx="7178040" cy="425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record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04.  AI 요약 템플릿 선택하기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녹음을 종료하면 「AI요약 준비하기」 창이 열립니다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요약 언어를 선택합니다 (한국어 / 영어)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발화자 수를 선택합니다 (1~2명 / 3~6명 / 7~10명 / 11명 이상)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템플릿을 선택합니다. 오른쪽 「템플릿 설명」에 해당 템플릿의 구성이 바로 표시됩니다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5.  내용을 확인한 뒤 「AI요약 시작」을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7_ai-templat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26359"/>
            <a:ext cx="7178040" cy="52418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ai-template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05.  AI 요약 템플릿 4종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기본형 — 제목 · 키워드 · 회의 기본정보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운영형 — 기본형 + 주제별 요약 · 액션 아이템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의사결정형 — 기본형 + 안건 및 논의사항 · 결정사항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보고형 — 기본형 + 진행 경과 · 보고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8_template-typ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74986"/>
            <a:ext cx="7178040" cy="43446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template-types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3부. 회의록 확인하기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회의록 열어보기 · 편집 · 공유 · 다운로드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06.  회의록 열어보기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170432"/>
            <a:ext cx="1051560" cy="347472"/>
          </a:xfrm>
          <a:prstGeom prst="round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준비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E747C"/>
                </a:solidFill>
                <a:latin typeface="맑은 고딕"/>
              </a:rPr>
              <a:t>이 단원에는 다음 내용이 들어갑니다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AI 요약 결과 화면 구성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녹취록(음성 기록) 보기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화자 구분 · 시간 이동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화면 녹화가 준비되면 오른쪽 자리에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넣어 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5943600" cy="512064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B0B6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0B6BE"/>
                </a:solidFill>
                <a:latin typeface="맑은 고딕"/>
              </a:rPr>
              <a:t>화면 캡처 / GIF 자리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07.  편집 · 공유 · 다운로드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170432"/>
            <a:ext cx="1051560" cy="347472"/>
          </a:xfrm>
          <a:prstGeom prst="round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준비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E747C"/>
                </a:solidFill>
                <a:latin typeface="맑은 고딕"/>
              </a:rPr>
              <a:t>이 단원에는 다음 내용이 들어갑니다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회의록 내용 편집하기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다른 사람에게 공유하기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문서 파일로 내려받기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화면 녹화가 준비되면 오른쪽 자리에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넣어 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5943600" cy="512064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B0B6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0B6BE"/>
                </a:solidFill>
                <a:latin typeface="맑은 고딕"/>
              </a:rPr>
              <a:t>화면 캡처 / GIF 자리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4부. 회의록 정리하기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폴더 만들기 · 폴더 메뉴 살펴보기 · 폴더 이름 바꾸기 · 폴더 삭제하기 · 회의록을 폴더로 옮기기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08.  폴더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좌측 메뉴 「전체 회의록」 오른쪽의 ＋ 버튼을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메뉴 목록에 입력칸이 나타납니다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폴더 이름을 입력합니다 (최대 8글자)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✓ 를 클릭하면 폴더가 생성됩니다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1_crea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076" y="566928"/>
            <a:ext cx="5932448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reate-folder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09.  폴더 메뉴 살펴보기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폴더 위에 마우스를 올리면 오른쪽에 ⋮ 버튼이 나타납니다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녹음 — 클릭하면 바로 녹음이 시작되고, 회의록이 이 폴더에 저장됩니다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폴더명 변경 — 폴더 이름을 바꿉니다 (8글자까지)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폴더 삭제 — 폴더를 삭제합니다. 안에 있던 회의록은 휴지통으로 이동됩니다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2_folder-men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94706"/>
            <a:ext cx="7178040" cy="4505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folder-menu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10.  폴더 이름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이름을 바꿀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「폴더명 변경」을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새 이름을 입력하고 ✓ 를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폴더 이름이 변경되었습니다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3_renam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758" y="566928"/>
            <a:ext cx="5563084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rename-folder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11.  폴더 삭제하기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삭제할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「폴더 삭제」를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확인 창이 열리면 「확인」을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폴더가 삭제되었습니다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4_dele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26103"/>
            <a:ext cx="7178040" cy="404236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delete-folder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12.  회의록을 폴더로 옮기기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「전체 회의록」에서 옮길 회의록을 체크합니다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상단의 「폴더 이동」 버튼을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이동할 폴더를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「이동」을 클릭합니다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5.  회의록이 선택한 폴더로 이동되었습니다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5_move-to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07787"/>
            <a:ext cx="7178040" cy="307900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ove-to-folder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5부. 회의록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검색하기 · 상세 검색 · 캘린더로 찾기 · 북마크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13.  검색하기 · 상세 검색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오른쪽 위 검색창에 제목이나 키워드를 넣으면 바로 찾을 수 있습니다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더 좁히려면 「상세 검색」을 누릅니다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조회 기간 · 저장 폴더 · 참석자 · 공유 · 유형으로 범위를 지정합니다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조건을 고르고 「검색」을 누릅니다. 「초기화」를 누르면 조건이 모두 풀립니다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1_search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001088"/>
            <a:ext cx="7178040" cy="4892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search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14.  캘린더로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메뉴에서 「캘린더」를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회의가 있던 날짜에 회의록이 표시됩니다. 위쪽 화살표로 달을 옮길 수 있습니다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날짜를 누르면 그날의 회의록이 오른쪽에 나타납니다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오른쪽 회의록을 누르면 바로 열립니다. 회의 시간 · 소요 시간 · 참석 인원도 함께 보입니다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2_calenda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4150"/>
            <a:ext cx="717804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calendar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15.  북마크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메뉴에서 「북마크」를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북마크해 둔 회의록이 모여 있습니다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자주 보는 회의록을 북마크해 두면 여기에 모입니다. 회의록 안의 단락 단위로도 즐겨찾기할 수 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4_bookmark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4150"/>
            <a:ext cx="717804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bookmark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6부. 관리와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6E747C"/>
                </a:solidFill>
                <a:latin typeface="맑은 고딕"/>
              </a:rPr>
              <a:t>알림 메시지 · 휴지통 — 복구와 영구삭제 · 이용 현황 — 기간 골라 보기 · 이용 현황 — 지표 읽기 · 사전 관리 열기 · 단어 등록하기 · 미완성 회의록 · 관리자 설정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16.  알림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메뉴에서 「알림 메시지」를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받은 알림이 목록으로 쌓입니다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전체 · 회의록 · 오류 탭으로 걸러서 볼 수 있습니다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「전체 확인」을 누르면 읽지 않은 알림이 한 번에 처리됩니다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3_inbox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4150"/>
            <a:ext cx="717804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inbox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17.  휴지통 — 복구와 영구삭제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메뉴에서 「휴지통」을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맨 위에 안내가 있습니다 — 휴지통에 보관된 회의록은 30일이 지나면 자동으로 삭제됩니다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되살리려면 「복구」를, 완전히 지우려면 「영구삭제」를 누릅니다. 오른쪽 위 「휴지통 비우기」는 전체를 한 번에 지웁니다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5_recycl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4150"/>
            <a:ext cx="717804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recycle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18.  이용 현황 — 기간 골라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아래 「이용 현황」을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보고 싶은 기간을 고릅니다 — 오늘 · 1주 · 1개월 · 3개월 · 6개월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기록된 회의 시간 — 날짜별 녹음량과 총 누적 시간이 고른 기간에 맞춰 표시됩니다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6a_usage-perio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4150"/>
            <a:ext cx="717804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a_usage-period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A1A1A"/>
                </a:solidFill>
                <a:latin typeface="맑은 고딕"/>
              </a:rPr>
              <a:t>19.  이용 현황 — 지표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회의록 재요약 — 회의록을 다시 요약한 횟수입니다. 상 · 중 · 하 난이도별로도 나뉩니다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파일 다운로드 — 회의록을 문서 파일로 내려받은 횟수입니다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사전 — 등록한 사전 단어 수입니다. 새로 추가한 개수와 전체 누적 개수를 보여줍니다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6b_usage-metric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04150"/>
            <a:ext cx="7178040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b_usage-metrics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20.  사전 관리 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왼쪽 아래 「개인 환경 설정」을 누릅니다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「사전 관리」를 선택합니다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등록해 둔 단어가 목록으로 보입니다. 변경 전 단어 · 변경 후 단어 · 등록일 · 최종 수정일 · 비고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7a_dictionary-ope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59160"/>
            <a:ext cx="7178040" cy="397625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a_dictionary-open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맑은 고딕"/>
              </a:rPr>
              <a:t>21.  단어 등록하기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4903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1.  오른쪽 위 「신규 등록」을 누릅니다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2.  「변경 전 단어」에 잘못 인식되는 단어를 넣습니다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3.  「변경 후 단어」에 올바른 단어를 넣고 「등록」을 누릅니다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1A1A1A"/>
                </a:solidFill>
                <a:latin typeface="맑은 고딕"/>
              </a:rPr>
              <a:t>4.  목록에 추가됩니다. 이후 회의록의 음성 기록에 자동으로 반영됩니다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17b_dictionary-ad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99172"/>
            <a:ext cx="7178040" cy="329623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b_dictionary-add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22.  미완성 회의록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170432"/>
            <a:ext cx="1051560" cy="347472"/>
          </a:xfrm>
          <a:prstGeom prst="round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준비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E747C"/>
                </a:solidFill>
                <a:latin typeface="맑은 고딕"/>
              </a:rPr>
              <a:t>이 단원에는 다음 내용이 들어갑니다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미완성 회의록이 생기는 경우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목록에서 확인하는 방법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이어서 처리하는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화면 녹화가 준비되면 오른쪽 자리에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넣어 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5943600" cy="512064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B0B6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0B6BE"/>
                </a:solidFill>
                <a:latin typeface="맑은 고딕"/>
              </a:rPr>
              <a:t>화면 캡처 / GIF 자리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23.  관리자 설정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170432"/>
            <a:ext cx="1051560" cy="347472"/>
          </a:xfrm>
          <a:prstGeom prst="round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준비 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E747C"/>
                </a:solidFill>
                <a:latin typeface="맑은 고딕"/>
              </a:rPr>
              <a:t>이 단원에는 다음 내용이 들어갑니다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사용자 관리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조직 · 권한 설정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1A"/>
                </a:solidFill>
                <a:latin typeface="맑은 고딕"/>
              </a:rPr>
              <a:t>·  기관 단위 이용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43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화면 녹화가 준비되면 오른쪽 자리에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6E747C"/>
                </a:solidFill>
                <a:latin typeface="맑은 고딕"/>
              </a:rPr>
              <a:t>넣어 주세요.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5943600" cy="5120640"/>
          </a:xfrm>
          <a:prstGeom prst="roundRect">
            <a:avLst/>
          </a:prstGeom>
          <a:solidFill>
            <a:srgbClr val="FAFAFB"/>
          </a:solidFill>
          <a:ln w="19050">
            <a:solidFill>
              <a:srgbClr val="B0B6B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B0B6BE"/>
                </a:solidFill>
                <a:latin typeface="맑은 고딕"/>
              </a:rPr>
              <a:t>화면 캡처 / GIF 자리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