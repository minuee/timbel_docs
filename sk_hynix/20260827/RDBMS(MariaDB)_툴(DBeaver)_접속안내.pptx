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69"/>
    <p:restoredTop sz="96245"/>
  </p:normalViewPr>
  <p:slideViewPr>
    <p:cSldViewPr snapToGrid="0" snapToObjects="1">
      <p:cViewPr varScale="1">
        <p:scale>
          <a:sx n="167" d="100"/>
          <a:sy n="167" d="100"/>
        </p:scale>
        <p:origin x="5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9847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본문(반복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 descr="timbel_logo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449" y="77676"/>
            <a:ext cx="561583" cy="186950"/>
          </a:xfrm>
          <a:prstGeom prst="rect">
            <a:avLst/>
          </a:prstGeom>
        </p:spPr>
      </p:pic>
      <p:sp>
        <p:nvSpPr>
          <p:cNvPr id="200" name="footer_r"/>
          <p:cNvSpPr/>
          <p:nvPr/>
        </p:nvSpPr>
        <p:spPr>
          <a:xfrm>
            <a:off x="7720161" y="4894411"/>
            <a:ext cx="1337871" cy="214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ko-KR" sz="612" kern="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TIMBEL | AI Modeling Solution</a:t>
            </a:r>
            <a:endParaRPr lang="ko-KR" altLang="en-US" sz="748" dirty="0"/>
          </a:p>
        </p:txBody>
      </p:sp>
      <p:cxnSp>
        <p:nvCxnSpPr>
          <p:cNvPr id="8" name="직선 연결선[R] 7"/>
          <p:cNvCxnSpPr/>
          <p:nvPr/>
        </p:nvCxnSpPr>
        <p:spPr>
          <a:xfrm>
            <a:off x="43064" y="340982"/>
            <a:ext cx="905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ction_label"/>
          <p:cNvSpPr>
            <a:spLocks noGrp="1"/>
          </p:cNvSpPr>
          <p:nvPr>
            <p:ph type="title"/>
          </p:nvPr>
        </p:nvSpPr>
        <p:spPr>
          <a:xfrm>
            <a:off x="86128" y="74271"/>
            <a:ext cx="6000105" cy="205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l">
              <a:buNone/>
              <a:defRPr/>
            </a:lvl1pPr>
          </a:lstStyle>
          <a:p>
            <a:pPr marL="0" indent="0" algn="l">
              <a:buNone/>
            </a:pPr>
            <a:r>
              <a:rPr lang="ko-KR" altLang="en-US" sz="816" kern="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 제목</a:t>
            </a:r>
            <a:endParaRPr lang="ko-KR" altLang="en-US" sz="748" dirty="0"/>
          </a:p>
        </p:txBody>
      </p:sp>
      <p:sp>
        <p:nvSpPr>
          <p:cNvPr id="9" name="page_number"/>
          <p:cNvSpPr>
            <a:spLocks noGrp="1"/>
          </p:cNvSpPr>
          <p:nvPr>
            <p:ph type="sldNum" sz="quarter" idx="4294967295"/>
          </p:nvPr>
        </p:nvSpPr>
        <p:spPr>
          <a:xfrm>
            <a:off x="86128" y="4894411"/>
            <a:ext cx="675012" cy="214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fld id="{1B3D67FA-0D7C-4EF6-8410-D34DC02501CE}" type="slidenum">
              <a:rPr lang="en-US" altLang="ko-KR" sz="612" kern="0" smtClean="0">
                <a:solidFill>
                  <a:srgbClr val="8E8E93"/>
                </a:solidFill>
                <a:ea typeface="Calibri" pitchFamily="34" charset="-122"/>
                <a:cs typeface="Calibri" pitchFamily="34" charset="-120"/>
              </a:rPr>
              <a:pPr/>
              <a:t>‹#›</a:t>
            </a:fld>
            <a:endParaRPr lang="ko-KR" altLang="en-US" sz="612" dirty="0">
              <a:solidFill>
                <a:srgbClr val="8E8E9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598504"/>
      </p:ext>
    </p:extLst>
  </p:cSld>
  <p:clrMapOvr>
    <a:masterClrMapping/>
  </p:clrMapOvr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>
              <a:buNone/>
            </a:pPr>
            <a:r>
              <a:rPr sz="900" b="1">
                <a:solidFill>
                  <a:srgbClr val="222222"/>
                </a:solidFill>
                <a:latin typeface="Calibri"/>
                <a:ea typeface="맑은 고딕"/>
                <a:cs typeface="Calibri"/>
              </a:rPr>
              <a:t>RDBMS(MariaDB) 툴(DBeaver) 접속안내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128" y="400000"/>
            <a:ext cx="8971904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1. DBeaver 설치 (Windows)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28" y="745000"/>
            <a:ext cx="8971904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707A87"/>
                </a:solidFill>
                <a:latin typeface="Calibri"/>
                <a:ea typeface="맑은 고딕"/>
                <a:cs typeface="Calibri"/>
              </a:rPr>
              <a:t>MariaDB에 접속하기 위한 무료 데이터베이스 클라이언트 DBeaver Community Edition을 설치합니다.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28" y="4894411"/>
            <a:ext cx="675012" cy="214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>
                <a:solidFill>
                  <a:srgbClr val="8E8E93"/>
                </a:solidFill>
                <a:latin typeface="Calibri"/>
                <a:ea typeface="맑은 고딕"/>
                <a:cs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128" y="1075000"/>
            <a:ext cx="430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5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STEP 1.  설치 파일 내려받기</a:t>
            </a: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공식 다운로드 페이지 </a:t>
            </a:r>
            <a:r>
              <a:rPr sz="90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https://dbeaver.io/download/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페이지의 DBeaver Community Edition 영역에서 Windows용 파일을 선택합니다.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2026년 8월 기준 최신 버전은 26.1.5 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128" y="2155000"/>
          <a:ext cx="4300000" cy="120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00000"/>
                <a:gridCol w="700000"/>
                <a:gridCol w="2100000"/>
              </a:tblGrid>
              <a:tr h="300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1F2328"/>
                          </a:solidFill>
                          <a:latin typeface="Calibri"/>
                          <a:ea typeface="맑은 고딕"/>
                          <a:cs typeface="Calibri"/>
                        </a:rPr>
                        <a:t>구분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1F2328"/>
                          </a:solidFill>
                          <a:latin typeface="Calibri"/>
                          <a:ea typeface="맑은 고딕"/>
                          <a:cs typeface="Calibri"/>
                        </a:rPr>
                        <a:t>파일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1F2328"/>
                          </a:solidFill>
                          <a:latin typeface="Calibri"/>
                          <a:ea typeface="맑은 고딕"/>
                          <a:cs typeface="Calibri"/>
                        </a:rPr>
                        <a:t>이럴 때 선택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5F7F9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Windows (x86_64)
Installer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.exe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일반적인 경우 — 대부분 이 항목을 선택합니다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Windows (x86_64)
ZIP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.zip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설치 없이 압축만 풀어 사용(포터블)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Windows (ARM64)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.exe / .zip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ARM 기반 노트북(Snapdragon 등) 전용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128" y="3495000"/>
            <a:ext cx="4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707A87"/>
                </a:solidFill>
                <a:latin typeface="Calibri"/>
                <a:ea typeface="맑은 고딕"/>
                <a:cs typeface="Calibri"/>
              </a:rPr>
              <a:t>※ 내 PC 종류 확인 : 설정 &gt; 시스템 &gt; 정보 &gt; 시스템 종류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128" y="3795000"/>
            <a:ext cx="4300000" cy="8300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10000" bIns="110000"/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설치 파일을 받기 어려울 때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</a:t>
            </a:r>
            <a:r>
              <a:rPr sz="8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Microsoft Store : 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스토어에서 DBeaver CE 검색 후 설치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</a:t>
            </a:r>
            <a:r>
              <a:rPr sz="8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Chocolatey : 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choco install dbeaver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00" y="1075000"/>
            <a:ext cx="4358032" cy="1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5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STEP 2.  설치 진행</a:t>
            </a:r>
          </a:p>
          <a:p>
            <a:pPr algn="l" marL="175000" indent="-17500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1. 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내려받은 설치 파일(dbeaver-ce-26.1.5-x86_64-setup.exe)을 실행합니다.</a:t>
            </a:r>
          </a:p>
          <a:p>
            <a:pPr algn="l" marL="175000" indent="-17500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2. 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언어를 선택하고 라이선스 동의(I Agree)를 클릭합니다.</a:t>
            </a:r>
          </a:p>
          <a:p>
            <a:pPr algn="l" marL="175000" indent="-17500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3. 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설치 대상은 기본값 Anyone who uses this computer 를 권장합니다.</a:t>
            </a:r>
          </a:p>
          <a:p>
            <a:pPr algn="l" marL="175000" indent="-17500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4. 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구성 요소와 설치 경로는 기본값 그대로 두고 Install 을 클릭합니다.</a:t>
            </a:r>
          </a:p>
          <a:p>
            <a:pPr algn="l" marL="175000" indent="-17500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5. 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설치가 끝나면 Finish → 시작 메뉴에서 DBeaver 를 실행합니다.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0000" y="2635000"/>
            <a:ext cx="4358032" cy="1560000"/>
          </a:xfrm>
          <a:prstGeom prst="roundRect">
            <a:avLst>
              <a:gd name="adj" fmla="val 4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10000" bIns="110000"/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5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알아두면 좋은 점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23.0 버전부터 Java(OpenJDK)가 함께 포함되어 별도로 Java를 설치할 필요가 없습니다.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처음 실행하면 샘플 데이터베이스 생성 여부를 묻는 창이 나타납니다. 필요하지 않으므로 아니요를 선택해도 됩니다.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사내 정책으로 설치 파일 실행이 제한된다면 ZIP(포터블) 버전을 내려받아 압축 해제 후 dbeaver.exe 를 실행하면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00" y="4335000"/>
            <a:ext cx="4358032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707A87"/>
                </a:solidFill>
                <a:latin typeface="Calibri"/>
                <a:ea typeface="맑은 고딕"/>
                <a:cs typeface="Calibri"/>
              </a:rPr>
              <a:t>※ 본 안내의 화면은 macOS 기준으로 캡처했으며, Windows에서도 메뉴 구성과 진행 순서는 동일합니다.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>
              <a:buNone/>
            </a:pPr>
            <a:r>
              <a:rPr sz="900" b="1">
                <a:solidFill>
                  <a:srgbClr val="222222"/>
                </a:solidFill>
                <a:latin typeface="Calibri"/>
                <a:ea typeface="맑은 고딕"/>
                <a:cs typeface="Calibri"/>
              </a:rPr>
              <a:t>RDBMS(MariaDB) 툴(DBeaver) 접속안내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128" y="400000"/>
            <a:ext cx="8971904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2. 새 데이터베이스 연결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28" y="745000"/>
            <a:ext cx="8971904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707A87"/>
                </a:solidFill>
                <a:latin typeface="Calibri"/>
                <a:ea typeface="맑은 고딕"/>
                <a:cs typeface="Calibri"/>
              </a:rPr>
              <a:t>DBeaver를 실행한 뒤 새 연결 마법사를 엽니다.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28" y="4894411"/>
            <a:ext cx="675012" cy="214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>
                <a:solidFill>
                  <a:srgbClr val="8E8E93"/>
                </a:solidFill>
                <a:latin typeface="Calibri"/>
                <a:ea typeface="맑은 고딕"/>
                <a:cs typeface="Calibri"/>
              </a:rPr>
              <a:t>2</a:t>
            </a:r>
          </a:p>
        </p:txBody>
      </p:sp>
      <p:pic>
        <p:nvPicPr>
          <p:cNvPr id="6" name="Picture 5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080" y="1135000"/>
            <a:ext cx="5000000" cy="87878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128" y="2606893"/>
            <a:ext cx="2837301" cy="15800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10000" bIns="110000"/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1">
                <a:solidFill>
                  <a:srgbClr val="C23934"/>
                </a:solidFill>
                <a:latin typeface="Calibri"/>
                <a:ea typeface="맑은 고딕"/>
                <a:cs typeface="Calibri"/>
              </a:rPr>
              <a:t>①  </a:t>
            </a:r>
            <a:r>
              <a:rPr sz="100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연결 아이콘 클릭</a:t>
            </a: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화면 왼쪽 위 툴바에서 플러그 모양에 파란색 + 가 붙은 아이콘을 클릭하면 연결 마법사(Connect to a database) 창이 열립니다.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아이콘 오른쪽의 ▼ 를 누르면 최근에 사용한 드라이버 목록이 바로 표시됩니다.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Connections 창이 보이지 않으면 상단 메뉴 Window 에서 다시 열 수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3429" y="2606893"/>
            <a:ext cx="2837301" cy="15800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10000" bIns="110000"/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같은 기능을 실행하는 다른 방법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</a:t>
            </a:r>
            <a:r>
              <a:rPr sz="8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메뉴 : 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Database &gt; New Database Connection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</a:t>
            </a:r>
            <a:r>
              <a:rPr sz="8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단축키 : 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Ctrl + Shift + N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</a:t>
            </a:r>
            <a:r>
              <a:rPr sz="8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마우스 : 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Connections 창의 빈 영역에서 오른쪽 클릭 &gt; Create &gt; Connection</a:t>
            </a:r>
          </a:p>
          <a:p>
            <a:pPr algn="l" marL="0" indent="0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연결은 여러 개를 만들어 둘 수 있으며, 한 번 만든 연결은 다음 실행 시에도 그대로 유지됩니다.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0730" y="2606893"/>
            <a:ext cx="2837301" cy="1580000"/>
          </a:xfrm>
          <a:prstGeom prst="roundRect">
            <a:avLst>
              <a:gd name="adj" fmla="val 4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10000" bIns="110000"/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미리 준비해 주세요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접속할 서버 주소와 포트, 데이터베이스 이름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발급받은 계정과 비밀번호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내 PC의 접속 IP에 대한 방화벽 승인 (4페이지 참고)</a:t>
            </a:r>
          </a:p>
          <a:p>
            <a:pPr algn="l" marL="0" indent="0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다음 페이지부터 드라이버 선택 → 접속 정보 입력 → 연결 확인 순서로 진행합니다.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>
              <a:buNone/>
            </a:pPr>
            <a:r>
              <a:rPr sz="900" b="1">
                <a:solidFill>
                  <a:srgbClr val="222222"/>
                </a:solidFill>
                <a:latin typeface="Calibri"/>
                <a:ea typeface="맑은 고딕"/>
                <a:cs typeface="Calibri"/>
              </a:rPr>
              <a:t>RDBMS(MariaDB) 툴(DBeaver) 접속안내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128" y="400000"/>
            <a:ext cx="8971904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3. 데이터베이스 드라이버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28" y="745000"/>
            <a:ext cx="8971904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707A87"/>
                </a:solidFill>
                <a:latin typeface="Calibri"/>
                <a:ea typeface="맑은 고딕"/>
                <a:cs typeface="Calibri"/>
              </a:rPr>
              <a:t>접속할 데이터베이스의 종류를 선택합니다. 본 안내는 MariaDB 기준입니다.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28" y="4894411"/>
            <a:ext cx="675012" cy="214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>
                <a:solidFill>
                  <a:srgbClr val="8E8E93"/>
                </a:solidFill>
                <a:latin typeface="Calibri"/>
                <a:ea typeface="맑은 고딕"/>
                <a:cs typeface="Calibri"/>
              </a:rPr>
              <a:t>3</a:t>
            </a:r>
          </a:p>
        </p:txBody>
      </p:sp>
      <p:pic>
        <p:nvPicPr>
          <p:cNvPr id="6" name="Picture 5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28" y="1075000"/>
            <a:ext cx="3750000" cy="32707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80000" y="1075000"/>
            <a:ext cx="5078032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>
                <a:solidFill>
                  <a:srgbClr val="C23934"/>
                </a:solidFill>
                <a:latin typeface="Calibri"/>
                <a:ea typeface="맑은 고딕"/>
                <a:cs typeface="Calibri"/>
              </a:rPr>
              <a:t>①  </a:t>
            </a:r>
            <a:r>
              <a:rPr sz="10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드라이버 검색</a:t>
            </a:r>
          </a:p>
          <a:p>
            <a:pPr algn="l" marL="175000" indent="0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검색창에 maria 를 입력하면 목록이 좁혀집니다. 왼쪽 분류(All / Popular / SQL …)를 이용해 찾아도 됩니다.</a:t>
            </a: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>
                <a:solidFill>
                  <a:srgbClr val="C23934"/>
                </a:solidFill>
                <a:latin typeface="Calibri"/>
                <a:ea typeface="맑은 고딕"/>
                <a:cs typeface="Calibri"/>
              </a:rPr>
              <a:t>②  </a:t>
            </a:r>
            <a:r>
              <a:rPr sz="10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MariaDB 선택</a:t>
            </a:r>
          </a:p>
          <a:p>
            <a:pPr algn="l" marL="175000" indent="0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갈색 물개 아이콘의 MariaDB 를 클릭해 선택합니다. 선택된 항목은 파란색으로 표시됩니다.</a:t>
            </a: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>
                <a:solidFill>
                  <a:srgbClr val="C23934"/>
                </a:solidFill>
                <a:latin typeface="Calibri"/>
                <a:ea typeface="맑은 고딕"/>
                <a:cs typeface="Calibri"/>
              </a:rPr>
              <a:t>③  </a:t>
            </a:r>
            <a:r>
              <a:rPr sz="10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Next &gt; 클릭</a:t>
            </a:r>
          </a:p>
          <a:p>
            <a:pPr algn="l" marL="17500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선택이 끝나면 오른쪽 아래 Next &gt; 버튼을 눌러 접속 정보 입력 화면으로 이동합니다.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80000" y="2775000"/>
            <a:ext cx="5078032" cy="1420000"/>
          </a:xfrm>
          <a:prstGeom prst="roundRect">
            <a:avLst>
              <a:gd name="adj" fmla="val 4000"/>
            </a:avLst>
          </a:prstGeom>
          <a:solidFill>
            <a:srgbClr val="FDF1F0"/>
          </a:solidFill>
          <a:ln w="9525">
            <a:solidFill>
              <a:srgbClr val="F0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10000" bIns="110000"/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50" b="1">
                <a:solidFill>
                  <a:srgbClr val="C23934"/>
                </a:solidFill>
                <a:latin typeface="Calibri"/>
                <a:ea typeface="맑은 고딕"/>
                <a:cs typeface="Calibri"/>
              </a:rPr>
              <a:t>꼭 확인하세요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MariaDB와 MySQL은 화면이 비슷하지만 서로 다른 드라이버입니다. 접속 대상이 MariaDB이므로 반드시 MariaDB를 선택해야 합니다.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목록에 MariaDB가 보이지 않으면 왼쪽 분류에서 All 을 선택한 뒤 다시 검색해 보세요.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처음 사용하는 드라이버는 다음 단계에서 드라이버 파일을 인터넷에서 자동으로 내려받습니다. 외부 접속이 차단된 환경이라면 이 과정에서 실패할 수 있으므로 인프라 담당자에게 요청하시기 바랍니다.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>
              <a:buNone/>
            </a:pPr>
            <a:r>
              <a:rPr sz="900" b="1">
                <a:solidFill>
                  <a:srgbClr val="222222"/>
                </a:solidFill>
                <a:latin typeface="Calibri"/>
                <a:ea typeface="맑은 고딕"/>
                <a:cs typeface="Calibri"/>
              </a:rPr>
              <a:t>RDBMS(MariaDB) 툴(DBeaver) 접속안내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128" y="400000"/>
            <a:ext cx="8971904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4. 접속 정보 입력 및 연결 테스트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28" y="745000"/>
            <a:ext cx="8971904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707A87"/>
                </a:solidFill>
                <a:latin typeface="Calibri"/>
                <a:ea typeface="맑은 고딕"/>
                <a:cs typeface="Calibri"/>
              </a:rPr>
              <a:t>전달받은 접속 정보를 입력하고, Finish 를 누르기 전에 반드시 연결을 테스트합니다.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28" y="4894411"/>
            <a:ext cx="675012" cy="214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>
                <a:solidFill>
                  <a:srgbClr val="8E8E93"/>
                </a:solidFill>
                <a:latin typeface="Calibri"/>
                <a:ea typeface="맑은 고딕"/>
                <a:cs typeface="Calibri"/>
              </a:rPr>
              <a:t>4</a:t>
            </a:r>
          </a:p>
        </p:txBody>
      </p:sp>
      <p:pic>
        <p:nvPicPr>
          <p:cNvPr id="6" name="Picture 5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28" y="1075000"/>
            <a:ext cx="3480000" cy="3005013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720000" y="1075000"/>
          <a:ext cx="5338032" cy="1176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0000"/>
                <a:gridCol w="1280000"/>
                <a:gridCol w="2978032"/>
              </a:tblGrid>
              <a:tr h="196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1F2328"/>
                          </a:solidFill>
                          <a:latin typeface="Calibri"/>
                          <a:ea typeface="맑은 고딕"/>
                          <a:cs typeface="Calibri"/>
                        </a:rPr>
                        <a:t>항목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1F2328"/>
                          </a:solidFill>
                          <a:latin typeface="Calibri"/>
                          <a:ea typeface="맑은 고딕"/>
                          <a:cs typeface="Calibri"/>
                        </a:rPr>
                        <a:t>입력 값(예시)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1F2328"/>
                          </a:solidFill>
                          <a:latin typeface="Calibri"/>
                          <a:ea typeface="맑은 고딕"/>
                          <a:cs typeface="Calibri"/>
                        </a:rPr>
                        <a:t>설명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5F7F9"/>
                    </a:solidFill>
                  </a:tcPr>
                </a:tc>
              </a:tr>
              <a:tr h="196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C23934"/>
                          </a:solidFill>
                          <a:latin typeface="Calibri"/>
                          <a:ea typeface="맑은 고딕"/>
                          <a:cs typeface="Calibri"/>
                        </a:rPr>
                        <a:t>① Server Host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192.168.x.x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접속할 DB 서버 주소 — 담당자에게 전달받은 값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6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C23934"/>
                          </a:solidFill>
                          <a:latin typeface="Calibri"/>
                          <a:ea typeface="맑은 고딕"/>
                          <a:cs typeface="Calibri"/>
                        </a:rPr>
                        <a:t>① Port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3306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MariaDB 기본 포트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6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C23934"/>
                          </a:solidFill>
                          <a:latin typeface="Calibri"/>
                          <a:ea typeface="맑은 고딕"/>
                          <a:cs typeface="Calibri"/>
                        </a:rPr>
                        <a:t>② Database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sample_db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접속할 데이터베이스(스키마) 이름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6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C23934"/>
                          </a:solidFill>
                          <a:latin typeface="Calibri"/>
                          <a:ea typeface="맑은 고딕"/>
                          <a:cs typeface="Calibri"/>
                        </a:rPr>
                        <a:t>③ Username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sample_user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개인별로 발급된 계정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6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C23934"/>
                          </a:solidFill>
                          <a:latin typeface="Calibri"/>
                          <a:ea typeface="맑은 고딕"/>
                          <a:cs typeface="Calibri"/>
                        </a:rPr>
                        <a:t>③ Password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●●●●●●●●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계정 비밀번호 — 담당자에게 개별 요청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720000" y="2375000"/>
            <a:ext cx="5338032" cy="1350000"/>
          </a:xfrm>
          <a:prstGeom prst="roundRect">
            <a:avLst>
              <a:gd name="adj" fmla="val 4000"/>
            </a:avLst>
          </a:prstGeom>
          <a:solidFill>
            <a:srgbClr val="FDF1F0"/>
          </a:solidFill>
          <a:ln w="9525">
            <a:solidFill>
              <a:srgbClr val="F0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10000" bIns="110000"/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50" b="1">
                <a:solidFill>
                  <a:srgbClr val="C23934"/>
                </a:solidFill>
                <a:latin typeface="Calibri"/>
                <a:ea typeface="맑은 고딕"/>
                <a:cs typeface="Calibri"/>
              </a:rPr>
              <a:t>방화벽(인바운드) 사전 승인이 필요합니다</a:t>
            </a: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주소를 정확히 입력해도, 내 PC의 접속 IP가 DB 서버의 인바운드 규칙(TCP 3306)에 등록되어 있지 않으면 연결되지 않습니다.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사무실 · 재택 · 테더링 등 접속 환경이 바뀌면 IP도 바뀌므로 다시 승인을 받아야 합니다.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승인 요청 : 인프라 담당자에게 요청 (사용자명 / 접속 IP / 대상 서버 · 포트 전달)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내 IP 확인과 포트 개방 여부를 직접 확인하는 방법은 </a:t>
            </a:r>
            <a:r>
              <a:rPr sz="850" b="1">
                <a:solidFill>
                  <a:srgbClr val="C23934"/>
                </a:solidFill>
                <a:latin typeface="Calibri"/>
                <a:ea typeface="맑은 고딕"/>
                <a:cs typeface="Calibri"/>
              </a:rPr>
              <a:t>부록 1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을 참고하세요.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20000" y="3835000"/>
            <a:ext cx="5338032" cy="1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>
                <a:solidFill>
                  <a:srgbClr val="C23934"/>
                </a:solidFill>
                <a:latin typeface="Calibri"/>
                <a:ea typeface="맑은 고딕"/>
                <a:cs typeface="Calibri"/>
              </a:rPr>
              <a:t>④  </a:t>
            </a:r>
            <a:r>
              <a:rPr sz="10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Test Connection 으로 미리 확인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드라이버 파일이 없으면 다운로드 안내창이 먼저 표시됩니다. Download 를 클릭합니다.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성공하면 Connected 와 서버 버전 정보가 표시됩니다. 이후 Finish 로 저장합니다.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</a:t>
            </a:r>
            <a:r>
              <a:rPr sz="8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실패 시 : 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오류 메시지에 따라 원인이 다릅니다. Communications link failure(방화벽 · 주소 확인), Access denied for user(계정 · 비밀번호 확인), Unknown database(DB 이름 확인) — 메시지별 조치는 </a:t>
            </a:r>
            <a:r>
              <a:rPr sz="850" b="1">
                <a:solidFill>
                  <a:srgbClr val="C23934"/>
                </a:solidFill>
                <a:latin typeface="Calibri"/>
                <a:ea typeface="맑은 고딕"/>
                <a:cs typeface="Calibri"/>
              </a:rPr>
              <a:t>부록 2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의 표를 참고하세요.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128" y="4220013"/>
            <a:ext cx="3480000" cy="5400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 tIns="70000" bIns="70000"/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Show all databases </a:t>
            </a:r>
            <a:r>
              <a:rPr sz="80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권한이 있는 모든 DB 표시   /   </a:t>
            </a:r>
            <a:r>
              <a:rPr sz="80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Save password </a:t>
            </a:r>
            <a:r>
              <a:rPr sz="80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다음 실행부터 비밀번호 입력 생략 (공용 PC에서는 해제 권장)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>
              <a:buNone/>
            </a:pPr>
            <a:r>
              <a:rPr sz="900" b="1">
                <a:solidFill>
                  <a:srgbClr val="222222"/>
                </a:solidFill>
                <a:latin typeface="Calibri"/>
                <a:ea typeface="맑은 고딕"/>
                <a:cs typeface="Calibri"/>
              </a:rPr>
              <a:t>RDBMS(MariaDB) 툴(DBeaver) 접속안내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128" y="400000"/>
            <a:ext cx="8971904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5. 연결 확인 및 데이터베이스 탐색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28" y="745000"/>
            <a:ext cx="8971904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707A87"/>
                </a:solidFill>
                <a:latin typeface="Calibri"/>
                <a:ea typeface="맑은 고딕"/>
                <a:cs typeface="Calibri"/>
              </a:rPr>
              <a:t>생성된 연결로 접속해 테이블 목록과 데이터까지 확인합니다.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28" y="4894411"/>
            <a:ext cx="675012" cy="214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>
                <a:solidFill>
                  <a:srgbClr val="8E8E93"/>
                </a:solidFill>
                <a:latin typeface="Calibri"/>
                <a:ea typeface="맑은 고딕"/>
                <a:cs typeface="Calibri"/>
              </a:rPr>
              <a:t>5</a:t>
            </a:r>
          </a:p>
        </p:txBody>
      </p:sp>
      <p:pic>
        <p:nvPicPr>
          <p:cNvPr id="6" name="Picture 5" descr="s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28" y="1075000"/>
            <a:ext cx="2850000" cy="1596000"/>
          </a:xfrm>
          <a:prstGeom prst="rect">
            <a:avLst/>
          </a:prstGeom>
        </p:spPr>
      </p:pic>
      <p:pic>
        <p:nvPicPr>
          <p:cNvPr id="7" name="Picture 6" descr="s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8" y="2831000"/>
            <a:ext cx="2850000" cy="16478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80000" y="1075000"/>
            <a:ext cx="5878032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>
                <a:solidFill>
                  <a:srgbClr val="C23934"/>
                </a:solidFill>
                <a:latin typeface="Calibri"/>
                <a:ea typeface="맑은 고딕"/>
                <a:cs typeface="Calibri"/>
              </a:rPr>
              <a:t>①  </a:t>
            </a:r>
            <a:r>
              <a:rPr sz="10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연결 생성 확인</a:t>
            </a:r>
          </a:p>
          <a:p>
            <a:pPr algn="l" marL="175000" indent="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Finish 를 누르면 Connections 목록에 새 연결이 추가됩니다. 연결 이름은 기본적으로 데이터베이스 이름으로 만들어집니다.</a:t>
            </a:r>
          </a:p>
          <a:p>
            <a:pPr algn="l" marL="300000" indent="-125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이름 변경 : 연결을 선택하고 F2 (또는 오른쪽 클릭 &gt; Edit Connection &gt; General)</a:t>
            </a:r>
          </a:p>
          <a:p>
            <a:pPr algn="l" marL="300000" indent="-125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운영 · 개발 서버를 함께 사용한다면 Edit Connection &gt; General 에서 연결 색상을 지정해 두면 혼동을 줄일 수 있습니다.</a:t>
            </a:r>
          </a:p>
          <a:p>
            <a:pPr algn="l" marL="0" indent="0">
              <a:lnSpc>
                <a:spcPct val="118000"/>
              </a:lnSpc>
              <a:spcBef>
                <a:spcPts val="700"/>
              </a:spcBef>
              <a:spcAft>
                <a:spcPts val="400"/>
              </a:spcAft>
              <a:buNone/>
            </a:pPr>
            <a:r>
              <a:rPr sz="1050" b="1">
                <a:solidFill>
                  <a:srgbClr val="C23934"/>
                </a:solidFill>
                <a:latin typeface="Calibri"/>
                <a:ea typeface="맑은 고딕"/>
                <a:cs typeface="Calibri"/>
              </a:rPr>
              <a:t>②  </a:t>
            </a:r>
            <a:r>
              <a:rPr sz="10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데이터베이스 열기</a:t>
            </a:r>
          </a:p>
          <a:p>
            <a:pPr algn="l" marL="175000" indent="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연결 왼쪽의 &gt; 를 눌러 펼치면 Databases &gt; 데이터베이스 이름 &gt; Tables 순서로 목록이 나타납니다. 여기까지 보이면 접속이 정상적으로 완료된 것입니다.</a:t>
            </a:r>
          </a:p>
          <a:p>
            <a:pPr algn="l" marL="0" indent="0">
              <a:lnSpc>
                <a:spcPct val="118000"/>
              </a:lnSpc>
              <a:spcBef>
                <a:spcPts val="700"/>
              </a:spcBef>
              <a:spcAft>
                <a:spcPts val="400"/>
              </a:spcAft>
              <a:buNone/>
            </a:pPr>
            <a:r>
              <a:rPr sz="1050" b="1">
                <a:solidFill>
                  <a:srgbClr val="C23934"/>
                </a:solidFill>
                <a:latin typeface="Calibri"/>
                <a:ea typeface="맑은 고딕"/>
                <a:cs typeface="Calibri"/>
              </a:rPr>
              <a:t>③  </a:t>
            </a:r>
            <a:r>
              <a:rPr sz="10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데이터 조회 및 SQL 실행</a:t>
            </a:r>
          </a:p>
          <a:p>
            <a:pPr algn="l" marL="300000" indent="-125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테이블을 더블클릭하면 Properties / Data / ER Diagram 탭이 열리며, Data 탭에서 실제 데이터를 확인할 수 있습니다.</a:t>
            </a:r>
          </a:p>
          <a:p>
            <a:pPr algn="l" marL="300000" indent="-125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SQL 편집기 : 연결을 선택한 뒤 SQL Editor &gt; New SQL script (Ctrl + ])</a:t>
            </a:r>
          </a:p>
          <a:p>
            <a:pPr algn="l" marL="300000" indent="-125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쿼리 실행 : 커서가 있는 문장에서 Ctrl + Enter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80000" y="3775000"/>
            <a:ext cx="5878032" cy="850000"/>
          </a:xfrm>
          <a:prstGeom prst="roundRect">
            <a:avLst>
              <a:gd name="adj" fmla="val 4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10000" bIns="110000"/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5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안전하게 사용하기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운영 데이터베이스에서는 조회(SELECT) 위주로 사용하고, 데이터를 변경하는 작업은 담당자와 협의 후 진행해 주세요.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계정과 비밀번호는 개인에게 발급된 정보이므로 공유하지 않습니다.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>
              <a:buNone/>
            </a:pPr>
            <a:r>
              <a:rPr sz="900" b="1">
                <a:solidFill>
                  <a:srgbClr val="222222"/>
                </a:solidFill>
                <a:latin typeface="Calibri"/>
                <a:ea typeface="맑은 고딕"/>
                <a:cs typeface="Calibri"/>
              </a:rPr>
              <a:t>RDBMS(MariaDB) 툴(DBeaver) 접속안내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128" y="400000"/>
            <a:ext cx="8971904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부록 1. 방화벽 오픈 여부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28" y="745000"/>
            <a:ext cx="8971904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707A87"/>
                </a:solidFill>
                <a:latin typeface="Calibri"/>
                <a:ea typeface="맑은 고딕"/>
                <a:cs typeface="Calibri"/>
              </a:rPr>
              <a:t>접속이 되지 않을 때, DB 서버의 3306 포트가 내 PC에서 열려 있는지 명령어로 먼저 확인합니다.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28" y="4894411"/>
            <a:ext cx="675012" cy="214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>
                <a:solidFill>
                  <a:srgbClr val="8E8E93"/>
                </a:solidFill>
                <a:latin typeface="Calibri"/>
                <a:ea typeface="맑은 고딕"/>
                <a:cs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128" y="1075000"/>
            <a:ext cx="4365952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Windows — PowerShell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128" y="1325000"/>
            <a:ext cx="4365952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시작 메뉴에서 PowerShell 을 실행한 뒤 아래 명령을 입력합니다.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128" y="1545000"/>
            <a:ext cx="4365952" cy="3000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55000" bIns="55000"/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42B4A"/>
                </a:solidFill>
                <a:latin typeface="Courier New"/>
                <a:ea typeface="맑은 고딕"/>
                <a:cs typeface="Courier New"/>
              </a:rPr>
              <a:t>Test-NetConnection 192.168.x.x -Port 3306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128" y="1885000"/>
            <a:ext cx="4365952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00" b="0">
                <a:solidFill>
                  <a:srgbClr val="707A87"/>
                </a:solidFill>
                <a:latin typeface="Calibri"/>
                <a:ea typeface="맑은 고딕"/>
                <a:cs typeface="Calibri"/>
              </a:rPr>
              <a:t>· 짧게 tnc 192.168.x.x -Port 3306 으로 입력해도 동일합니다.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128" y="2065000"/>
            <a:ext cx="4365952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결과에서 TcpTestSucceeded 항목이 True 이면 포트가 열려 있는 것입니다.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2080" y="1075000"/>
            <a:ext cx="4365952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macOS — 터미널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080" y="1325000"/>
            <a:ext cx="4365952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Spotlight(⌘ + Space)에서 터미널을 실행한 뒤 아래 명령을 입력합니다.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92080" y="1545000"/>
            <a:ext cx="4365952" cy="3000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9525">
            <a:solidFill>
              <a:srgbClr val="D5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120000" tIns="55000" bIns="55000"/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rgbClr val="142B4A"/>
                </a:solidFill>
                <a:latin typeface="Courier New"/>
                <a:ea typeface="맑은 고딕"/>
                <a:cs typeface="Courier New"/>
              </a:rPr>
              <a:t>nc -zv -w 3 192.168.x.x 3306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2080" y="1885000"/>
            <a:ext cx="4365952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00" b="0">
                <a:solidFill>
                  <a:srgbClr val="707A87"/>
                </a:solidFill>
                <a:latin typeface="Calibri"/>
                <a:ea typeface="맑은 고딕"/>
                <a:cs typeface="Calibri"/>
              </a:rPr>
              <a:t>· nc 는 macOS에 기본 포함되어 있어 별도 설치가 필요 없습니다.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2080" y="2065000"/>
            <a:ext cx="4365952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결과에 succeeded! 가 표시되면 포트가 열려 있는 것입니다.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128" y="2305000"/>
            <a:ext cx="8971904" cy="3900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 tIns="60000" bIns="60000"/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내 IP 확인   </a:t>
            </a:r>
            <a:r>
              <a:rPr sz="85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공인 IP : 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curl ifconfig.me</a:t>
            </a:r>
            <a:r>
              <a:rPr sz="85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      사설 IP : 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Windows ipconfig  /  macOS ipconfig getifaddr en0</a:t>
            </a:r>
            <a:r>
              <a:rPr sz="850" b="0">
                <a:solidFill>
                  <a:srgbClr val="707A87"/>
                </a:solidFill>
                <a:latin typeface="Calibri"/>
                <a:ea typeface="맑은 고딕"/>
                <a:cs typeface="Calibri"/>
              </a:rPr>
              <a:t>      ※ 방화벽 승인은 공인 IP 기준입니다.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28" y="2775000"/>
            <a:ext cx="8971904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결과 해석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6128" y="3005000"/>
          <a:ext cx="8971904" cy="80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00000"/>
                <a:gridCol w="2600000"/>
                <a:gridCol w="3771904"/>
              </a:tblGrid>
              <a:tr h="160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1F2328"/>
                          </a:solidFill>
                          <a:latin typeface="Calibri"/>
                          <a:ea typeface="맑은 고딕"/>
                          <a:cs typeface="Calibri"/>
                        </a:rPr>
                        <a:t>결과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1F2328"/>
                          </a:solidFill>
                          <a:latin typeface="Calibri"/>
                          <a:ea typeface="맑은 고딕"/>
                          <a:cs typeface="Calibri"/>
                        </a:rPr>
                        <a:t>의미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1F2328"/>
                          </a:solidFill>
                          <a:latin typeface="Calibri"/>
                          <a:ea typeface="맑은 고딕"/>
                          <a:cs typeface="Calibri"/>
                        </a:rPr>
                        <a:t>조치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5F7F9"/>
                    </a:solidFill>
                  </a:tcPr>
                </a:tc>
              </a:tr>
              <a:tr h="160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1B7A3E"/>
                          </a:solidFill>
                          <a:latin typeface="Calibri"/>
                          <a:ea typeface="맑은 고딕"/>
                          <a:cs typeface="Calibri"/>
                        </a:rPr>
                        <a:t>TcpTestSucceeded : True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포트가 정상적으로 열려 있음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DBeaver의 계정 · 데이터베이스 이름을 다시 확인하세요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응답 없이 멈춘 뒤 실패 (timed out)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방화벽에서 차단 — 내 IP가 미승인 상태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인프라 담당자에게 인바운드(TCP 3306) 승인을 요청하세요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Connection refused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서버에는 닿았으나 해당 포트가 응답하지 않음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포트 번호를 확인하고 서버 상태를 담당자에게 문의하세요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0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호스트를 찾을 수 없음 (could not resolve)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서버 주소 오타 또는 VPN · 사내망 미연결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주소 철자와 VPN · 네트워크 연결 상태를 확인하세요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6128" y="4150000"/>
            <a:ext cx="8971904" cy="6300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70000" bIns="70000"/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telnet 으로 확인하려면 (보조)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80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</a:t>
            </a:r>
            <a:r>
              <a:rPr sz="80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설치 : </a:t>
            </a:r>
            <a:r>
              <a:rPr sz="80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Windows 는 제어판 &gt; 프로그램 및 기능 &gt; Windows 기능 켜기/끄기 에서 텔넷 클라이언트를 체크, macOS 는 기본 미포함이므로 brew install telnet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80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</a:t>
            </a:r>
            <a:r>
              <a:rPr sz="80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사용 : </a:t>
            </a:r>
            <a:r>
              <a:rPr sz="80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telnet 192.168.x.x 3306 — MariaDB 버전 문자열이 보이면 열린 것입니다. 종료는 Ctrl + ] 입력 후 quit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>
              <a:buNone/>
            </a:pPr>
            <a:r>
              <a:rPr sz="900" b="1">
                <a:solidFill>
                  <a:srgbClr val="222222"/>
                </a:solidFill>
                <a:latin typeface="Calibri"/>
                <a:ea typeface="맑은 고딕"/>
                <a:cs typeface="Calibri"/>
              </a:rPr>
              <a:t>RDBMS(MariaDB) 툴(DBeaver) 접속안내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128" y="400000"/>
            <a:ext cx="8971904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부록 2. 자주 발생하는 오류와 조치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28" y="745000"/>
            <a:ext cx="8971904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707A87"/>
                </a:solidFill>
                <a:latin typeface="Calibri"/>
                <a:ea typeface="맑은 고딕"/>
                <a:cs typeface="Calibri"/>
              </a:rPr>
              <a:t>오류 메시지를 먼저 확인하세요. 대부분 아래 표에서 원인과 조치를 찾을 수 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28" y="4894411"/>
            <a:ext cx="675012" cy="214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>
                <a:solidFill>
                  <a:srgbClr val="8E8E93"/>
                </a:solidFill>
                <a:latin typeface="Calibri"/>
                <a:ea typeface="맑은 고딕"/>
                <a:cs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128" y="1075000"/>
          <a:ext cx="8971904" cy="196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50000"/>
                <a:gridCol w="2500000"/>
                <a:gridCol w="3721904"/>
              </a:tblGrid>
              <a:tr h="280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1F2328"/>
                          </a:solidFill>
                          <a:latin typeface="Calibri"/>
                          <a:ea typeface="맑은 고딕"/>
                          <a:cs typeface="Calibri"/>
                        </a:rPr>
                        <a:t>오류 메시지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1F2328"/>
                          </a:solidFill>
                          <a:latin typeface="Calibri"/>
                          <a:ea typeface="맑은 고딕"/>
                          <a:cs typeface="Calibri"/>
                        </a:rPr>
                        <a:t>원인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1F2328"/>
                          </a:solidFill>
                          <a:latin typeface="Calibri"/>
                          <a:ea typeface="맑은 고딕"/>
                          <a:cs typeface="Calibri"/>
                        </a:rPr>
                        <a:t>조치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5F7F9"/>
                    </a:solidFill>
                  </a:tcPr>
                </a:tc>
              </a:tr>
              <a:tr h="280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Communications link failure
Connection timed out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방화벽 차단 또는 서버 주소 · 포트 오류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부록 1의 명령으로 포트 개방을 먼저 확인 → 미개방이면 인프라 담당자에게 승인 요청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Connection refused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서버에는 닿았으나 해당 포트에서 DB가 응답하지 않음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포트 번호(3306)를 확인하고 서버 상태를 담당자에게 문의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Access denied for user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계정 · 비밀번호 오류 또는 해당 IP의 접속 권한 없음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대소문자까지 확인해 다시 입력. 반복되면 계정 권한 확인 요청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Unknown database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Database 항목에 입력한 이름이 없거나 오타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이름을 확인하고, Show all databases 체크로 접근 가능한 DB 목록 확인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Public Key Retrieval is not allowed
server time zone … unrecognized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MariaDB가 아닌 MySQL 드라이버로 연결을 만든 경우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3페이지대로 MariaDB 드라이버를 선택해 연결을 다시 생성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접속은 되지만 테이블이 보이지 않음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계정에 해당 DB 권한이 없거나 다른 DB에 접속함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Show all databases 체크 후 목록 확인, 권한은 담당자에게 문의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128" y="3305000"/>
            <a:ext cx="2843968" cy="14750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10000" bIns="110000"/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드라이버 자동 다운로드가 실패할 때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사내망에서 외부 저장소 접근이 차단되면 발생합니다.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Database &gt; Driver Manager &gt; MariaDB &gt; Libraries 에서 Download/Update 를 다시 시도합니다.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프록시 환경이면 Window &gt; Preferences &gt; Connections &gt; Drivers 에서 Proxy Host · Port 를 설정합니다.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0096" y="3305000"/>
            <a:ext cx="2843968" cy="14750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10000" bIns="110000"/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오프라인에서 수동 등록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담당자에게 mariadb-java-client-x.x.x.jar 파일을 전달받습니다.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Database &gt; Driver Manager &gt; MariaDB &gt; Libraries &gt; Add File 로 파일을 추가합니다.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창을 닫고 연결을 다시 열면 추가한 드라이버로 접속합니다.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4064" y="3305000"/>
            <a:ext cx="2843968" cy="1475000"/>
          </a:xfrm>
          <a:prstGeom prst="roundRect">
            <a:avLst>
              <a:gd name="adj" fmla="val 4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10000" bIns="110000"/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5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그래도 해결되지 않으면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다운로드가 중간에 끊겼다면 Libraries 목록의 기존 항목을 삭제한 뒤 다시 받습니다.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오류 메시지 전문과 Test Connection 화면을 함께 캡처해 두면 문의가 빨라집니다.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0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접속 IP · 사용자명 · 대상 서버와 포트를 함께 전달해 주세요.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05252"/>
        </a:solidFill>
        <a:ln w="12700">
          <a:solidFill>
            <a:srgbClr val="E05252"/>
          </a:solidFill>
          <a:prstDash val="solid"/>
        </a:ln>
      </a:spPr>
      <a:bodyPr anchor="ctr"/>
      <a:lstStyle>
        <a:defPPr algn="ctr">
          <a:defRPr sz="1000" dirty="0">
            <a:solidFill>
              <a:schemeClr val="bg1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3004</TotalTime>
  <Words>6</Words>
  <Application>Microsoft Macintosh PowerPoint</Application>
  <PresentationFormat>화면 슬라이드 쇼(16:9)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안내 – 1 툴 설치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노성남</cp:lastModifiedBy>
  <cp:revision>48</cp:revision>
  <dcterms:created xsi:type="dcterms:W3CDTF">2026-07-16T13:43:16Z</dcterms:created>
  <dcterms:modified xsi:type="dcterms:W3CDTF">2026-08-24T01:49:43Z</dcterms:modified>
</cp:coreProperties>
</file>