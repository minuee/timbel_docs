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9"/>
    <p:restoredTop sz="96245"/>
  </p:normalViewPr>
  <p:slideViewPr>
    <p:cSldViewPr snapToGrid="0" snapToObjects="1">
      <p:cViewPr varScale="1">
        <p:scale>
          <a:sx n="167" d="100"/>
          <a:sy n="167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9847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본문(반복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" descr="timbel_logo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449" y="77676"/>
            <a:ext cx="561583" cy="186950"/>
          </a:xfrm>
          <a:prstGeom prst="rect">
            <a:avLst/>
          </a:prstGeom>
        </p:spPr>
      </p:pic>
      <p:sp>
        <p:nvSpPr>
          <p:cNvPr id="200" name="footer_r"/>
          <p:cNvSpPr/>
          <p:nvPr/>
        </p:nvSpPr>
        <p:spPr>
          <a:xfrm>
            <a:off x="7720161" y="4894411"/>
            <a:ext cx="1337871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altLang="ko-KR" sz="612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TIMBEL | AI Modeling Solution</a:t>
            </a:r>
            <a:endParaRPr lang="ko-KR" altLang="en-US" sz="748" dirty="0"/>
          </a:p>
        </p:txBody>
      </p:sp>
      <p:cxnSp>
        <p:nvCxnSpPr>
          <p:cNvPr id="8" name="직선 연결선[R] 7"/>
          <p:cNvCxnSpPr/>
          <p:nvPr/>
        </p:nvCxnSpPr>
        <p:spPr>
          <a:xfrm>
            <a:off x="43064" y="340982"/>
            <a:ext cx="90580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ection_label"/>
          <p:cNvSpPr>
            <a:spLocks noGrp="1"/>
          </p:cNvSpPr>
          <p:nvPr>
            <p:ph type="title"/>
          </p:nvPr>
        </p:nvSpPr>
        <p:spPr>
          <a:xfrm>
            <a:off x="86128" y="74271"/>
            <a:ext cx="6000105" cy="20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l">
              <a:buNone/>
              <a:defRPr/>
            </a:lvl1pPr>
          </a:lstStyle>
          <a:p>
            <a:pPr marL="0" indent="0" algn="l">
              <a:buNone/>
            </a:pPr>
            <a:r>
              <a:rPr lang="ko-KR" altLang="en-US" sz="816" kern="0" dirty="0">
                <a:solidFill>
                  <a:srgbClr val="8E8E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페이지 제목</a:t>
            </a:r>
            <a:endParaRPr lang="ko-KR" altLang="en-US" sz="748" dirty="0"/>
          </a:p>
        </p:txBody>
      </p:sp>
      <p:sp>
        <p:nvSpPr>
          <p:cNvPr id="9" name="page_number"/>
          <p:cNvSpPr>
            <a:spLocks noGrp="1"/>
          </p:cNvSpPr>
          <p:nvPr>
            <p:ph type="sldNum" sz="quarter" idx="4294967295"/>
          </p:nvPr>
        </p:nvSpPr>
        <p:spPr>
          <a:xfrm>
            <a:off x="86128" y="4894411"/>
            <a:ext cx="675012" cy="2148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fld id="{1B3D67FA-0D7C-4EF6-8410-D34DC02501CE}" type="slidenum">
              <a:rPr lang="en-US" altLang="ko-KR" sz="612" kern="0" smtClean="0">
                <a:solidFill>
                  <a:srgbClr val="8E8E93"/>
                </a:solidFill>
                <a:ea typeface="Calibri" pitchFamily="34" charset="-122"/>
                <a:cs typeface="Calibri" pitchFamily="34" charset="-120"/>
              </a:rPr>
              <a:pPr/>
              <a:t>‹#›</a:t>
            </a:fld>
            <a:endParaRPr lang="ko-KR" altLang="en-US" sz="612" dirty="0">
              <a:solidFill>
                <a:srgbClr val="8E8E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598504"/>
      </p:ext>
    </p:extLst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1. DBeaver 설치 (Windows)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MariaDB에 접속하기 위한 무료 데이터베이스 클라이언트 DBeaver Community Edition을 설치합니다.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128" y="1075000"/>
            <a:ext cx="43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STEP 1.  설치 파일 내려받기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9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공식 다운로드 페이지 </a:t>
            </a:r>
            <a:r>
              <a:rPr sz="9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https://dbeaver.io/download/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페이지의 DBeaver Community Edition 영역에서 Windows용 파일을 선택합니다.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2026년 8월 기준 최신 버전은 26.1.5 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128" y="2155000"/>
          <a:ext cx="4300000" cy="120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00000"/>
                <a:gridCol w="700000"/>
                <a:gridCol w="2100000"/>
              </a:tblGrid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구분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파일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이럴 때 선택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(x86_64)
Installer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.exe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일반적인 경우 — 대부분 이 항목을 선택합니다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(x86_64)
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설치 없이 압축만 풀어 사용(포터블)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Windows (ARM64)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.exe / .zip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ARM 기반 노트북(Snapdragon 등) 전용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6128" y="3495000"/>
            <a:ext cx="4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※ 내 PC 종류 확인 : 설정 &gt; 시스템 &gt; 정보 &gt; 시스템 종류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128" y="3795000"/>
            <a:ext cx="4300000" cy="83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설치 파일을 받기 어려울 때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Microsoft Store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스토어에서 DBeaver CE 검색 후 설치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Chocolatey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choco install dbeaver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0000" y="1075000"/>
            <a:ext cx="4358032" cy="1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STEP 2.  설치 진행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1.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내려받은 설치 파일(dbeaver-ce-26.1.5-x86_64-setup.exe)을 실행합니다.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2.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언어를 선택하고 라이선스 동의(I Agree)를 클릭합니다.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3.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설치 대상은 기본값 Anyone who uses this computer 를 권장합니다.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4.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구성 요소와 설치 경로는 기본값 그대로 두고 Install 을 클릭합니다.</a:t>
            </a:r>
          </a:p>
          <a:p>
            <a:pPr algn="l" marL="175000" indent="-17500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5.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설치가 끝나면 Finish → 시작 메뉴에서 DBeaver 를 실행합니다.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0000" y="2635000"/>
            <a:ext cx="4358032" cy="156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알아두면 좋은 점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23.0 버전부터 Java(OpenJDK)가 함께 포함되어 별도로 Java를 설치할 필요가 없습니다.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처음 실행하면 샘플 데이터베이스 생성 여부를 묻는 창이 나타납니다. 필요하지 않으므로 아니요를 선택해도 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사내 정책으로 설치 파일 실행이 제한된다면 ZIP(포터블) 버전을 내려받아 압축 해제 후 dbeaver.exe 를 실행하면 됩니다.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00" y="4335000"/>
            <a:ext cx="4358032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※ 본 안내의 화면은 macOS 기준으로 캡처했으며, Windows에서도 메뉴 구성과 진행 순서는 동일합니다.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2. 새 데이터베이스 연결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DBeaver를 실행한 뒤 새 연결 마법사를 엽니다.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2</a:t>
            </a:r>
          </a:p>
        </p:txBody>
      </p:sp>
      <p:pic>
        <p:nvPicPr>
          <p:cNvPr id="6" name="Picture 5" descr="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080" y="1135000"/>
            <a:ext cx="5000000" cy="87878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128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100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연결 아이콘 클릭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화면 왼쪽 위 툴바에서 플러그 모양에 파란색 + 가 붙은 아이콘을 클릭하면 연결 마법사(Connect to a database) 창이 열립니다.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아이콘 오른쪽의 ▼ 를 누르면 최근에 사용한 드라이버 목록이 바로 표시됩니다.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Connections 창이 보이지 않으면 상단 메뉴 Window 에서 다시 열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3429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같은 기능을 실행하는 다른 방법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메뉴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Database &gt; New Database Connection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단축키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Ctrl + Shift + N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마우스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Connections 창의 빈 영역에서 오른쪽 클릭 &gt; Create &gt; Connection</a:t>
            </a:r>
          </a:p>
          <a:p>
            <a:pPr algn="l" marL="0" indent="0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연결은 여러 개를 만들어 둘 수 있으며, 한 번 만든 연결은 다음 실행 시에도 그대로 유지됩니다.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0730" y="2606893"/>
            <a:ext cx="2837301" cy="158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미리 준비해 주세요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접속할 서버 주소와 포트, 데이터베이스 이름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발급받은 계정과 비밀번호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내 PC의 접속 IP에 대한 방화벽 승인 (4페이지 참고)</a:t>
            </a:r>
          </a:p>
          <a:p>
            <a:pPr algn="l" marL="0" indent="0">
              <a:lnSpc>
                <a:spcPct val="118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다음 페이지부터 드라이버 선택 → 접속 정보 입력 → 연결 확인 순서로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3. 데이터베이스 드라이버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접속할 데이터베이스의 종류를 선택합니다. 본 안내는 MariaDB 기준입니다.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3</a:t>
            </a:r>
          </a:p>
        </p:txBody>
      </p:sp>
      <p:pic>
        <p:nvPicPr>
          <p:cNvPr id="6" name="Picture 5" descr="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3750000" cy="32707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80000" y="1075000"/>
            <a:ext cx="5078032" cy="1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드라이버 검색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검색창에 maria 를 입력하면 목록이 좁혀집니다. 왼쪽 분류(All / Popular / SQL …)를 이용해 찾아도 됩니다.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②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MariaDB 선택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갈색 물개 아이콘의 MariaDB 를 클릭해 선택합니다. 선택된 항목은 파란색으로 표시됩니다.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③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Next &gt; 클릭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선택이 끝나면 오른쪽 아래 Next &gt; 버튼을 눌러 접속 정보 입력 화면으로 이동합니다.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80000" y="2775000"/>
            <a:ext cx="5078032" cy="142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9525">
            <a:solidFill>
              <a:srgbClr val="F0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sz="9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꼭 확인하세요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MariaDB와 MySQL은 화면이 비슷하지만 서로 다른 드라이버입니다. 접속 대상이 MariaDB이므로 반드시 MariaDB를 선택해야 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목록에 MariaDB가 보이지 않으면 왼쪽 분류에서 All 을 선택한 뒤 다시 검색해 보세요.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처음 사용하는 드라이버는 다음 단계에서 드라이버 파일을 인터넷에서 자동으로 내려받습니다. 외부 접속이 차단된 환경이라면 이 과정에서 실패할 수 있으므로 인프라 담당자에게 요청하시기 바랍니다.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4. 접속 정보 입력 및 연결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전달받은 접속 정보를 입력하고, Finish 를 누르기 전에 반드시 연결을 테스트합니다.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4</a:t>
            </a:r>
          </a:p>
        </p:txBody>
      </p:sp>
      <p:pic>
        <p:nvPicPr>
          <p:cNvPr id="6" name="Picture 5" descr="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3480000" cy="300501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720000" y="1075000"/>
          <a:ext cx="5338032" cy="117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0000"/>
                <a:gridCol w="1280000"/>
                <a:gridCol w="2978032"/>
              </a:tblGrid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항목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입력 값(예시)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1F2328"/>
                          </a:solidFill>
                          <a:latin typeface="Calibri"/>
                          <a:ea typeface="맑은 고딕"/>
                          <a:cs typeface="Calibri"/>
                        </a:rPr>
                        <a:t>설명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5F7F9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① Server Host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192.168.x.x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접속할 DB 서버 주소 — 담당자에게 전달받은 값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① Port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3306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MariaDB 기본 포트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② Database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sample_db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접속할 데이터베이스(스키마) 이름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③ Username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sample_user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개인별로 발급된 계정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96000"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1">
                          <a:solidFill>
                            <a:srgbClr val="C23934"/>
                          </a:solidFill>
                          <a:latin typeface="Calibri"/>
                          <a:ea typeface="맑은 고딕"/>
                          <a:cs typeface="Calibri"/>
                        </a:rPr>
                        <a:t>③ Password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●●●●●●●●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0000"/>
                        </a:lnSpc>
                        <a:buNone/>
                      </a:pPr>
                      <a:r>
                        <a:rPr sz="800" b="0">
                          <a:solidFill>
                            <a:srgbClr val="3C4450"/>
                          </a:solidFill>
                          <a:latin typeface="Calibri"/>
                          <a:ea typeface="맑은 고딕"/>
                          <a:cs typeface="Calibri"/>
                        </a:rPr>
                        <a:t>계정 비밀번호 — 담당자에게 개별 요청</a:t>
                      </a:r>
                    </a:p>
                  </a:txBody>
                  <a:tcPr marL="75000" marR="75000" marT="38000" marB="38000" anchor="ctr">
                    <a:lnB w="9525" cap="flat" cmpd="sng" algn="ctr">
                      <a:solidFill>
                        <a:srgbClr val="DDE3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720000" y="2375000"/>
            <a:ext cx="5338032" cy="1350000"/>
          </a:xfrm>
          <a:prstGeom prst="roundRect">
            <a:avLst>
              <a:gd name="adj" fmla="val 4000"/>
            </a:avLst>
          </a:prstGeom>
          <a:solidFill>
            <a:srgbClr val="FDF1F0"/>
          </a:solidFill>
          <a:ln w="9525">
            <a:solidFill>
              <a:srgbClr val="F0CF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방화벽(인바운드) 사전 승인이 필요합니다</a:t>
            </a:r>
          </a:p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주소를 정확히 입력해도, 내 PC의 접속 IP가 DB 서버의 인바운드 규칙(TCP 3306)에 등록되어 있지 않으면 연결되지 않습니다.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사무실 · 재택 · 테더링 등 접속 환경이 바뀌면 IP도 바뀌므로 다시 승인을 받아야 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내 IP 확인 : 포털에서 “내 IP 주소”를 검색합니다.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승인 요청 : 인프라 담당자에게 요청 (사용자명 / 접속 IP / 대상 서버 · 포트 전달)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20000" y="3835000"/>
            <a:ext cx="5338032" cy="1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④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Test Connection 으로 미리 확인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드라이버 파일이 없으면 다운로드 안내창이 먼저 표시됩니다. Download 를 클릭합니다.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성공하면 Connected 와 서버 버전 정보가 표시됩니다. 이후 Finish 로 저장합니다.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</a:t>
            </a:r>
            <a:r>
              <a:rPr sz="8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실패 시 : </a:t>
            </a: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Communications link failure · timed out(방화벽 승인 · 주소 · 포트 확인), Access denied for user(계정 · 비밀번호 확인), Unknown database(DB 이름 확인)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28" y="4220013"/>
            <a:ext cx="3480000" cy="54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0000" rIns="150000" tIns="70000" bIns="7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Show all databases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권한이 있는 모든 DB 표시   /   </a:t>
            </a:r>
            <a:r>
              <a:rPr sz="8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Save password </a:t>
            </a:r>
            <a:r>
              <a:rPr sz="80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다음 실행부터 비밀번호 입력 생략 (공용 PC에서는 해제 권장)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none"/>
          <a:lstStyle/>
          <a:p>
            <a:pPr>
              <a:buNone/>
            </a:pPr>
            <a:r>
              <a:rPr sz="900" b="1">
                <a:solidFill>
                  <a:srgbClr val="222222"/>
                </a:solidFill>
                <a:latin typeface="Calibri"/>
                <a:ea typeface="맑은 고딕"/>
                <a:cs typeface="Calibri"/>
              </a:rPr>
              <a:t>RDBMS(MariaDB) 툴(DBeaver) 접속안내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128" y="400000"/>
            <a:ext cx="8971904" cy="3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5. 연결 확인 및 데이터베이스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128" y="745000"/>
            <a:ext cx="8971904" cy="2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707A87"/>
                </a:solidFill>
                <a:latin typeface="Calibri"/>
                <a:ea typeface="맑은 고딕"/>
                <a:cs typeface="Calibri"/>
              </a:rPr>
              <a:t>생성된 연결로 접속해 테이블 목록과 데이터까지 확인합니다.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28" y="4894411"/>
            <a:ext cx="675012" cy="2148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50" b="0">
                <a:solidFill>
                  <a:srgbClr val="8E8E93"/>
                </a:solidFill>
                <a:latin typeface="Calibri"/>
                <a:ea typeface="맑은 고딕"/>
                <a:cs typeface="Calibri"/>
              </a:rPr>
              <a:t>5</a:t>
            </a:r>
          </a:p>
        </p:txBody>
      </p:sp>
      <p:pic>
        <p:nvPicPr>
          <p:cNvPr id="6" name="Picture 5" descr="s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28" y="1075000"/>
            <a:ext cx="2850000" cy="1596000"/>
          </a:xfrm>
          <a:prstGeom prst="rect">
            <a:avLst/>
          </a:prstGeom>
        </p:spPr>
      </p:pic>
      <p:pic>
        <p:nvPicPr>
          <p:cNvPr id="7" name="Picture 6" descr="s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28" y="2831000"/>
            <a:ext cx="2850000" cy="164784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80000" y="1075000"/>
            <a:ext cx="5878032" cy="2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①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연결 생성 확인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Finish 를 누르면 Connections 목록에 새 연결이 추가됩니다. 연결 이름은 기본적으로 데이터베이스 이름으로 만들어집니다.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이름 변경 : 연결을 선택하고 F2 (또는 오른쪽 클릭 &gt; Edit Connection &gt; General)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운영 · 개발 서버를 함께 사용한다면 Edit Connection &gt; General 에서 연결 색상을 지정해 두면 혼동을 줄일 수 있습니다.</a:t>
            </a:r>
          </a:p>
          <a:p>
            <a:pPr algn="l" marL="0" indent="0">
              <a:lnSpc>
                <a:spcPct val="11800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②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데이터베이스 열기</a:t>
            </a:r>
          </a:p>
          <a:p>
            <a:pPr algn="l" marL="175000" indent="0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연결 왼쪽의 &gt; 를 눌러 펼치면 Databases &gt; 데이터베이스 이름 &gt; Tables 순서로 목록이 나타납니다. 여기까지 보이면 접속이 정상적으로 완료된 것입니다.</a:t>
            </a:r>
          </a:p>
          <a:p>
            <a:pPr algn="l" marL="0" indent="0">
              <a:lnSpc>
                <a:spcPct val="118000"/>
              </a:lnSpc>
              <a:spcBef>
                <a:spcPts val="700"/>
              </a:spcBef>
              <a:spcAft>
                <a:spcPts val="400"/>
              </a:spcAft>
              <a:buNone/>
            </a:pPr>
            <a:r>
              <a:rPr sz="1050" b="1">
                <a:solidFill>
                  <a:srgbClr val="C23934"/>
                </a:solidFill>
                <a:latin typeface="Calibri"/>
                <a:ea typeface="맑은 고딕"/>
                <a:cs typeface="Calibri"/>
              </a:rPr>
              <a:t>③  </a:t>
            </a:r>
            <a:r>
              <a:rPr sz="1050" b="1">
                <a:solidFill>
                  <a:srgbClr val="1F2328"/>
                </a:solidFill>
                <a:latin typeface="Calibri"/>
                <a:ea typeface="맑은 고딕"/>
                <a:cs typeface="Calibri"/>
              </a:rPr>
              <a:t>데이터 조회 및 SQL 실행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테이블을 더블클릭하면 Properties / Data / ER Diagram 탭이 열리며, Data 탭에서 실제 데이터를 확인할 수 있습니다.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SQL 편집기 : 연결을 선택한 뒤 SQL Editor &gt; New SQL script (Ctrl + ])</a:t>
            </a:r>
          </a:p>
          <a:p>
            <a:pPr algn="l" marL="300000" indent="-125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쿼리 실행 : 커서가 있는 문장에서 Ctrl + Enter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0000" y="3775000"/>
            <a:ext cx="5878032" cy="850000"/>
          </a:xfrm>
          <a:prstGeom prst="roundRect">
            <a:avLst>
              <a:gd name="adj" fmla="val 4000"/>
            </a:avLst>
          </a:prstGeom>
          <a:solidFill>
            <a:srgbClr val="ED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0000" rIns="150000" tIns="110000" bIns="110000"/>
          <a:lstStyle/>
          <a:p>
            <a:pPr algn="l" marL="0" indent="0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sz="950" b="1">
                <a:solidFill>
                  <a:srgbClr val="1B498F"/>
                </a:solidFill>
                <a:latin typeface="Calibri"/>
                <a:ea typeface="맑은 고딕"/>
                <a:cs typeface="Calibri"/>
              </a:rPr>
              <a:t>안전하게 사용하기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운영 데이터베이스에서는 조회(SELECT) 위주로 사용하고, 데이터를 변경하는 작업은 담당자와 협의 후 진행해 주세요.</a:t>
            </a:r>
          </a:p>
          <a:p>
            <a:pPr algn="l" marL="120000" indent="-120000">
              <a:lnSpc>
                <a:spcPct val="118000"/>
              </a:lnSpc>
              <a:spcBef>
                <a:spcPts val="0"/>
              </a:spcBef>
              <a:spcAft>
                <a:spcPts val="250"/>
              </a:spcAft>
              <a:buNone/>
            </a:pPr>
            <a:r>
              <a:rPr sz="850" b="0">
                <a:solidFill>
                  <a:srgbClr val="3C4450"/>
                </a:solidFill>
                <a:latin typeface="Calibri"/>
                <a:ea typeface="맑은 고딕"/>
                <a:cs typeface="Calibri"/>
              </a:rPr>
              <a:t>· 계정과 비밀번호는 개인에게 발급된 정보이므로 공유하지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05252"/>
        </a:solidFill>
        <a:ln w="12700">
          <a:solidFill>
            <a:srgbClr val="E05252"/>
          </a:solidFill>
          <a:prstDash val="solid"/>
        </a:ln>
      </a:spPr>
      <a:bodyPr anchor="ctr"/>
      <a:lstStyle>
        <a:defPPr algn="ctr">
          <a:defRPr sz="1000" dirty="0">
            <a:solidFill>
              <a:schemeClr val="bg1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3004</TotalTime>
  <Words>6</Words>
  <Application>Microsoft Macintosh PowerPoint</Application>
  <PresentationFormat>화면 슬라이드 쇼(16:9)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안내 – 1 툴 설치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노성남</cp:lastModifiedBy>
  <cp:revision>48</cp:revision>
  <dcterms:created xsi:type="dcterms:W3CDTF">2026-07-16T13:43:16Z</dcterms:created>
  <dcterms:modified xsi:type="dcterms:W3CDTF">2026-08-24T01:49:43Z</dcterms:modified>
</cp:coreProperties>
</file>