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4E4626AF-71AC-47DD-46B1-D1B585EF7CB5}">
          <p14:sldIdLst>
            <p14:sldId id="256"/>
            <p14:sldId id="257"/>
          </p14:sldIdLst>
        </p14:section>
        <p14:section name="핵심 기능" id="{85FF9D70-6305-8F99-D1C9-B504B6EB3450}">
          <p14:sldIdLst>
            <p14:sldId id="258"/>
            <p14:sldId id="259"/>
            <p14:sldId id="260"/>
          </p14:sldIdLst>
        </p14:section>
        <p14:section name="구성·진행" id="{0EE405B0-F465-437B-A484-B9F16DE62D6E}">
          <p14:sldIdLst>
            <p14:sldId id="261"/>
            <p14:sldId id="262"/>
            <p14:sldId id="265"/>
            <p14:sldId id="266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5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9B2E-57EC-EDEE-5068-C119CADF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BE264-2538-E8CE-A518-1C94D6901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2F07C-975C-E942-8C3E-AA21213BC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71E31-5772-A189-6D17-D0C6D44BA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7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7C9F-5AF7-B660-ECE1-D7F2D621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C07CB-AD66-8739-52F4-A6E538C08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42481-3B15-0AEC-42FF-16F84FAC0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17986-65CE-16DF-60A7-E071C3C3E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806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6583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Timbel  ·  AI회의록 고도화 제안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AI회의록 고도화 제안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화자 자동 인식  ·  문서 맥락  ·  화면 맥락</a:t>
            </a:r>
            <a:endParaRPr lang="en-US" sz="2000" dirty="0"/>
          </a:p>
        </p:txBody>
      </p:sp>
      <p:sp>
        <p:nvSpPr>
          <p:cNvPr id="4" name="meta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chemeClr val="accent3"/>
                </a:solidFill>
              </a:rPr>
              <a:t>Timbel</a:t>
            </a:r>
            <a:r>
              <a:rPr lang="en-US" sz="1400" dirty="0">
                <a:solidFill>
                  <a:schemeClr val="accent3"/>
                </a:solidFill>
              </a:rPr>
              <a:t> </a:t>
            </a:r>
            <a:r>
              <a:rPr lang="en-US" sz="1400" dirty="0" err="1">
                <a:solidFill>
                  <a:schemeClr val="accent3"/>
                </a:solidFill>
              </a:rPr>
              <a:t>솔루션</a:t>
            </a:r>
            <a:r>
              <a:rPr lang="ko-KR" altLang="en-US" sz="1400" dirty="0">
                <a:solidFill>
                  <a:schemeClr val="accent3"/>
                </a:solidFill>
              </a:rPr>
              <a:t>사업부 이상우 </a:t>
            </a:r>
            <a:r>
              <a:rPr lang="en-US" sz="1400" dirty="0">
                <a:solidFill>
                  <a:schemeClr val="accent3"/>
                </a:solidFill>
              </a:rPr>
              <a:t>  |  2026. 10</a:t>
            </a:r>
            <a:endParaRPr lang="en-US" sz="1400" dirty="0"/>
          </a:p>
        </p:txBody>
      </p:sp>
      <p:sp>
        <p:nvSpPr>
          <p:cNvPr id="5" name="wave0"/>
          <p:cNvSpPr/>
          <p:nvPr/>
        </p:nvSpPr>
        <p:spPr>
          <a:xfrm>
            <a:off x="7772400" y="3337560"/>
            <a:ext cx="137160" cy="457200"/>
          </a:xfrm>
          <a:prstGeom prst="roundRect">
            <a:avLst>
              <a:gd name="adj" fmla="val 4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wave1"/>
          <p:cNvSpPr/>
          <p:nvPr/>
        </p:nvSpPr>
        <p:spPr>
          <a:xfrm>
            <a:off x="7996428" y="3154680"/>
            <a:ext cx="137160" cy="82296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wave2"/>
          <p:cNvSpPr/>
          <p:nvPr/>
        </p:nvSpPr>
        <p:spPr>
          <a:xfrm>
            <a:off x="8220456" y="2880360"/>
            <a:ext cx="137160" cy="13716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wave3"/>
          <p:cNvSpPr/>
          <p:nvPr/>
        </p:nvSpPr>
        <p:spPr>
          <a:xfrm>
            <a:off x="8444484" y="3063240"/>
            <a:ext cx="137160" cy="1005840"/>
          </a:xfrm>
          <a:prstGeom prst="roundRect">
            <a:avLst>
              <a:gd name="adj" fmla="val 4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wave4"/>
          <p:cNvSpPr/>
          <p:nvPr/>
        </p:nvSpPr>
        <p:spPr>
          <a:xfrm>
            <a:off x="8668512" y="2651760"/>
            <a:ext cx="137160" cy="18288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wave5"/>
          <p:cNvSpPr/>
          <p:nvPr/>
        </p:nvSpPr>
        <p:spPr>
          <a:xfrm>
            <a:off x="8892540" y="2286000"/>
            <a:ext cx="137160" cy="2560320"/>
          </a:xfrm>
          <a:prstGeom prst="roundRect">
            <a:avLst>
              <a:gd name="adj" fmla="val 46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wave6"/>
          <p:cNvSpPr/>
          <p:nvPr/>
        </p:nvSpPr>
        <p:spPr>
          <a:xfrm>
            <a:off x="9116568" y="2697480"/>
            <a:ext cx="137160" cy="1737360"/>
          </a:xfrm>
          <a:prstGeom prst="roundRect">
            <a:avLst>
              <a:gd name="adj" fmla="val 4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wave7"/>
          <p:cNvSpPr/>
          <p:nvPr/>
        </p:nvSpPr>
        <p:spPr>
          <a:xfrm>
            <a:off x="9340596" y="3017520"/>
            <a:ext cx="137160" cy="109728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wave8"/>
          <p:cNvSpPr/>
          <p:nvPr/>
        </p:nvSpPr>
        <p:spPr>
          <a:xfrm>
            <a:off x="9564624" y="2468880"/>
            <a:ext cx="137160" cy="219456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wave9"/>
          <p:cNvSpPr/>
          <p:nvPr/>
        </p:nvSpPr>
        <p:spPr>
          <a:xfrm>
            <a:off x="9788652" y="2103120"/>
            <a:ext cx="137160" cy="2926080"/>
          </a:xfrm>
          <a:prstGeom prst="roundRect">
            <a:avLst>
              <a:gd name="adj" fmla="val 46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wave10"/>
          <p:cNvSpPr/>
          <p:nvPr/>
        </p:nvSpPr>
        <p:spPr>
          <a:xfrm>
            <a:off x="10012680" y="2560320"/>
            <a:ext cx="137160" cy="201168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wave11"/>
          <p:cNvSpPr/>
          <p:nvPr/>
        </p:nvSpPr>
        <p:spPr>
          <a:xfrm>
            <a:off x="10236708" y="2926080"/>
            <a:ext cx="137160" cy="128016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wave12"/>
          <p:cNvSpPr/>
          <p:nvPr/>
        </p:nvSpPr>
        <p:spPr>
          <a:xfrm>
            <a:off x="10460736" y="2377440"/>
            <a:ext cx="137160" cy="2377440"/>
          </a:xfrm>
          <a:prstGeom prst="roundRect">
            <a:avLst>
              <a:gd name="adj" fmla="val 46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wave13"/>
          <p:cNvSpPr/>
          <p:nvPr/>
        </p:nvSpPr>
        <p:spPr>
          <a:xfrm>
            <a:off x="10684764" y="2743200"/>
            <a:ext cx="137160" cy="164592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wave14"/>
          <p:cNvSpPr/>
          <p:nvPr/>
        </p:nvSpPr>
        <p:spPr>
          <a:xfrm>
            <a:off x="10908792" y="3108960"/>
            <a:ext cx="137160" cy="9144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wave15"/>
          <p:cNvSpPr/>
          <p:nvPr/>
        </p:nvSpPr>
        <p:spPr>
          <a:xfrm>
            <a:off x="11132820" y="2834640"/>
            <a:ext cx="137160" cy="1463040"/>
          </a:xfrm>
          <a:prstGeom prst="roundRect">
            <a:avLst>
              <a:gd name="adj" fmla="val 4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wave16"/>
          <p:cNvSpPr/>
          <p:nvPr/>
        </p:nvSpPr>
        <p:spPr>
          <a:xfrm>
            <a:off x="11356848" y="3154680"/>
            <a:ext cx="137160" cy="82296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wave17"/>
          <p:cNvSpPr/>
          <p:nvPr/>
        </p:nvSpPr>
        <p:spPr>
          <a:xfrm>
            <a:off x="11580876" y="3337560"/>
            <a:ext cx="137160" cy="457200"/>
          </a:xfrm>
          <a:prstGeom prst="roundRect">
            <a:avLst>
              <a:gd name="adj" fmla="val 4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pill_name"/>
          <p:cNvSpPr txBox="1"/>
          <p:nvPr/>
        </p:nvSpPr>
        <p:spPr>
          <a:xfrm>
            <a:off x="8503920" y="1600200"/>
            <a:ext cx="1554480" cy="4114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김도현 팀장</a:t>
            </a:r>
            <a:endParaRPr lang="en-US" sz="1400" dirty="0"/>
          </a:p>
        </p:txBody>
      </p:sp>
      <p:sp>
        <p:nvSpPr>
          <p:cNvPr id="24" name="pill_unknown"/>
          <p:cNvSpPr txBox="1"/>
          <p:nvPr/>
        </p:nvSpPr>
        <p:spPr>
          <a:xfrm>
            <a:off x="10149840" y="5120640"/>
            <a:ext cx="1188720" cy="4114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화자 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이런 점이 달라집니다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현재 회의록의 불편한 점과, 이번 고도화로 달라지는 점</a:t>
            </a:r>
            <a:endParaRPr lang="en-US" sz="1600" dirty="0"/>
          </a:p>
        </p:txBody>
      </p:sp>
      <p:sp>
        <p:nvSpPr>
          <p:cNvPr id="4" name="card0"/>
          <p:cNvSpPr/>
          <p:nvPr/>
        </p:nvSpPr>
        <p:spPr>
          <a:xfrm>
            <a:off x="548640" y="1783080"/>
            <a:ext cx="3511296" cy="434340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icon0_bg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con0" descr="icon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2208276"/>
            <a:ext cx="384048" cy="384048"/>
          </a:xfrm>
          <a:prstGeom prst="rect">
            <a:avLst/>
          </a:prstGeom>
        </p:spPr>
      </p:pic>
      <p:sp>
        <p:nvSpPr>
          <p:cNvPr id="7" name="card0_h"/>
          <p:cNvSpPr txBox="1"/>
          <p:nvPr/>
        </p:nvSpPr>
        <p:spPr>
          <a:xfrm>
            <a:off x="822960" y="288036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누가 말했는지 알 수 없어요</a:t>
            </a:r>
            <a:endParaRPr lang="en-US" sz="1800" dirty="0"/>
          </a:p>
        </p:txBody>
      </p:sp>
      <p:sp>
        <p:nvSpPr>
          <p:cNvPr id="8" name="card0_nowchip"/>
          <p:cNvSpPr txBox="1"/>
          <p:nvPr/>
        </p:nvSpPr>
        <p:spPr>
          <a:xfrm>
            <a:off x="822960" y="3657600"/>
            <a:ext cx="64008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지금</a:t>
            </a:r>
            <a:endParaRPr lang="en-US" sz="1200" dirty="0"/>
          </a:p>
        </p:txBody>
      </p:sp>
      <p:sp>
        <p:nvSpPr>
          <p:cNvPr id="9" name="card0_now"/>
          <p:cNvSpPr txBox="1"/>
          <p:nvPr/>
        </p:nvSpPr>
        <p:spPr>
          <a:xfrm>
            <a:off x="822960" y="399592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'화자 1', '화자 2'로만 표시되어 이름을 직접 찾아 붙여야 합니다</a:t>
            </a:r>
            <a:endParaRPr lang="en-US" sz="1400" dirty="0"/>
          </a:p>
        </p:txBody>
      </p:sp>
      <p:sp>
        <p:nvSpPr>
          <p:cNvPr id="10" name="card0_arrow"/>
          <p:cNvSpPr/>
          <p:nvPr/>
        </p:nvSpPr>
        <p:spPr>
          <a:xfrm rot="10800000">
            <a:off x="2185416" y="4800600"/>
            <a:ext cx="237744" cy="182880"/>
          </a:xfrm>
          <a:prstGeom prst="triangl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card0_afterbg"/>
          <p:cNvSpPr/>
          <p:nvPr/>
        </p:nvSpPr>
        <p:spPr>
          <a:xfrm>
            <a:off x="731520" y="5056632"/>
            <a:ext cx="3145536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card0_afterchip"/>
          <p:cNvSpPr txBox="1"/>
          <p:nvPr/>
        </p:nvSpPr>
        <p:spPr>
          <a:xfrm>
            <a:off x="868680" y="5129784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고도화 후</a:t>
            </a:r>
            <a:endParaRPr lang="en-US" sz="1100" dirty="0"/>
          </a:p>
        </p:txBody>
      </p:sp>
      <p:sp>
        <p:nvSpPr>
          <p:cNvPr id="13" name="card0_after"/>
          <p:cNvSpPr txBox="1"/>
          <p:nvPr/>
        </p:nvSpPr>
        <p:spPr>
          <a:xfrm>
            <a:off x="868680" y="541324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미리 등록한 목소리와 비교해 이름이 자동으로 표시됩니다</a:t>
            </a:r>
            <a:endParaRPr lang="en-US" sz="1400" dirty="0"/>
          </a:p>
        </p:txBody>
      </p:sp>
      <p:sp>
        <p:nvSpPr>
          <p:cNvPr id="14" name="card1"/>
          <p:cNvSpPr/>
          <p:nvPr/>
        </p:nvSpPr>
        <p:spPr>
          <a:xfrm>
            <a:off x="4338828" y="1783080"/>
            <a:ext cx="3511296" cy="434340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icon1_bg"/>
          <p:cNvSpPr/>
          <p:nvPr/>
        </p:nvSpPr>
        <p:spPr>
          <a:xfrm>
            <a:off x="4613148" y="2057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con1" descr="icon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208276"/>
            <a:ext cx="384048" cy="384048"/>
          </a:xfrm>
          <a:prstGeom prst="rect">
            <a:avLst/>
          </a:prstGeom>
        </p:spPr>
      </p:pic>
      <p:sp>
        <p:nvSpPr>
          <p:cNvPr id="17" name="card1_h"/>
          <p:cNvSpPr txBox="1"/>
          <p:nvPr/>
        </p:nvSpPr>
        <p:spPr>
          <a:xfrm>
            <a:off x="4613148" y="288036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전문 용어를 자주 틀려요</a:t>
            </a:r>
            <a:endParaRPr lang="en-US" sz="1800" dirty="0"/>
          </a:p>
        </p:txBody>
      </p:sp>
      <p:sp>
        <p:nvSpPr>
          <p:cNvPr id="18" name="card1_nowchip"/>
          <p:cNvSpPr txBox="1"/>
          <p:nvPr/>
        </p:nvSpPr>
        <p:spPr>
          <a:xfrm>
            <a:off x="4613148" y="3657600"/>
            <a:ext cx="64008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지금</a:t>
            </a:r>
            <a:endParaRPr lang="en-US" sz="1200" dirty="0"/>
          </a:p>
        </p:txBody>
      </p:sp>
      <p:sp>
        <p:nvSpPr>
          <p:cNvPr id="19" name="card1_now"/>
          <p:cNvSpPr txBox="1"/>
          <p:nvPr/>
        </p:nvSpPr>
        <p:spPr>
          <a:xfrm>
            <a:off x="4613148" y="399592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비슷하게 들리는 일반 단어로 잘못 적혀 매번 수정이 필요합니다</a:t>
            </a:r>
            <a:endParaRPr lang="en-US" sz="1400" dirty="0"/>
          </a:p>
        </p:txBody>
      </p:sp>
      <p:sp>
        <p:nvSpPr>
          <p:cNvPr id="20" name="card1_arrow"/>
          <p:cNvSpPr/>
          <p:nvPr/>
        </p:nvSpPr>
        <p:spPr>
          <a:xfrm rot="10800000">
            <a:off x="5975604" y="4800600"/>
            <a:ext cx="237744" cy="182880"/>
          </a:xfrm>
          <a:prstGeom prst="triangl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card1_afterbg"/>
          <p:cNvSpPr/>
          <p:nvPr/>
        </p:nvSpPr>
        <p:spPr>
          <a:xfrm>
            <a:off x="4521708" y="5056632"/>
            <a:ext cx="3145536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card1_afterchip"/>
          <p:cNvSpPr txBox="1"/>
          <p:nvPr/>
        </p:nvSpPr>
        <p:spPr>
          <a:xfrm>
            <a:off x="4658868" y="5129784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고도화 후</a:t>
            </a:r>
            <a:endParaRPr lang="en-US" sz="1100" dirty="0"/>
          </a:p>
        </p:txBody>
      </p:sp>
      <p:sp>
        <p:nvSpPr>
          <p:cNvPr id="23" name="card1_after"/>
          <p:cNvSpPr txBox="1"/>
          <p:nvPr/>
        </p:nvSpPr>
        <p:spPr>
          <a:xfrm>
            <a:off x="4658868" y="541324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회의 전 올린 자료의 용어를 미리 알려 줘서 정확도를 높입니다</a:t>
            </a:r>
            <a:endParaRPr lang="en-US" sz="1400" dirty="0"/>
          </a:p>
        </p:txBody>
      </p:sp>
      <p:sp>
        <p:nvSpPr>
          <p:cNvPr id="24" name="card2"/>
          <p:cNvSpPr/>
          <p:nvPr/>
        </p:nvSpPr>
        <p:spPr>
          <a:xfrm>
            <a:off x="8129016" y="1783080"/>
            <a:ext cx="3511296" cy="434340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icon2_bg"/>
          <p:cNvSpPr/>
          <p:nvPr/>
        </p:nvSpPr>
        <p:spPr>
          <a:xfrm>
            <a:off x="8403336" y="2057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con2" descr="icon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12" y="2208276"/>
            <a:ext cx="384048" cy="384048"/>
          </a:xfrm>
          <a:prstGeom prst="rect">
            <a:avLst/>
          </a:prstGeom>
        </p:spPr>
      </p:pic>
      <p:sp>
        <p:nvSpPr>
          <p:cNvPr id="27" name="card2_h"/>
          <p:cNvSpPr txBox="1"/>
          <p:nvPr/>
        </p:nvSpPr>
        <p:spPr>
          <a:xfrm>
            <a:off x="8403336" y="2880360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화면을 보며 한 말은 맥락이 빠져요</a:t>
            </a:r>
            <a:endParaRPr lang="en-US" sz="1800" dirty="0"/>
          </a:p>
        </p:txBody>
      </p:sp>
      <p:sp>
        <p:nvSpPr>
          <p:cNvPr id="28" name="card2_nowchip"/>
          <p:cNvSpPr txBox="1"/>
          <p:nvPr/>
        </p:nvSpPr>
        <p:spPr>
          <a:xfrm>
            <a:off x="8403336" y="3657600"/>
            <a:ext cx="64008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지금</a:t>
            </a:r>
            <a:endParaRPr lang="en-US" sz="1200" dirty="0"/>
          </a:p>
        </p:txBody>
      </p:sp>
      <p:sp>
        <p:nvSpPr>
          <p:cNvPr id="29" name="card2_now"/>
          <p:cNvSpPr txBox="1"/>
          <p:nvPr/>
        </p:nvSpPr>
        <p:spPr>
          <a:xfrm>
            <a:off x="8403336" y="3995928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'이거', '여기 수치'처럼 화면을 가리키는 말은 무슨 뜻인지 알 수 없습니다</a:t>
            </a:r>
            <a:endParaRPr lang="en-US" sz="1400" dirty="0"/>
          </a:p>
        </p:txBody>
      </p:sp>
      <p:sp>
        <p:nvSpPr>
          <p:cNvPr id="30" name="card2_arrow"/>
          <p:cNvSpPr/>
          <p:nvPr/>
        </p:nvSpPr>
        <p:spPr>
          <a:xfrm rot="10800000">
            <a:off x="9765792" y="4800600"/>
            <a:ext cx="237744" cy="182880"/>
          </a:xfrm>
          <a:prstGeom prst="triangl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card2_afterbg"/>
          <p:cNvSpPr/>
          <p:nvPr/>
        </p:nvSpPr>
        <p:spPr>
          <a:xfrm>
            <a:off x="8311896" y="5056632"/>
            <a:ext cx="3145536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card2_afterchip"/>
          <p:cNvSpPr txBox="1"/>
          <p:nvPr/>
        </p:nvSpPr>
        <p:spPr>
          <a:xfrm>
            <a:off x="8449056" y="5129784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고도화 후</a:t>
            </a:r>
            <a:endParaRPr lang="en-US" sz="1100" dirty="0"/>
          </a:p>
        </p:txBody>
      </p:sp>
      <p:sp>
        <p:nvSpPr>
          <p:cNvPr id="33" name="card2_after"/>
          <p:cNvSpPr txBox="1"/>
          <p:nvPr/>
        </p:nvSpPr>
        <p:spPr>
          <a:xfrm>
            <a:off x="8449056" y="5413248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회의 중 화면의 글자를 읽어 같은 시간의 발언 옆에 함께 보여 줍니다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① 화자 자동 인식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목소리를 한 번 등록하면 회의록에 이름이 자동으로 표시됩니다</a:t>
            </a:r>
            <a:endParaRPr lang="en-US" sz="1600" dirty="0"/>
          </a:p>
        </p:txBody>
      </p:sp>
      <p:sp>
        <p:nvSpPr>
          <p:cNvPr id="4" name="st3_0"/>
          <p:cNvSpPr/>
          <p:nvPr/>
        </p:nvSpPr>
        <p:spPr>
          <a:xfrm>
            <a:off x="548640" y="1783080"/>
            <a:ext cx="5029200" cy="1325880"/>
          </a:xfrm>
          <a:prstGeom prst="roundRect">
            <a:avLst>
              <a:gd name="adj" fmla="val 82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t3_0_rec"/>
          <p:cNvSpPr txBox="1"/>
          <p:nvPr/>
        </p:nvSpPr>
        <p:spPr>
          <a:xfrm>
            <a:off x="4846320" y="1984248"/>
            <a:ext cx="54864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권장</a:t>
            </a:r>
            <a:endParaRPr lang="en-US" sz="1200" dirty="0"/>
          </a:p>
        </p:txBody>
      </p:sp>
      <p:sp>
        <p:nvSpPr>
          <p:cNvPr id="6" name="st3_0_n"/>
          <p:cNvSpPr txBox="1"/>
          <p:nvPr/>
        </p:nvSpPr>
        <p:spPr>
          <a:xfrm>
            <a:off x="777240" y="21671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t3_0_h"/>
          <p:cNvSpPr txBox="1"/>
          <p:nvPr/>
        </p:nvSpPr>
        <p:spPr>
          <a:xfrm>
            <a:off x="155448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목소리 등록 (최초 1회)</a:t>
            </a:r>
            <a:endParaRPr lang="en-US" sz="1800" dirty="0"/>
          </a:p>
        </p:txBody>
      </p:sp>
      <p:sp>
        <p:nvSpPr>
          <p:cNvPr id="8" name="st3_0_d"/>
          <p:cNvSpPr txBox="1"/>
          <p:nvPr/>
        </p:nvSpPr>
        <p:spPr>
          <a:xfrm>
            <a:off x="1554480" y="2423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본인 스마트폰 앱에서 동의 후 10~30초 정도 말씀하시면 등록됩니다</a:t>
            </a:r>
            <a:endParaRPr lang="en-US" sz="1400" dirty="0"/>
          </a:p>
        </p:txBody>
      </p:sp>
      <p:sp>
        <p:nvSpPr>
          <p:cNvPr id="9" name="st3_1"/>
          <p:cNvSpPr/>
          <p:nvPr/>
        </p:nvSpPr>
        <p:spPr>
          <a:xfrm>
            <a:off x="548640" y="3291840"/>
            <a:ext cx="5029200" cy="1325880"/>
          </a:xfrm>
          <a:prstGeom prst="roundRect">
            <a:avLst>
              <a:gd name="adj" fmla="val 827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t3_1_rec"/>
          <p:cNvSpPr txBox="1"/>
          <p:nvPr/>
        </p:nvSpPr>
        <p:spPr>
          <a:xfrm>
            <a:off x="4846320" y="3493008"/>
            <a:ext cx="54864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권장</a:t>
            </a:r>
            <a:endParaRPr lang="en-US" sz="1200" dirty="0"/>
          </a:p>
        </p:txBody>
      </p:sp>
      <p:sp>
        <p:nvSpPr>
          <p:cNvPr id="11" name="st3_1_n"/>
          <p:cNvSpPr txBox="1"/>
          <p:nvPr/>
        </p:nvSpPr>
        <p:spPr>
          <a:xfrm>
            <a:off x="777240" y="3675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t3_1_h"/>
          <p:cNvSpPr txBox="1"/>
          <p:nvPr/>
        </p:nvSpPr>
        <p:spPr>
          <a:xfrm>
            <a:off x="155448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같은 스마트폰으로 회의 녹음</a:t>
            </a:r>
            <a:endParaRPr lang="en-US" sz="1800" dirty="0"/>
          </a:p>
        </p:txBody>
      </p:sp>
      <p:sp>
        <p:nvSpPr>
          <p:cNvPr id="13" name="st3_1_d"/>
          <p:cNvSpPr txBox="1"/>
          <p:nvPr/>
        </p:nvSpPr>
        <p:spPr>
          <a:xfrm>
            <a:off x="155448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등록한 스마트폰 앱으로 녹음하면 이름 인식이 더 정확해집니다</a:t>
            </a:r>
            <a:endParaRPr lang="en-US" sz="1400" dirty="0"/>
          </a:p>
        </p:txBody>
      </p:sp>
      <p:sp>
        <p:nvSpPr>
          <p:cNvPr id="14" name="st3_2"/>
          <p:cNvSpPr/>
          <p:nvPr/>
        </p:nvSpPr>
        <p:spPr>
          <a:xfrm>
            <a:off x="548640" y="4800600"/>
            <a:ext cx="50292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t3_2_n"/>
          <p:cNvSpPr txBox="1"/>
          <p:nvPr/>
        </p:nvSpPr>
        <p:spPr>
          <a:xfrm>
            <a:off x="777240" y="518464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t3_2_h"/>
          <p:cNvSpPr txBox="1"/>
          <p:nvPr/>
        </p:nvSpPr>
        <p:spPr>
          <a:xfrm>
            <a:off x="1554480" y="4983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</a:rPr>
              <a:t>이름이 자동으로 표시</a:t>
            </a:r>
            <a:endParaRPr lang="en-US" sz="1800" dirty="0"/>
          </a:p>
        </p:txBody>
      </p:sp>
      <p:sp>
        <p:nvSpPr>
          <p:cNvPr id="17" name="st3_2_d"/>
          <p:cNvSpPr txBox="1"/>
          <p:nvPr/>
        </p:nvSpPr>
        <p:spPr>
          <a:xfrm>
            <a:off x="1554480" y="5440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등록된 목소리와 비교해 이름을 붙이고, 미등록자는 '화자 N'으로 둡니다</a:t>
            </a:r>
            <a:endParaRPr lang="en-US" sz="1400" dirty="0"/>
          </a:p>
        </p:txBody>
      </p:sp>
      <p:sp>
        <p:nvSpPr>
          <p:cNvPr id="18" name="pn3_0"/>
          <p:cNvSpPr/>
          <p:nvPr/>
        </p:nvSpPr>
        <p:spPr>
          <a:xfrm>
            <a:off x="5852160" y="1783080"/>
            <a:ext cx="578815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pn3_0_chip"/>
          <p:cNvSpPr txBox="1"/>
          <p:nvPr/>
        </p:nvSpPr>
        <p:spPr>
          <a:xfrm>
            <a:off x="6080760" y="1965960"/>
            <a:ext cx="64008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지금</a:t>
            </a:r>
            <a:endParaRPr lang="en-US" sz="1200" dirty="0"/>
          </a:p>
        </p:txBody>
      </p:sp>
      <p:sp>
        <p:nvSpPr>
          <p:cNvPr id="20" name="pn3_0_ex"/>
          <p:cNvSpPr txBox="1"/>
          <p:nvPr/>
        </p:nvSpPr>
        <p:spPr>
          <a:xfrm>
            <a:off x="10515600" y="1965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예시 화면</a:t>
            </a:r>
            <a:endParaRPr lang="en-US" sz="1200" dirty="0"/>
          </a:p>
        </p:txBody>
      </p:sp>
      <p:sp>
        <p:nvSpPr>
          <p:cNvPr id="21" name="pn3_0_0_pill"/>
          <p:cNvSpPr txBox="1"/>
          <p:nvPr/>
        </p:nvSpPr>
        <p:spPr>
          <a:xfrm>
            <a:off x="6080760" y="2441448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화자 1</a:t>
            </a:r>
            <a:endParaRPr lang="en-US" sz="1200" dirty="0"/>
          </a:p>
        </p:txBody>
      </p:sp>
      <p:sp>
        <p:nvSpPr>
          <p:cNvPr id="22" name="pn3_0_0_t"/>
          <p:cNvSpPr txBox="1"/>
          <p:nvPr/>
        </p:nvSpPr>
        <p:spPr>
          <a:xfrm>
            <a:off x="7726680" y="24414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이번 분기 수율 개선안을 공유드립니다</a:t>
            </a:r>
            <a:endParaRPr lang="en-US" sz="1400" dirty="0"/>
          </a:p>
        </p:txBody>
      </p:sp>
      <p:sp>
        <p:nvSpPr>
          <p:cNvPr id="23" name="pn3_0_1_pill"/>
          <p:cNvSpPr txBox="1"/>
          <p:nvPr/>
        </p:nvSpPr>
        <p:spPr>
          <a:xfrm>
            <a:off x="6080760" y="2916936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화자 2</a:t>
            </a:r>
            <a:endParaRPr lang="en-US" sz="1200" dirty="0"/>
          </a:p>
        </p:txBody>
      </p:sp>
      <p:sp>
        <p:nvSpPr>
          <p:cNvPr id="24" name="pn3_0_1_t"/>
          <p:cNvSpPr txBox="1"/>
          <p:nvPr/>
        </p:nvSpPr>
        <p:spPr>
          <a:xfrm>
            <a:off x="7726680" y="29169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일정은 다음 주까지 확정할까요?</a:t>
            </a:r>
            <a:endParaRPr lang="en-US" sz="1400" dirty="0"/>
          </a:p>
        </p:txBody>
      </p:sp>
      <p:sp>
        <p:nvSpPr>
          <p:cNvPr id="25" name="pn3_0_2_pill"/>
          <p:cNvSpPr txBox="1"/>
          <p:nvPr/>
        </p:nvSpPr>
        <p:spPr>
          <a:xfrm>
            <a:off x="6080760" y="3392424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화자 3</a:t>
            </a:r>
            <a:endParaRPr lang="en-US" sz="1200" dirty="0"/>
          </a:p>
        </p:txBody>
      </p:sp>
      <p:sp>
        <p:nvSpPr>
          <p:cNvPr id="26" name="pn3_0_2_t"/>
          <p:cNvSpPr txBox="1"/>
          <p:nvPr/>
        </p:nvSpPr>
        <p:spPr>
          <a:xfrm>
            <a:off x="7726680" y="339242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네, 확인 후 회신드리겠습니다</a:t>
            </a:r>
            <a:endParaRPr lang="en-US" sz="1400" dirty="0"/>
          </a:p>
        </p:txBody>
      </p:sp>
      <p:sp>
        <p:nvSpPr>
          <p:cNvPr id="27" name="pn3_1"/>
          <p:cNvSpPr/>
          <p:nvPr/>
        </p:nvSpPr>
        <p:spPr>
          <a:xfrm>
            <a:off x="5852160" y="4023360"/>
            <a:ext cx="5788152" cy="2103120"/>
          </a:xfrm>
          <a:prstGeom prst="roundRect">
            <a:avLst>
              <a:gd name="adj" fmla="val 521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pn3_1_chip"/>
          <p:cNvSpPr txBox="1"/>
          <p:nvPr/>
        </p:nvSpPr>
        <p:spPr>
          <a:xfrm>
            <a:off x="6080760" y="420624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고도화 후</a:t>
            </a:r>
            <a:endParaRPr lang="en-US" sz="1200" dirty="0"/>
          </a:p>
        </p:txBody>
      </p:sp>
      <p:sp>
        <p:nvSpPr>
          <p:cNvPr id="29" name="pn3_1_ex"/>
          <p:cNvSpPr txBox="1"/>
          <p:nvPr/>
        </p:nvSpPr>
        <p:spPr>
          <a:xfrm>
            <a:off x="10515600" y="4206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예시 화면</a:t>
            </a:r>
            <a:endParaRPr lang="en-US" sz="1200" dirty="0"/>
          </a:p>
        </p:txBody>
      </p:sp>
      <p:sp>
        <p:nvSpPr>
          <p:cNvPr id="30" name="pn3_1_0_pill"/>
          <p:cNvSpPr txBox="1"/>
          <p:nvPr/>
        </p:nvSpPr>
        <p:spPr>
          <a:xfrm>
            <a:off x="6080760" y="4681728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김도현 팀장</a:t>
            </a:r>
            <a:endParaRPr lang="en-US" sz="1200" dirty="0"/>
          </a:p>
        </p:txBody>
      </p:sp>
      <p:sp>
        <p:nvSpPr>
          <p:cNvPr id="31" name="pn3_1_0_t"/>
          <p:cNvSpPr txBox="1"/>
          <p:nvPr/>
        </p:nvSpPr>
        <p:spPr>
          <a:xfrm>
            <a:off x="7726680" y="46817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이번 분기 수율 개선안을 공유드립니다</a:t>
            </a:r>
            <a:endParaRPr lang="en-US" sz="1400" dirty="0"/>
          </a:p>
        </p:txBody>
      </p:sp>
      <p:sp>
        <p:nvSpPr>
          <p:cNvPr id="32" name="pn3_1_1_pill"/>
          <p:cNvSpPr txBox="1"/>
          <p:nvPr/>
        </p:nvSpPr>
        <p:spPr>
          <a:xfrm>
            <a:off x="6080760" y="5157216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이서연 책임</a:t>
            </a:r>
            <a:endParaRPr lang="en-US" sz="1200" dirty="0"/>
          </a:p>
        </p:txBody>
      </p:sp>
      <p:sp>
        <p:nvSpPr>
          <p:cNvPr id="33" name="pn3_1_1_t"/>
          <p:cNvSpPr txBox="1"/>
          <p:nvPr/>
        </p:nvSpPr>
        <p:spPr>
          <a:xfrm>
            <a:off x="7726680" y="51572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일정은 다음 주까지 확정할까요?</a:t>
            </a:r>
            <a:endParaRPr lang="en-US" sz="1400" dirty="0"/>
          </a:p>
        </p:txBody>
      </p:sp>
      <p:sp>
        <p:nvSpPr>
          <p:cNvPr id="34" name="pn3_1_2_pill"/>
          <p:cNvSpPr txBox="1"/>
          <p:nvPr/>
        </p:nvSpPr>
        <p:spPr>
          <a:xfrm>
            <a:off x="6080760" y="5632704"/>
            <a:ext cx="146304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화자 3</a:t>
            </a:r>
            <a:endParaRPr lang="en-US" sz="1200" dirty="0"/>
          </a:p>
        </p:txBody>
      </p:sp>
      <p:sp>
        <p:nvSpPr>
          <p:cNvPr id="35" name="pn3_1_2_t"/>
          <p:cNvSpPr txBox="1"/>
          <p:nvPr/>
        </p:nvSpPr>
        <p:spPr>
          <a:xfrm>
            <a:off x="7726680" y="563270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네, 확인 후 회신드리겠습니다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② 회의 전 자료로 용어 정확도 향상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회의 전에 올린 자료가 음성 인식과 요약에 반영됩니다</a:t>
            </a:r>
            <a:endParaRPr lang="en-US" sz="1600" dirty="0"/>
          </a:p>
        </p:txBody>
      </p:sp>
      <p:sp>
        <p:nvSpPr>
          <p:cNvPr id="4" name="st4_0"/>
          <p:cNvSpPr/>
          <p:nvPr/>
        </p:nvSpPr>
        <p:spPr>
          <a:xfrm>
            <a:off x="548640" y="178308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t4_0_n"/>
          <p:cNvSpPr txBox="1"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4_0_h"/>
          <p:cNvSpPr txBox="1"/>
          <p:nvPr/>
        </p:nvSpPr>
        <p:spPr>
          <a:xfrm>
            <a:off x="7772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 전 자료 첨부</a:t>
            </a:r>
            <a:endParaRPr lang="en-US" sz="1600" dirty="0"/>
          </a:p>
        </p:txBody>
      </p:sp>
      <p:sp>
        <p:nvSpPr>
          <p:cNvPr id="7" name="st4_0_d"/>
          <p:cNvSpPr txBox="1"/>
          <p:nvPr/>
        </p:nvSpPr>
        <p:spPr>
          <a:xfrm>
            <a:off x="777240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PDF·PPT 파일을 회의록 사이트에 올립니다</a:t>
            </a:r>
            <a:endParaRPr lang="en-US" sz="1400" dirty="0"/>
          </a:p>
        </p:txBody>
      </p:sp>
      <p:sp>
        <p:nvSpPr>
          <p:cNvPr id="8" name="st4_0_tag"/>
          <p:cNvSpPr txBox="1"/>
          <p:nvPr/>
        </p:nvSpPr>
        <p:spPr>
          <a:xfrm>
            <a:off x="2331720" y="20574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신규</a:t>
            </a:r>
            <a:endParaRPr lang="en-US" sz="1100" dirty="0"/>
          </a:p>
        </p:txBody>
      </p:sp>
      <p:sp>
        <p:nvSpPr>
          <p:cNvPr id="9" name="st4_0_arr"/>
          <p:cNvSpPr/>
          <p:nvPr/>
        </p:nvSpPr>
        <p:spPr>
          <a:xfrm rot="5400000">
            <a:off x="3159252" y="2834640"/>
            <a:ext cx="182880" cy="182880"/>
          </a:xfrm>
          <a:prstGeom prst="triangl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t4_1"/>
          <p:cNvSpPr/>
          <p:nvPr/>
        </p:nvSpPr>
        <p:spPr>
          <a:xfrm>
            <a:off x="3392424" y="178308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t4_1_n"/>
          <p:cNvSpPr txBox="1"/>
          <p:nvPr/>
        </p:nvSpPr>
        <p:spPr>
          <a:xfrm>
            <a:off x="3621024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t4_1_h"/>
          <p:cNvSpPr txBox="1"/>
          <p:nvPr/>
        </p:nvSpPr>
        <p:spPr>
          <a:xfrm>
            <a:off x="3621024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키워드 자동 추출</a:t>
            </a:r>
            <a:endParaRPr lang="en-US" sz="1600" dirty="0"/>
          </a:p>
        </p:txBody>
      </p:sp>
      <p:sp>
        <p:nvSpPr>
          <p:cNvPr id="13" name="st4_1_d"/>
          <p:cNvSpPr txBox="1"/>
          <p:nvPr/>
        </p:nvSpPr>
        <p:spPr>
          <a:xfrm>
            <a:off x="3621024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문서에서 중요한 전문 용어를 자동으로 뽑습니다</a:t>
            </a:r>
            <a:endParaRPr lang="en-US" sz="1400" dirty="0"/>
          </a:p>
        </p:txBody>
      </p:sp>
      <p:sp>
        <p:nvSpPr>
          <p:cNvPr id="14" name="st4_1_tag"/>
          <p:cNvSpPr txBox="1"/>
          <p:nvPr/>
        </p:nvSpPr>
        <p:spPr>
          <a:xfrm>
            <a:off x="5175504" y="20574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신규</a:t>
            </a:r>
            <a:endParaRPr lang="en-US" sz="1100" dirty="0"/>
          </a:p>
        </p:txBody>
      </p:sp>
      <p:sp>
        <p:nvSpPr>
          <p:cNvPr id="15" name="st4_1_arr"/>
          <p:cNvSpPr/>
          <p:nvPr/>
        </p:nvSpPr>
        <p:spPr>
          <a:xfrm rot="5400000">
            <a:off x="6003036" y="2834640"/>
            <a:ext cx="182880" cy="182880"/>
          </a:xfrm>
          <a:prstGeom prst="triangl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t4_2"/>
          <p:cNvSpPr/>
          <p:nvPr/>
        </p:nvSpPr>
        <p:spPr>
          <a:xfrm>
            <a:off x="6236208" y="178308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t4_2_n"/>
          <p:cNvSpPr txBox="1"/>
          <p:nvPr/>
        </p:nvSpPr>
        <p:spPr>
          <a:xfrm>
            <a:off x="6464808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t4_2_h"/>
          <p:cNvSpPr txBox="1"/>
          <p:nvPr/>
        </p:nvSpPr>
        <p:spPr>
          <a:xfrm>
            <a:off x="6464808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음성 인식에 함께 전달</a:t>
            </a:r>
            <a:endParaRPr lang="en-US" sz="1600" dirty="0"/>
          </a:p>
        </p:txBody>
      </p:sp>
      <p:sp>
        <p:nvSpPr>
          <p:cNvPr id="19" name="st4_2_d"/>
          <p:cNvSpPr txBox="1"/>
          <p:nvPr/>
        </p:nvSpPr>
        <p:spPr>
          <a:xfrm>
            <a:off x="6464808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기존 키워드 기능으로 용어를 STT에 함께 보냅니다</a:t>
            </a:r>
            <a:endParaRPr lang="en-US" sz="1400" dirty="0"/>
          </a:p>
        </p:txBody>
      </p:sp>
      <p:sp>
        <p:nvSpPr>
          <p:cNvPr id="20" name="st4_2_tag"/>
          <p:cNvSpPr txBox="1"/>
          <p:nvPr/>
        </p:nvSpPr>
        <p:spPr>
          <a:xfrm>
            <a:off x="8019288" y="20574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기존</a:t>
            </a:r>
            <a:endParaRPr lang="en-US" sz="1100" dirty="0"/>
          </a:p>
        </p:txBody>
      </p:sp>
      <p:sp>
        <p:nvSpPr>
          <p:cNvPr id="21" name="st4_2_arr"/>
          <p:cNvSpPr/>
          <p:nvPr/>
        </p:nvSpPr>
        <p:spPr>
          <a:xfrm rot="5400000">
            <a:off x="8846820" y="2834640"/>
            <a:ext cx="182880" cy="182880"/>
          </a:xfrm>
          <a:prstGeom prst="triangl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t4_3"/>
          <p:cNvSpPr/>
          <p:nvPr/>
        </p:nvSpPr>
        <p:spPr>
          <a:xfrm>
            <a:off x="9079992" y="178308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t4_3_n"/>
          <p:cNvSpPr txBox="1"/>
          <p:nvPr/>
        </p:nvSpPr>
        <p:spPr>
          <a:xfrm>
            <a:off x="9308592" y="1984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t4_3_h"/>
          <p:cNvSpPr txBox="1"/>
          <p:nvPr/>
        </p:nvSpPr>
        <p:spPr>
          <a:xfrm>
            <a:off x="9308592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요약에 문서 내용 반영</a:t>
            </a:r>
            <a:endParaRPr lang="en-US" sz="1600" dirty="0"/>
          </a:p>
        </p:txBody>
      </p:sp>
      <p:sp>
        <p:nvSpPr>
          <p:cNvPr id="25" name="st4_3_d"/>
          <p:cNvSpPr txBox="1"/>
          <p:nvPr/>
        </p:nvSpPr>
        <p:spPr>
          <a:xfrm>
            <a:off x="9308592" y="3017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문서 내용을 반영해 회의록을 정리합니다</a:t>
            </a:r>
            <a:endParaRPr lang="en-US" sz="1400" dirty="0"/>
          </a:p>
        </p:txBody>
      </p:sp>
      <p:sp>
        <p:nvSpPr>
          <p:cNvPr id="26" name="st4_3_tag"/>
          <p:cNvSpPr txBox="1"/>
          <p:nvPr/>
        </p:nvSpPr>
        <p:spPr>
          <a:xfrm>
            <a:off x="10863072" y="20574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기존</a:t>
            </a:r>
            <a:endParaRPr lang="en-US" sz="1100" dirty="0"/>
          </a:p>
        </p:txBody>
      </p:sp>
      <p:sp>
        <p:nvSpPr>
          <p:cNvPr id="27" name="ex4_0"/>
          <p:cNvSpPr/>
          <p:nvPr/>
        </p:nvSpPr>
        <p:spPr>
          <a:xfrm>
            <a:off x="548640" y="4343400"/>
            <a:ext cx="540867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ex4_0_chip"/>
          <p:cNvSpPr txBox="1"/>
          <p:nvPr/>
        </p:nvSpPr>
        <p:spPr>
          <a:xfrm>
            <a:off x="822960" y="4526280"/>
            <a:ext cx="64008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지금</a:t>
            </a:r>
            <a:endParaRPr lang="en-US" sz="1200" dirty="0"/>
          </a:p>
        </p:txBody>
      </p:sp>
      <p:sp>
        <p:nvSpPr>
          <p:cNvPr id="29" name="ex4_0_lbl"/>
          <p:cNvSpPr txBox="1"/>
          <p:nvPr/>
        </p:nvSpPr>
        <p:spPr>
          <a:xfrm>
            <a:off x="4663440" y="4526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예시 문장</a:t>
            </a:r>
            <a:endParaRPr lang="en-US" sz="1200" dirty="0"/>
          </a:p>
        </p:txBody>
      </p:sp>
      <p:sp>
        <p:nvSpPr>
          <p:cNvPr id="30" name="ex4_0_t"/>
          <p:cNvSpPr txBox="1"/>
          <p:nvPr/>
        </p:nvSpPr>
        <p:spPr>
          <a:xfrm>
            <a:off x="822960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이번 </a:t>
            </a:r>
            <a:r>
              <a:rPr lang="en-US" sz="1800" b="1" dirty="0">
                <a:solidFill>
                  <a:schemeClr val="accent4"/>
                </a:solidFill>
              </a:rPr>
              <a:t>시각</a:t>
            </a:r>
            <a:r>
              <a:rPr lang="en-US" sz="1800" dirty="0">
                <a:solidFill>
                  <a:schemeClr val="tx1"/>
                </a:solidFill>
              </a:rPr>
              <a:t> 공정에서 </a:t>
            </a:r>
            <a:r>
              <a:rPr lang="en-US" sz="1800" b="1" dirty="0">
                <a:solidFill>
                  <a:schemeClr val="accent4"/>
                </a:solidFill>
              </a:rPr>
              <a:t>이유브이</a:t>
            </a:r>
            <a:r>
              <a:rPr lang="en-US" sz="1800" dirty="0">
                <a:solidFill>
                  <a:schemeClr val="tx1"/>
                </a:solidFill>
              </a:rPr>
              <a:t> 노광 수율이 높아졌습니다</a:t>
            </a:r>
            <a:endParaRPr lang="en-US" sz="1800" dirty="0"/>
          </a:p>
        </p:txBody>
      </p:sp>
      <p:sp>
        <p:nvSpPr>
          <p:cNvPr id="31" name="ex4_1"/>
          <p:cNvSpPr/>
          <p:nvPr/>
        </p:nvSpPr>
        <p:spPr>
          <a:xfrm>
            <a:off x="6231636" y="4343400"/>
            <a:ext cx="5408676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ex4_1_chip"/>
          <p:cNvSpPr txBox="1"/>
          <p:nvPr/>
        </p:nvSpPr>
        <p:spPr>
          <a:xfrm>
            <a:off x="6505956" y="4526280"/>
            <a:ext cx="91440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고도화 후</a:t>
            </a:r>
            <a:endParaRPr lang="en-US" sz="1200" dirty="0"/>
          </a:p>
        </p:txBody>
      </p:sp>
      <p:sp>
        <p:nvSpPr>
          <p:cNvPr id="33" name="ex4_1_lbl"/>
          <p:cNvSpPr txBox="1"/>
          <p:nvPr/>
        </p:nvSpPr>
        <p:spPr>
          <a:xfrm>
            <a:off x="10346436" y="4526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예시 문장</a:t>
            </a:r>
            <a:endParaRPr lang="en-US" sz="1200" dirty="0"/>
          </a:p>
        </p:txBody>
      </p:sp>
      <p:sp>
        <p:nvSpPr>
          <p:cNvPr id="34" name="ex4_1_t"/>
          <p:cNvSpPr txBox="1"/>
          <p:nvPr/>
        </p:nvSpPr>
        <p:spPr>
          <a:xfrm>
            <a:off x="6505956" y="4983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이번 </a:t>
            </a:r>
            <a:r>
              <a:rPr lang="en-US" sz="1800" b="1" dirty="0">
                <a:solidFill>
                  <a:schemeClr val="accent1"/>
                </a:solidFill>
              </a:rPr>
              <a:t>식각</a:t>
            </a:r>
            <a:r>
              <a:rPr lang="en-US" sz="1800" dirty="0">
                <a:solidFill>
                  <a:schemeClr val="tx1"/>
                </a:solidFill>
              </a:rPr>
              <a:t> 공정에서 </a:t>
            </a:r>
            <a:r>
              <a:rPr lang="en-US" sz="1800" b="1" dirty="0">
                <a:solidFill>
                  <a:schemeClr val="accent1"/>
                </a:solidFill>
              </a:rPr>
              <a:t>EUV</a:t>
            </a:r>
            <a:r>
              <a:rPr lang="en-US" sz="1800" dirty="0">
                <a:solidFill>
                  <a:schemeClr val="tx1"/>
                </a:solidFill>
              </a:rPr>
              <a:t> 노광 수율이 높아졌습니다</a:t>
            </a:r>
            <a:endParaRPr lang="en-US" sz="1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③ 회의 중 화면을 회의록에 연결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회의 중 화면을 시각과 함께 저장해 두었다가, 회의 후 발언 시각과 맞춰 붙입니다</a:t>
            </a:r>
            <a:endParaRPr lang="en-US" sz="1600" dirty="0"/>
          </a:p>
        </p:txBody>
      </p:sp>
      <p:sp>
        <p:nvSpPr>
          <p:cNvPr id="4" name="st5_0"/>
          <p:cNvSpPr/>
          <p:nvPr/>
        </p:nvSpPr>
        <p:spPr>
          <a:xfrm>
            <a:off x="548640" y="178308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t5_0_n"/>
          <p:cNvSpPr txBox="1"/>
          <p:nvPr/>
        </p:nvSpPr>
        <p:spPr>
          <a:xfrm>
            <a:off x="731520" y="20299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5_0_h"/>
          <p:cNvSpPr txBox="1"/>
          <p:nvPr/>
        </p:nvSpPr>
        <p:spPr>
          <a:xfrm>
            <a:off x="1371600" y="1874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회의록 사이트에서 화면 공유</a:t>
            </a:r>
            <a:endParaRPr lang="en-US" sz="1600" dirty="0"/>
          </a:p>
        </p:txBody>
      </p:sp>
      <p:sp>
        <p:nvSpPr>
          <p:cNvPr id="7" name="st5_0_d"/>
          <p:cNvSpPr txBox="1"/>
          <p:nvPr/>
        </p:nvSpPr>
        <p:spPr>
          <a:xfrm>
            <a:off x="1371600" y="22128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공유를 허용하면 사이트가 화면을 시각과 함께 저장합니다</a:t>
            </a:r>
            <a:endParaRPr lang="en-US" sz="1300" dirty="0"/>
          </a:p>
        </p:txBody>
      </p:sp>
      <p:sp>
        <p:nvSpPr>
          <p:cNvPr id="8" name="st5_1"/>
          <p:cNvSpPr/>
          <p:nvPr/>
        </p:nvSpPr>
        <p:spPr>
          <a:xfrm>
            <a:off x="548640" y="288036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t5_1_n"/>
          <p:cNvSpPr txBox="1"/>
          <p:nvPr/>
        </p:nvSpPr>
        <p:spPr>
          <a:xfrm>
            <a:off x="731520" y="3127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t5_1_h"/>
          <p:cNvSpPr txBox="1"/>
          <p:nvPr/>
        </p:nvSpPr>
        <p:spPr>
          <a:xfrm>
            <a:off x="1371600" y="29718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화면 속 글자를 읽습니다</a:t>
            </a:r>
            <a:endParaRPr lang="en-US" sz="1600" dirty="0"/>
          </a:p>
        </p:txBody>
      </p:sp>
      <p:sp>
        <p:nvSpPr>
          <p:cNvPr id="11" name="st5_1_d"/>
          <p:cNvSpPr txBox="1"/>
          <p:nvPr/>
        </p:nvSpPr>
        <p:spPr>
          <a:xfrm>
            <a:off x="1371600" y="33101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OCR 또는 화면 이해 AI로 글자를 뽑습니다 (방식 검토 중)</a:t>
            </a:r>
            <a:endParaRPr lang="en-US" sz="1300" dirty="0"/>
          </a:p>
        </p:txBody>
      </p:sp>
      <p:sp>
        <p:nvSpPr>
          <p:cNvPr id="12" name="st5_2"/>
          <p:cNvSpPr/>
          <p:nvPr/>
        </p:nvSpPr>
        <p:spPr>
          <a:xfrm>
            <a:off x="548640" y="397764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t5_2_n"/>
          <p:cNvSpPr txBox="1"/>
          <p:nvPr/>
        </p:nvSpPr>
        <p:spPr>
          <a:xfrm>
            <a:off x="731520" y="4224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t5_2_h"/>
          <p:cNvSpPr txBox="1"/>
          <p:nvPr/>
        </p:nvSpPr>
        <p:spPr>
          <a:xfrm>
            <a:off x="1371600" y="4069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발언 시각에 맞춰 표시</a:t>
            </a:r>
            <a:endParaRPr lang="en-US" sz="1600" dirty="0"/>
          </a:p>
        </p:txBody>
      </p:sp>
      <p:sp>
        <p:nvSpPr>
          <p:cNvPr id="15" name="st5_2_d"/>
          <p:cNvSpPr txBox="1"/>
          <p:nvPr/>
        </p:nvSpPr>
        <p:spPr>
          <a:xfrm>
            <a:off x="1371600" y="44074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화면 저장 시각과 발언 시각을 맞춰 옆에 붙여 줍니다</a:t>
            </a:r>
            <a:endParaRPr lang="en-US" sz="1300" dirty="0"/>
          </a:p>
        </p:txBody>
      </p:sp>
      <p:sp>
        <p:nvSpPr>
          <p:cNvPr id="16" name="st5_3"/>
          <p:cNvSpPr/>
          <p:nvPr/>
        </p:nvSpPr>
        <p:spPr>
          <a:xfrm>
            <a:off x="548640" y="5074920"/>
            <a:ext cx="457200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t5_3_n"/>
          <p:cNvSpPr txBox="1"/>
          <p:nvPr/>
        </p:nvSpPr>
        <p:spPr>
          <a:xfrm>
            <a:off x="731520" y="5321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t5_3_h"/>
          <p:cNvSpPr txBox="1"/>
          <p:nvPr/>
        </p:nvSpPr>
        <p:spPr>
          <a:xfrm>
            <a:off x="1371600" y="5166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 후 용어 보정</a:t>
            </a:r>
            <a:endParaRPr lang="en-US" sz="1600" dirty="0"/>
          </a:p>
        </p:txBody>
      </p:sp>
      <p:sp>
        <p:nvSpPr>
          <p:cNvPr id="19" name="st5_3_d"/>
          <p:cNvSpPr txBox="1"/>
          <p:nvPr/>
        </p:nvSpPr>
        <p:spPr>
          <a:xfrm>
            <a:off x="1371600" y="55046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화면에 나온 용어로 잘못 인식된 말을 고칩니다</a:t>
            </a:r>
            <a:endParaRPr lang="en-US" sz="1300" dirty="0"/>
          </a:p>
        </p:txBody>
      </p:sp>
      <p:sp>
        <p:nvSpPr>
          <p:cNvPr id="20" name="pn5"/>
          <p:cNvSpPr/>
          <p:nvPr/>
        </p:nvSpPr>
        <p:spPr>
          <a:xfrm>
            <a:off x="5394960" y="1783080"/>
            <a:ext cx="6245352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pn5_h"/>
          <p:cNvSpPr txBox="1"/>
          <p:nvPr/>
        </p:nvSpPr>
        <p:spPr>
          <a:xfrm>
            <a:off x="562356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회의록 타임라인</a:t>
            </a:r>
            <a:endParaRPr lang="en-US" sz="1600" dirty="0"/>
          </a:p>
        </p:txBody>
      </p:sp>
      <p:sp>
        <p:nvSpPr>
          <p:cNvPr id="22" name="pn5_ex"/>
          <p:cNvSpPr txBox="1"/>
          <p:nvPr/>
        </p:nvSpPr>
        <p:spPr>
          <a:xfrm>
            <a:off x="10515600" y="1938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예시 화면</a:t>
            </a:r>
            <a:endParaRPr lang="en-US" sz="1200" dirty="0"/>
          </a:p>
        </p:txBody>
      </p:sp>
      <p:sp>
        <p:nvSpPr>
          <p:cNvPr id="23" name="tl0"/>
          <p:cNvSpPr/>
          <p:nvPr/>
        </p:nvSpPr>
        <p:spPr>
          <a:xfrm>
            <a:off x="5532120" y="2468880"/>
            <a:ext cx="597103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l0_time"/>
          <p:cNvSpPr txBox="1"/>
          <p:nvPr/>
        </p:nvSpPr>
        <p:spPr>
          <a:xfrm>
            <a:off x="5669280" y="2871216"/>
            <a:ext cx="7315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10:32</a:t>
            </a:r>
            <a:endParaRPr lang="en-US" sz="1200" dirty="0"/>
          </a:p>
        </p:txBody>
      </p:sp>
      <p:sp>
        <p:nvSpPr>
          <p:cNvPr id="25" name="tl0_scr"/>
          <p:cNvSpPr/>
          <p:nvPr/>
        </p:nvSpPr>
        <p:spPr>
          <a:xfrm>
            <a:off x="6537960" y="2578608"/>
            <a:ext cx="2240280" cy="877824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l0_scr_t"/>
          <p:cNvSpPr txBox="1"/>
          <p:nvPr/>
        </p:nvSpPr>
        <p:spPr>
          <a:xfrm>
            <a:off x="6647688" y="2615184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화면  </a:t>
            </a:r>
            <a:r>
              <a:rPr lang="en-US" sz="1200" b="1" dirty="0">
                <a:solidFill>
                  <a:schemeClr val="tx1"/>
                </a:solidFill>
              </a:rPr>
              <a:t>3페이지 · 수율 추이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1분기 92% → 2분기 88%</a:t>
            </a:r>
            <a:endParaRPr lang="en-US" sz="1200" dirty="0"/>
          </a:p>
        </p:txBody>
      </p:sp>
      <p:sp>
        <p:nvSpPr>
          <p:cNvPr id="27" name="tl0_say"/>
          <p:cNvSpPr txBox="1"/>
          <p:nvPr/>
        </p:nvSpPr>
        <p:spPr>
          <a:xfrm>
            <a:off x="8961120" y="2578608"/>
            <a:ext cx="2423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발언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이 구간에서 수치가 꺾였는데 원인이 뭘까요?</a:t>
            </a:r>
            <a:endParaRPr lang="en-US" sz="1400" dirty="0"/>
          </a:p>
        </p:txBody>
      </p:sp>
      <p:sp>
        <p:nvSpPr>
          <p:cNvPr id="28" name="tl1"/>
          <p:cNvSpPr/>
          <p:nvPr/>
        </p:nvSpPr>
        <p:spPr>
          <a:xfrm>
            <a:off x="5532120" y="3675888"/>
            <a:ext cx="597103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l1_time"/>
          <p:cNvSpPr txBox="1"/>
          <p:nvPr/>
        </p:nvSpPr>
        <p:spPr>
          <a:xfrm>
            <a:off x="5669280" y="4078224"/>
            <a:ext cx="7315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10:41</a:t>
            </a:r>
            <a:endParaRPr lang="en-US" sz="1200" dirty="0"/>
          </a:p>
        </p:txBody>
      </p:sp>
      <p:sp>
        <p:nvSpPr>
          <p:cNvPr id="30" name="tl1_scr"/>
          <p:cNvSpPr/>
          <p:nvPr/>
        </p:nvSpPr>
        <p:spPr>
          <a:xfrm>
            <a:off x="6537960" y="3785616"/>
            <a:ext cx="2240280" cy="877824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l1_scr_t"/>
          <p:cNvSpPr txBox="1"/>
          <p:nvPr/>
        </p:nvSpPr>
        <p:spPr>
          <a:xfrm>
            <a:off x="6647688" y="3822192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화면  </a:t>
            </a:r>
            <a:r>
              <a:rPr lang="en-US" sz="1200" b="1" dirty="0">
                <a:solidFill>
                  <a:schemeClr val="tx1"/>
                </a:solidFill>
              </a:rPr>
              <a:t>5페이지 · 원인 분석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장비 점검 일정 · 소재 변경</a:t>
            </a:r>
            <a:endParaRPr lang="en-US" sz="1200" dirty="0"/>
          </a:p>
        </p:txBody>
      </p:sp>
      <p:sp>
        <p:nvSpPr>
          <p:cNvPr id="32" name="tl1_say"/>
          <p:cNvSpPr txBox="1"/>
          <p:nvPr/>
        </p:nvSpPr>
        <p:spPr>
          <a:xfrm>
            <a:off x="8961120" y="3785616"/>
            <a:ext cx="2423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발언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소재 변경 시점과 겹칩니다.</a:t>
            </a:r>
            <a:endParaRPr lang="en-US" sz="1400" dirty="0"/>
          </a:p>
        </p:txBody>
      </p:sp>
      <p:sp>
        <p:nvSpPr>
          <p:cNvPr id="33" name="tl2"/>
          <p:cNvSpPr/>
          <p:nvPr/>
        </p:nvSpPr>
        <p:spPr>
          <a:xfrm>
            <a:off x="5532120" y="4882896"/>
            <a:ext cx="597103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l2_time"/>
          <p:cNvSpPr txBox="1"/>
          <p:nvPr/>
        </p:nvSpPr>
        <p:spPr>
          <a:xfrm>
            <a:off x="5669280" y="5285232"/>
            <a:ext cx="73152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10:55</a:t>
            </a:r>
            <a:endParaRPr lang="en-US" sz="1200" dirty="0"/>
          </a:p>
        </p:txBody>
      </p:sp>
      <p:sp>
        <p:nvSpPr>
          <p:cNvPr id="35" name="tl2_scr"/>
          <p:cNvSpPr/>
          <p:nvPr/>
        </p:nvSpPr>
        <p:spPr>
          <a:xfrm>
            <a:off x="6537960" y="4992624"/>
            <a:ext cx="2240280" cy="877824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l2_scr_t"/>
          <p:cNvSpPr txBox="1"/>
          <p:nvPr/>
        </p:nvSpPr>
        <p:spPr>
          <a:xfrm>
            <a:off x="6647688" y="5029200"/>
            <a:ext cx="2057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화면  </a:t>
            </a:r>
            <a:r>
              <a:rPr lang="en-US" sz="1200" b="1" dirty="0">
                <a:solidFill>
                  <a:schemeClr val="tx1"/>
                </a:solidFill>
              </a:rPr>
              <a:t>8페이지 · 조치 계획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A안 / B안 비교</a:t>
            </a:r>
            <a:endParaRPr lang="en-US" sz="1200" dirty="0"/>
          </a:p>
        </p:txBody>
      </p:sp>
      <p:sp>
        <p:nvSpPr>
          <p:cNvPr id="37" name="tl2_say"/>
          <p:cNvSpPr txBox="1"/>
          <p:nvPr/>
        </p:nvSpPr>
        <p:spPr>
          <a:xfrm>
            <a:off x="8961120" y="4992624"/>
            <a:ext cx="2423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발언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A안으로 다음 주 진행하겠습니다.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구성은 이렇게 달라집니다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기존 서비스는 그대로 두고, 필요한 기능만 덧붙입니다</a:t>
            </a:r>
            <a:endParaRPr lang="en-US" sz="1600" dirty="0"/>
          </a:p>
        </p:txBody>
      </p:sp>
      <p:sp>
        <p:nvSpPr>
          <p:cNvPr id="4" name="stage0"/>
          <p:cNvSpPr/>
          <p:nvPr/>
        </p:nvSpPr>
        <p:spPr>
          <a:xfrm>
            <a:off x="548640" y="192024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tage0_t"/>
          <p:cNvSpPr txBox="1"/>
          <p:nvPr/>
        </p:nvSpPr>
        <p:spPr>
          <a:xfrm>
            <a:off x="640080" y="1920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회의 녹음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모바일 앱 · 사이트</a:t>
            </a:r>
            <a:endParaRPr lang="en-US" sz="1400" dirty="0"/>
          </a:p>
        </p:txBody>
      </p:sp>
      <p:sp>
        <p:nvSpPr>
          <p:cNvPr id="6" name="stage0_arr"/>
          <p:cNvSpPr/>
          <p:nvPr/>
        </p:nvSpPr>
        <p:spPr>
          <a:xfrm rot="5400000">
            <a:off x="2578608" y="2423160"/>
            <a:ext cx="182880" cy="182880"/>
          </a:xfrm>
          <a:prstGeom prst="triangl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tage1"/>
          <p:cNvSpPr/>
          <p:nvPr/>
        </p:nvSpPr>
        <p:spPr>
          <a:xfrm>
            <a:off x="2779776" y="1920240"/>
            <a:ext cx="3657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tage1_t"/>
          <p:cNvSpPr txBox="1"/>
          <p:nvPr/>
        </p:nvSpPr>
        <p:spPr>
          <a:xfrm>
            <a:off x="2871216" y="19202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음성을 글자로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STT (음성 인식)</a:t>
            </a:r>
            <a:endParaRPr lang="en-US" sz="1400" dirty="0"/>
          </a:p>
        </p:txBody>
      </p:sp>
      <p:sp>
        <p:nvSpPr>
          <p:cNvPr id="9" name="stage1_arr"/>
          <p:cNvSpPr/>
          <p:nvPr/>
        </p:nvSpPr>
        <p:spPr>
          <a:xfrm rot="5400000">
            <a:off x="6455664" y="2423160"/>
            <a:ext cx="182880" cy="182880"/>
          </a:xfrm>
          <a:prstGeom prst="triangl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tage2"/>
          <p:cNvSpPr/>
          <p:nvPr/>
        </p:nvSpPr>
        <p:spPr>
          <a:xfrm>
            <a:off x="6656832" y="1920240"/>
            <a:ext cx="27432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tage2_t"/>
          <p:cNvSpPr txBox="1"/>
          <p:nvPr/>
        </p:nvSpPr>
        <p:spPr>
          <a:xfrm>
            <a:off x="6748272" y="1920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AI가 회의록 정리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정리 · 요약</a:t>
            </a:r>
            <a:endParaRPr lang="en-US" sz="1400" dirty="0"/>
          </a:p>
        </p:txBody>
      </p:sp>
      <p:sp>
        <p:nvSpPr>
          <p:cNvPr id="12" name="stage2_arr"/>
          <p:cNvSpPr/>
          <p:nvPr/>
        </p:nvSpPr>
        <p:spPr>
          <a:xfrm rot="5400000">
            <a:off x="9418320" y="2423160"/>
            <a:ext cx="182880" cy="182880"/>
          </a:xfrm>
          <a:prstGeom prst="triangl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tage3"/>
          <p:cNvSpPr/>
          <p:nvPr/>
        </p:nvSpPr>
        <p:spPr>
          <a:xfrm>
            <a:off x="9619488" y="1920240"/>
            <a:ext cx="2011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tage3_t"/>
          <p:cNvSpPr txBox="1"/>
          <p:nvPr/>
        </p:nvSpPr>
        <p:spPr>
          <a:xfrm>
            <a:off x="9710928" y="19202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회의록 완성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조회 · 공유</a:t>
            </a:r>
            <a:endParaRPr lang="en-US" sz="1400" dirty="0"/>
          </a:p>
        </p:txBody>
      </p:sp>
      <p:sp>
        <p:nvSpPr>
          <p:cNvPr id="15" name="lbl_exist"/>
          <p:cNvSpPr txBox="1"/>
          <p:nvPr/>
        </p:nvSpPr>
        <p:spPr>
          <a:xfrm>
            <a:off x="5486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tx2"/>
                </a:solidFill>
              </a:rPr>
              <a:t>기존 AI회의록</a:t>
            </a:r>
            <a:endParaRPr lang="en-US" sz="1200" dirty="0"/>
          </a:p>
        </p:txBody>
      </p:sp>
      <p:sp>
        <p:nvSpPr>
          <p:cNvPr id="16" name="add0_ln"/>
          <p:cNvSpPr/>
          <p:nvPr/>
        </p:nvSpPr>
        <p:spPr>
          <a:xfrm>
            <a:off x="1554480" y="3108960"/>
            <a:ext cx="0" cy="4572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dd0"/>
          <p:cNvSpPr/>
          <p:nvPr/>
        </p:nvSpPr>
        <p:spPr>
          <a:xfrm>
            <a:off x="548640" y="3566160"/>
            <a:ext cx="2011680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dd0_tag"/>
          <p:cNvSpPr txBox="1"/>
          <p:nvPr/>
        </p:nvSpPr>
        <p:spPr>
          <a:xfrm>
            <a:off x="685800" y="370332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신규</a:t>
            </a:r>
            <a:endParaRPr lang="en-US" sz="1100" dirty="0"/>
          </a:p>
        </p:txBody>
      </p:sp>
      <p:sp>
        <p:nvSpPr>
          <p:cNvPr id="19" name="add0_t"/>
          <p:cNvSpPr txBox="1"/>
          <p:nvPr/>
        </p:nvSpPr>
        <p:spPr>
          <a:xfrm>
            <a:off x="685800" y="40233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화면 공유 캡처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회의록 사이트에서 회의 중 화면 저장</a:t>
            </a:r>
            <a:endParaRPr lang="en-US" sz="1400" dirty="0"/>
          </a:p>
        </p:txBody>
      </p:sp>
      <p:sp>
        <p:nvSpPr>
          <p:cNvPr id="20" name="add1_ln"/>
          <p:cNvSpPr/>
          <p:nvPr/>
        </p:nvSpPr>
        <p:spPr>
          <a:xfrm>
            <a:off x="3648456" y="3108960"/>
            <a:ext cx="0" cy="4572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add1"/>
          <p:cNvSpPr/>
          <p:nvPr/>
        </p:nvSpPr>
        <p:spPr>
          <a:xfrm>
            <a:off x="2779776" y="3566160"/>
            <a:ext cx="1737360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add1_tag"/>
          <p:cNvSpPr txBox="1"/>
          <p:nvPr/>
        </p:nvSpPr>
        <p:spPr>
          <a:xfrm>
            <a:off x="2916936" y="370332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신규</a:t>
            </a:r>
            <a:endParaRPr lang="en-US" sz="1100" dirty="0"/>
          </a:p>
        </p:txBody>
      </p:sp>
      <p:sp>
        <p:nvSpPr>
          <p:cNvPr id="23" name="add1_t"/>
          <p:cNvSpPr txBox="1"/>
          <p:nvPr/>
        </p:nvSpPr>
        <p:spPr>
          <a:xfrm>
            <a:off x="2916936" y="40233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화자 자동 인식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목소리로 이름 표시</a:t>
            </a:r>
            <a:endParaRPr lang="en-US" sz="1400" dirty="0"/>
          </a:p>
        </p:txBody>
      </p:sp>
      <p:sp>
        <p:nvSpPr>
          <p:cNvPr id="24" name="add2_ln"/>
          <p:cNvSpPr/>
          <p:nvPr/>
        </p:nvSpPr>
        <p:spPr>
          <a:xfrm>
            <a:off x="5568696" y="3108960"/>
            <a:ext cx="0" cy="4572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dd2"/>
          <p:cNvSpPr/>
          <p:nvPr/>
        </p:nvSpPr>
        <p:spPr>
          <a:xfrm>
            <a:off x="4700016" y="3566160"/>
            <a:ext cx="1737360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dd2_tag"/>
          <p:cNvSpPr txBox="1"/>
          <p:nvPr/>
        </p:nvSpPr>
        <p:spPr>
          <a:xfrm>
            <a:off x="4837176" y="370332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신규</a:t>
            </a:r>
            <a:endParaRPr lang="en-US" sz="1100" dirty="0"/>
          </a:p>
        </p:txBody>
      </p:sp>
      <p:sp>
        <p:nvSpPr>
          <p:cNvPr id="27" name="add2_t"/>
          <p:cNvSpPr txBox="1"/>
          <p:nvPr/>
        </p:nvSpPr>
        <p:spPr>
          <a:xfrm>
            <a:off x="4837176" y="402336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키워드 자동 추출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회의 전 자료에서 뽑아 기존 키워드 기능에 전달</a:t>
            </a:r>
            <a:endParaRPr lang="en-US" sz="1400" dirty="0"/>
          </a:p>
        </p:txBody>
      </p:sp>
      <p:sp>
        <p:nvSpPr>
          <p:cNvPr id="28" name="add3_ln"/>
          <p:cNvSpPr/>
          <p:nvPr/>
        </p:nvSpPr>
        <p:spPr>
          <a:xfrm>
            <a:off x="8028432" y="3108960"/>
            <a:ext cx="0" cy="4572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add3"/>
          <p:cNvSpPr/>
          <p:nvPr/>
        </p:nvSpPr>
        <p:spPr>
          <a:xfrm>
            <a:off x="6656832" y="3566160"/>
            <a:ext cx="2743200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add3_tag"/>
          <p:cNvSpPr txBox="1"/>
          <p:nvPr/>
        </p:nvSpPr>
        <p:spPr>
          <a:xfrm>
            <a:off x="6793992" y="370332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신규</a:t>
            </a:r>
            <a:endParaRPr lang="en-US" sz="1100" dirty="0"/>
          </a:p>
        </p:txBody>
      </p:sp>
      <p:sp>
        <p:nvSpPr>
          <p:cNvPr id="31" name="add3_t"/>
          <p:cNvSpPr txBox="1"/>
          <p:nvPr/>
        </p:nvSpPr>
        <p:spPr>
          <a:xfrm>
            <a:off x="6793992" y="40233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문서·화면 맥락 반영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2"/>
                </a:solidFill>
              </a:rPr>
              <a:t>자료와 화면 내용을 회의록에 반영 (요약은 선택)</a:t>
            </a:r>
            <a:endParaRPr lang="en-US" sz="1400" dirty="0"/>
          </a:p>
        </p:txBody>
      </p:sp>
      <p:sp>
        <p:nvSpPr>
          <p:cNvPr id="32" name="lg_old"/>
          <p:cNvSpPr/>
          <p:nvPr/>
        </p:nvSpPr>
        <p:spPr>
          <a:xfrm>
            <a:off x="548640" y="5532120"/>
            <a:ext cx="365760" cy="256032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lg_old_t"/>
          <p:cNvSpPr txBox="1"/>
          <p:nvPr/>
        </p:nvSpPr>
        <p:spPr>
          <a:xfrm>
            <a:off x="1005840" y="5532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기존 기능</a:t>
            </a:r>
            <a:endParaRPr lang="en-US" sz="1200" dirty="0"/>
          </a:p>
        </p:txBody>
      </p:sp>
      <p:sp>
        <p:nvSpPr>
          <p:cNvPr id="34" name="lg_new"/>
          <p:cNvSpPr/>
          <p:nvPr/>
        </p:nvSpPr>
        <p:spPr>
          <a:xfrm>
            <a:off x="2286000" y="5532120"/>
            <a:ext cx="365760" cy="256032"/>
          </a:xfrm>
          <a:prstGeom prst="roundRect">
            <a:avLst>
              <a:gd name="adj" fmla="val 21429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lg_new_t"/>
          <p:cNvSpPr txBox="1"/>
          <p:nvPr/>
        </p:nvSpPr>
        <p:spPr>
          <a:xfrm>
            <a:off x="2743200" y="5532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이번에 추가되는 기능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상세 구성도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기존 흐름은 그대로 두고, 아래 두 줄(화자 인식 · 문서·화면 맥락)이 추가됩니다</a:t>
            </a:r>
            <a:endParaRPr lang="en-US" sz="1600" dirty="0"/>
          </a:p>
        </p:txBody>
      </p:sp>
      <p:sp>
        <p:nvSpPr>
          <p:cNvPr id="4" name="ch0"/>
          <p:cNvSpPr txBox="1"/>
          <p:nvPr/>
        </p:nvSpPr>
        <p:spPr>
          <a:xfrm>
            <a:off x="54864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입력</a:t>
            </a:r>
            <a:endParaRPr lang="en-US" sz="1300" dirty="0"/>
          </a:p>
        </p:txBody>
      </p:sp>
      <p:sp>
        <p:nvSpPr>
          <p:cNvPr id="5" name="ch1"/>
          <p:cNvSpPr txBox="1"/>
          <p:nvPr/>
        </p:nvSpPr>
        <p:spPr>
          <a:xfrm>
            <a:off x="3291840" y="1554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회의록 서비스</a:t>
            </a:r>
            <a:endParaRPr lang="en-US" sz="1300" dirty="0"/>
          </a:p>
        </p:txBody>
      </p:sp>
      <p:sp>
        <p:nvSpPr>
          <p:cNvPr id="6" name="ch2"/>
          <p:cNvSpPr txBox="1"/>
          <p:nvPr/>
        </p:nvSpPr>
        <p:spPr>
          <a:xfrm>
            <a:off x="6172200" y="15544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AI 처리</a:t>
            </a:r>
            <a:endParaRPr lang="en-US" sz="1300" dirty="0"/>
          </a:p>
        </p:txBody>
      </p:sp>
      <p:sp>
        <p:nvSpPr>
          <p:cNvPr id="7" name="ch3"/>
          <p:cNvSpPr txBox="1"/>
          <p:nvPr/>
        </p:nvSpPr>
        <p:spPr>
          <a:xfrm>
            <a:off x="9418320" y="155448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결과</a:t>
            </a:r>
            <a:endParaRPr lang="en-US" sz="1300" dirty="0"/>
          </a:p>
        </p:txBody>
      </p:sp>
      <p:sp>
        <p:nvSpPr>
          <p:cNvPr id="8" name="a_mobile"/>
          <p:cNvSpPr/>
          <p:nvPr/>
        </p:nvSpPr>
        <p:spPr>
          <a:xfrm>
            <a:off x="548640" y="1874520"/>
            <a:ext cx="2468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a_mobile_t"/>
          <p:cNvSpPr txBox="1"/>
          <p:nvPr/>
        </p:nvSpPr>
        <p:spPr>
          <a:xfrm>
            <a:off x="658368" y="187452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모바일 앱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회의 녹음 · 업로드</a:t>
            </a:r>
            <a:endParaRPr lang="en-US" sz="1400" dirty="0"/>
          </a:p>
        </p:txBody>
      </p:sp>
      <p:sp>
        <p:nvSpPr>
          <p:cNvPr id="10" name="a_main"/>
          <p:cNvSpPr/>
          <p:nvPr/>
        </p:nvSpPr>
        <p:spPr>
          <a:xfrm>
            <a:off x="3291840" y="187452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a_main_t"/>
          <p:cNvSpPr txBox="1"/>
          <p:nvPr/>
        </p:nvSpPr>
        <p:spPr>
          <a:xfrm>
            <a:off x="3401568" y="1874520"/>
            <a:ext cx="2386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Main API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업로드 · STT 요청 · 회의록 생성</a:t>
            </a:r>
            <a:endParaRPr lang="en-US" sz="1400" dirty="0"/>
          </a:p>
        </p:txBody>
      </p:sp>
      <p:sp>
        <p:nvSpPr>
          <p:cNvPr id="12" name="a_stt"/>
          <p:cNvSpPr/>
          <p:nvPr/>
        </p:nvSpPr>
        <p:spPr>
          <a:xfrm>
            <a:off x="6172200" y="1874520"/>
            <a:ext cx="297180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_stt_t"/>
          <p:cNvSpPr txBox="1"/>
          <p:nvPr/>
        </p:nvSpPr>
        <p:spPr>
          <a:xfrm>
            <a:off x="6281928" y="1874520"/>
            <a:ext cx="2752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HAIV STT 엔진 (Whisper)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음성 → 글자 · 기존 키워드 부스팅 사용</a:t>
            </a:r>
            <a:endParaRPr lang="en-US" sz="1400" dirty="0"/>
          </a:p>
        </p:txBody>
      </p:sp>
      <p:sp>
        <p:nvSpPr>
          <p:cNvPr id="14" name="a_result"/>
          <p:cNvSpPr/>
          <p:nvPr/>
        </p:nvSpPr>
        <p:spPr>
          <a:xfrm>
            <a:off x="9418320" y="1874520"/>
            <a:ext cx="222199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a_result_t"/>
          <p:cNvSpPr txBox="1"/>
          <p:nvPr/>
        </p:nvSpPr>
        <p:spPr>
          <a:xfrm>
            <a:off x="9528048" y="1874520"/>
            <a:ext cx="2002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고도화된 회의록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실명 화자 · 용어 보정 · 요약</a:t>
            </a:r>
            <a:endParaRPr lang="en-US" sz="1400" dirty="0"/>
          </a:p>
        </p:txBody>
      </p:sp>
      <p:sp>
        <p:nvSpPr>
          <p:cNvPr id="16" name="a_voiceui"/>
          <p:cNvSpPr/>
          <p:nvPr/>
        </p:nvSpPr>
        <p:spPr>
          <a:xfrm>
            <a:off x="548640" y="3200400"/>
            <a:ext cx="246888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a_voiceui_t"/>
          <p:cNvSpPr txBox="1"/>
          <p:nvPr/>
        </p:nvSpPr>
        <p:spPr>
          <a:xfrm>
            <a:off x="658368" y="320040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성문 등록 화면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모바일 앱 권장 · 동의 + 음성 등록</a:t>
            </a:r>
            <a:endParaRPr lang="en-US" sz="1400" dirty="0"/>
          </a:p>
        </p:txBody>
      </p:sp>
      <p:sp>
        <p:nvSpPr>
          <p:cNvPr id="18" name="a_voiceapi"/>
          <p:cNvSpPr/>
          <p:nvPr/>
        </p:nvSpPr>
        <p:spPr>
          <a:xfrm>
            <a:off x="3291840" y="32004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a_voiceapi_t"/>
          <p:cNvSpPr txBox="1"/>
          <p:nvPr/>
        </p:nvSpPr>
        <p:spPr>
          <a:xfrm>
            <a:off x="3401568" y="3200400"/>
            <a:ext cx="2386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성문 등록·관리 API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성문 저장소(암호화) · 동의 이력</a:t>
            </a:r>
            <a:endParaRPr lang="en-US" sz="1400" dirty="0"/>
          </a:p>
        </p:txBody>
      </p:sp>
      <p:sp>
        <p:nvSpPr>
          <p:cNvPr id="20" name="a_diar"/>
          <p:cNvSpPr/>
          <p:nvPr/>
        </p:nvSpPr>
        <p:spPr>
          <a:xfrm>
            <a:off x="6172200" y="3200400"/>
            <a:ext cx="297180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a_diar_t"/>
          <p:cNvSpPr txBox="1"/>
          <p:nvPr/>
        </p:nvSpPr>
        <p:spPr>
          <a:xfrm>
            <a:off x="6281928" y="3200400"/>
            <a:ext cx="2752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화자분리 + 성문 매칭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저장된 성문과 비교해 이름 표시 (후보)</a:t>
            </a:r>
            <a:endParaRPr lang="en-US" sz="1400" dirty="0"/>
          </a:p>
        </p:txBody>
      </p:sp>
      <p:sp>
        <p:nvSpPr>
          <p:cNvPr id="22" name="a_web"/>
          <p:cNvSpPr/>
          <p:nvPr/>
        </p:nvSpPr>
        <p:spPr>
          <a:xfrm>
            <a:off x="548640" y="4526280"/>
            <a:ext cx="24688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a_web_t"/>
          <p:cNvSpPr txBox="1"/>
          <p:nvPr/>
        </p:nvSpPr>
        <p:spPr>
          <a:xfrm>
            <a:off x="658368" y="4526280"/>
            <a:ext cx="22494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회의록 사이트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문서 첨부 · 화면 공유 캡처(기능 추가)</a:t>
            </a:r>
            <a:endParaRPr lang="en-US" sz="1400" dirty="0"/>
          </a:p>
        </p:txBody>
      </p:sp>
      <p:sp>
        <p:nvSpPr>
          <p:cNvPr id="24" name="a_ctx"/>
          <p:cNvSpPr/>
          <p:nvPr/>
        </p:nvSpPr>
        <p:spPr>
          <a:xfrm>
            <a:off x="3291840" y="452628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a_ctx_t"/>
          <p:cNvSpPr txBox="1"/>
          <p:nvPr/>
        </p:nvSpPr>
        <p:spPr>
          <a:xfrm>
            <a:off x="3401568" y="4526280"/>
            <a:ext cx="2386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컨텍스트 수집 API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첨부 문서 · 캡처 이미지 수신</a:t>
            </a:r>
            <a:endParaRPr lang="en-US" sz="1400" dirty="0"/>
          </a:p>
        </p:txBody>
      </p:sp>
      <p:sp>
        <p:nvSpPr>
          <p:cNvPr id="26" name="a_parse"/>
          <p:cNvSpPr/>
          <p:nvPr/>
        </p:nvSpPr>
        <p:spPr>
          <a:xfrm>
            <a:off x="6172200" y="4526280"/>
            <a:ext cx="297180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a_parse_t"/>
          <p:cNvSpPr txBox="1"/>
          <p:nvPr/>
        </p:nvSpPr>
        <p:spPr>
          <a:xfrm>
            <a:off x="6281928" y="4526280"/>
            <a:ext cx="2752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문서 파서 · 화면 인식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키워드 자동 추출 · OCR 또는 멀티모달 LLM (후보) · 시간 정렬</a:t>
            </a:r>
            <a:endParaRPr lang="en-US" sz="1400" dirty="0"/>
          </a:p>
        </p:txBody>
      </p:sp>
      <p:sp>
        <p:nvSpPr>
          <p:cNvPr id="28" name="a_llm"/>
          <p:cNvSpPr/>
          <p:nvPr/>
        </p:nvSpPr>
        <p:spPr>
          <a:xfrm>
            <a:off x="9418320" y="3200400"/>
            <a:ext cx="2221992" cy="2377440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a_llm_t"/>
          <p:cNvSpPr txBox="1"/>
          <p:nvPr/>
        </p:nvSpPr>
        <p:spPr>
          <a:xfrm>
            <a:off x="9528048" y="3200400"/>
            <a:ext cx="20025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LLM 후보정 · 요약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문서·화면 맥락과 실명 화자를 반영 (요약은 선택, 하이닉스 로컬 에이전트가 처리 가능)</a:t>
            </a:r>
            <a:endParaRPr lang="en-US" sz="1400" dirty="0"/>
          </a:p>
        </p:txBody>
      </p:sp>
      <p:sp>
        <p:nvSpPr>
          <p:cNvPr id="30" name="ar1"/>
          <p:cNvSpPr/>
          <p:nvPr/>
        </p:nvSpPr>
        <p:spPr>
          <a:xfrm>
            <a:off x="3017520" y="240030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ar2"/>
          <p:cNvSpPr/>
          <p:nvPr/>
        </p:nvSpPr>
        <p:spPr>
          <a:xfrm>
            <a:off x="5897880" y="240030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ar3"/>
          <p:cNvSpPr/>
          <p:nvPr/>
        </p:nvSpPr>
        <p:spPr>
          <a:xfrm>
            <a:off x="9144000" y="240030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ar4"/>
          <p:cNvSpPr/>
          <p:nvPr/>
        </p:nvSpPr>
        <p:spPr>
          <a:xfrm>
            <a:off x="7658100" y="2926080"/>
            <a:ext cx="0" cy="27432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ar5"/>
          <p:cNvSpPr/>
          <p:nvPr/>
        </p:nvSpPr>
        <p:spPr>
          <a:xfrm>
            <a:off x="3017520" y="372618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r6"/>
          <p:cNvSpPr/>
          <p:nvPr/>
        </p:nvSpPr>
        <p:spPr>
          <a:xfrm>
            <a:off x="5897880" y="372618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ar7"/>
          <p:cNvSpPr/>
          <p:nvPr/>
        </p:nvSpPr>
        <p:spPr>
          <a:xfrm>
            <a:off x="9144000" y="372618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ar8"/>
          <p:cNvSpPr/>
          <p:nvPr/>
        </p:nvSpPr>
        <p:spPr>
          <a:xfrm>
            <a:off x="3017520" y="505206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ar9"/>
          <p:cNvSpPr/>
          <p:nvPr/>
        </p:nvSpPr>
        <p:spPr>
          <a:xfrm>
            <a:off x="5897880" y="505206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ar10"/>
          <p:cNvSpPr/>
          <p:nvPr/>
        </p:nvSpPr>
        <p:spPr>
          <a:xfrm>
            <a:off x="9144000" y="505206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ar11"/>
          <p:cNvSpPr/>
          <p:nvPr/>
        </p:nvSpPr>
        <p:spPr>
          <a:xfrm flipV="1">
            <a:off x="10529316" y="2926080"/>
            <a:ext cx="0" cy="27432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lg_old"/>
          <p:cNvSpPr/>
          <p:nvPr/>
        </p:nvSpPr>
        <p:spPr>
          <a:xfrm>
            <a:off x="548640" y="5852160"/>
            <a:ext cx="365760" cy="256032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lg_old_t"/>
          <p:cNvSpPr txBox="1"/>
          <p:nvPr/>
        </p:nvSpPr>
        <p:spPr>
          <a:xfrm>
            <a:off x="1005840" y="58521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기존 기능</a:t>
            </a:r>
            <a:endParaRPr lang="en-US" sz="1200" dirty="0"/>
          </a:p>
        </p:txBody>
      </p:sp>
      <p:sp>
        <p:nvSpPr>
          <p:cNvPr id="43" name="lg_new"/>
          <p:cNvSpPr/>
          <p:nvPr/>
        </p:nvSpPr>
        <p:spPr>
          <a:xfrm>
            <a:off x="2286000" y="5852160"/>
            <a:ext cx="365760" cy="256032"/>
          </a:xfrm>
          <a:prstGeom prst="roundRect">
            <a:avLst>
              <a:gd name="adj" fmla="val 21429"/>
            </a:avLst>
          </a:prstGeom>
          <a:solidFill>
            <a:schemeClr val="accent6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lg_new_t"/>
          <p:cNvSpPr txBox="1"/>
          <p:nvPr/>
        </p:nvSpPr>
        <p:spPr>
          <a:xfrm>
            <a:off x="2743200" y="5852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이번에 추가되는 기능</a:t>
            </a:r>
            <a:endParaRPr lang="en-US" sz="1200" dirty="0"/>
          </a:p>
        </p:txBody>
      </p:sp>
      <p:sp>
        <p:nvSpPr>
          <p:cNvPr id="45" name="lg_note"/>
          <p:cNvSpPr txBox="1"/>
          <p:nvPr/>
        </p:nvSpPr>
        <p:spPr>
          <a:xfrm>
            <a:off x="5303520" y="585216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(후보) = 기술 확정 전  ·  MCP 연동은 이번 범위에 포함하지 않습니다</a:t>
            </a:r>
            <a:endParaRPr lang="en-US" sz="12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4601-13CC-3DF2-FB80-859E556F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46A1D6-DD9F-FA43-7409-DCEE5F693139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76851" y="91440"/>
            <a:ext cx="47468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AI</a:t>
            </a:r>
            <a:r>
              <a:rPr lang="ko-KR" altLang="en-US" dirty="0"/>
              <a:t> 회의록 </a:t>
            </a:r>
            <a:r>
              <a:rPr lang="ko-KR" altLang="en-US" dirty="0" err="1"/>
              <a:t>아키텍쳐</a:t>
            </a:r>
            <a:endParaRPr lang="en-US" sz="3200" dirty="0"/>
          </a:p>
        </p:txBody>
      </p:sp>
      <p:sp>
        <p:nvSpPr>
          <p:cNvPr id="46" name="Slide Number Placeholder 0">
            <a:extLst>
              <a:ext uri="{FF2B5EF4-FFF2-40B4-BE49-F238E27FC236}">
                <a16:creationId xmlns:a16="http://schemas.microsoft.com/office/drawing/2014/main" id="{FCFEE408-2B85-B82A-2348-3AD980BF74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r>
              <a:rPr lang="en-US" altLang="ko-KR" b="0" dirty="0"/>
              <a:t>9</a:t>
            </a:r>
            <a:endParaRPr lang="en-US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2D64A09E-FFCE-5715-2E86-A479ED621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82" y="822960"/>
            <a:ext cx="8171320" cy="593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95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8A1B-F6CB-A917-102D-307E8DF1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6B6BBF-49BB-7817-61AC-5135FC89DCF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176851" y="91440"/>
            <a:ext cx="47468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AI</a:t>
            </a:r>
            <a:r>
              <a:rPr lang="ko-KR" altLang="en-US" dirty="0"/>
              <a:t> 회의록 </a:t>
            </a:r>
            <a:r>
              <a:rPr lang="ko-KR" altLang="en-US" dirty="0" err="1"/>
              <a:t>아키텍쳐</a:t>
            </a:r>
            <a:endParaRPr lang="en-US" sz="3200" dirty="0"/>
          </a:p>
        </p:txBody>
      </p:sp>
      <p:sp>
        <p:nvSpPr>
          <p:cNvPr id="46" name="Slide Number Placeholder 0">
            <a:extLst>
              <a:ext uri="{FF2B5EF4-FFF2-40B4-BE49-F238E27FC236}">
                <a16:creationId xmlns:a16="http://schemas.microsoft.com/office/drawing/2014/main" id="{BFF81E73-C380-6F2B-DF4B-7FC7C3C19B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r>
              <a:rPr lang="en-US" altLang="ko-KR" b="0" dirty="0"/>
              <a:t>10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BAF05F-3CC0-8C11-B940-A6ECE4FB3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50" y="822959"/>
            <a:ext cx="10978829" cy="60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21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준비할 것과 알아두실 점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도입 전에 함께 확인할 사항입니다</a:t>
            </a:r>
            <a:endParaRPr lang="en-US" sz="1600" dirty="0"/>
          </a:p>
        </p:txBody>
      </p:sp>
      <p:sp>
        <p:nvSpPr>
          <p:cNvPr id="4" name="r7_0"/>
          <p:cNvSpPr/>
          <p:nvPr/>
        </p:nvSpPr>
        <p:spPr>
          <a:xfrm>
            <a:off x="548640" y="1737360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r7_0_n"/>
          <p:cNvSpPr txBox="1"/>
          <p:nvPr/>
        </p:nvSpPr>
        <p:spPr>
          <a:xfrm>
            <a:off x="548640" y="1737360"/>
            <a:ext cx="676656" cy="676656"/>
          </a:xfrm>
          <a:prstGeom prst="roundRect">
            <a:avLst>
              <a:gd name="adj" fmla="val 1621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r7_0_t"/>
          <p:cNvSpPr txBox="1"/>
          <p:nvPr/>
        </p:nvSpPr>
        <p:spPr>
          <a:xfrm>
            <a:off x="1463040" y="1737360"/>
            <a:ext cx="8503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성문(목소리 정보) 등록 동의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목소리 정보는 생체정보라 참석자 동의를 받고 등록합니다</a:t>
            </a:r>
            <a:endParaRPr lang="en-US" sz="1400" dirty="0"/>
          </a:p>
        </p:txBody>
      </p:sp>
      <p:sp>
        <p:nvSpPr>
          <p:cNvPr id="7" name="r7_0_tag"/>
          <p:cNvSpPr txBox="1"/>
          <p:nvPr/>
        </p:nvSpPr>
        <p:spPr>
          <a:xfrm>
            <a:off x="10515600" y="192024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필수</a:t>
            </a:r>
            <a:endParaRPr lang="en-US" sz="1300" dirty="0"/>
          </a:p>
        </p:txBody>
      </p:sp>
      <p:sp>
        <p:nvSpPr>
          <p:cNvPr id="8" name="r7_1"/>
          <p:cNvSpPr/>
          <p:nvPr/>
        </p:nvSpPr>
        <p:spPr>
          <a:xfrm>
            <a:off x="548640" y="2487168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r7_1_n"/>
          <p:cNvSpPr txBox="1"/>
          <p:nvPr/>
        </p:nvSpPr>
        <p:spPr>
          <a:xfrm>
            <a:off x="548640" y="2487168"/>
            <a:ext cx="676656" cy="676656"/>
          </a:xfrm>
          <a:prstGeom prst="roundRect">
            <a:avLst>
              <a:gd name="adj" fmla="val 1621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r7_1_t"/>
          <p:cNvSpPr txBox="1"/>
          <p:nvPr/>
        </p:nvSpPr>
        <p:spPr>
          <a:xfrm>
            <a:off x="1463040" y="2487168"/>
            <a:ext cx="8503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브라우저에서 화면 공유 허용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회의 중 화면을 활용하려면 회의마다 공유할 화면을 허용합니다</a:t>
            </a:r>
            <a:endParaRPr lang="en-US" sz="1400" dirty="0"/>
          </a:p>
        </p:txBody>
      </p:sp>
      <p:sp>
        <p:nvSpPr>
          <p:cNvPr id="11" name="r7_1_tag"/>
          <p:cNvSpPr txBox="1"/>
          <p:nvPr/>
        </p:nvSpPr>
        <p:spPr>
          <a:xfrm>
            <a:off x="10515600" y="2670048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선택</a:t>
            </a:r>
            <a:endParaRPr lang="en-US" sz="1300" dirty="0"/>
          </a:p>
        </p:txBody>
      </p:sp>
      <p:sp>
        <p:nvSpPr>
          <p:cNvPr id="12" name="r7_2"/>
          <p:cNvSpPr/>
          <p:nvPr/>
        </p:nvSpPr>
        <p:spPr>
          <a:xfrm>
            <a:off x="548640" y="3236976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r7_2_n"/>
          <p:cNvSpPr txBox="1"/>
          <p:nvPr/>
        </p:nvSpPr>
        <p:spPr>
          <a:xfrm>
            <a:off x="548640" y="3236976"/>
            <a:ext cx="676656" cy="676656"/>
          </a:xfrm>
          <a:prstGeom prst="roundRect">
            <a:avLst>
              <a:gd name="adj" fmla="val 1621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r7_2_t"/>
          <p:cNvSpPr txBox="1"/>
          <p:nvPr/>
        </p:nvSpPr>
        <p:spPr>
          <a:xfrm>
            <a:off x="1463040" y="3236976"/>
            <a:ext cx="8503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회의 전 자료 첨부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자료를 올릴수록 전문 용어 인식이 좋아집니다</a:t>
            </a:r>
            <a:endParaRPr lang="en-US" sz="1400" dirty="0"/>
          </a:p>
        </p:txBody>
      </p:sp>
      <p:sp>
        <p:nvSpPr>
          <p:cNvPr id="15" name="r7_2_tag"/>
          <p:cNvSpPr txBox="1"/>
          <p:nvPr/>
        </p:nvSpPr>
        <p:spPr>
          <a:xfrm>
            <a:off x="10515600" y="3419856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선택</a:t>
            </a:r>
            <a:endParaRPr lang="en-US" sz="1300" dirty="0"/>
          </a:p>
        </p:txBody>
      </p:sp>
      <p:sp>
        <p:nvSpPr>
          <p:cNvPr id="16" name="r7_3"/>
          <p:cNvSpPr/>
          <p:nvPr/>
        </p:nvSpPr>
        <p:spPr>
          <a:xfrm>
            <a:off x="548640" y="3986784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r7_3_n"/>
          <p:cNvSpPr txBox="1"/>
          <p:nvPr/>
        </p:nvSpPr>
        <p:spPr>
          <a:xfrm>
            <a:off x="548640" y="3986784"/>
            <a:ext cx="676656" cy="676656"/>
          </a:xfrm>
          <a:prstGeom prst="roundRect">
            <a:avLst>
              <a:gd name="adj" fmla="val 1621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r7_3_t"/>
          <p:cNvSpPr txBox="1"/>
          <p:nvPr/>
        </p:nvSpPr>
        <p:spPr>
          <a:xfrm>
            <a:off x="1463040" y="3986784"/>
            <a:ext cx="8503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음성·캡처 이미지 보관 기간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현행 보존 기간(7일)에 따라 보관하며 전량 장기 보관은 필요하지 않습니다</a:t>
            </a:r>
            <a:endParaRPr lang="en-US" sz="1400" dirty="0"/>
          </a:p>
        </p:txBody>
      </p:sp>
      <p:sp>
        <p:nvSpPr>
          <p:cNvPr id="19" name="r7_3_tag"/>
          <p:cNvSpPr txBox="1"/>
          <p:nvPr/>
        </p:nvSpPr>
        <p:spPr>
          <a:xfrm>
            <a:off x="10515600" y="4169664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협의</a:t>
            </a:r>
            <a:endParaRPr lang="en-US" sz="1300" dirty="0"/>
          </a:p>
        </p:txBody>
      </p:sp>
      <p:sp>
        <p:nvSpPr>
          <p:cNvPr id="20" name="r7_4"/>
          <p:cNvSpPr/>
          <p:nvPr/>
        </p:nvSpPr>
        <p:spPr>
          <a:xfrm>
            <a:off x="548640" y="4736592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r7_4_n"/>
          <p:cNvSpPr txBox="1"/>
          <p:nvPr/>
        </p:nvSpPr>
        <p:spPr>
          <a:xfrm>
            <a:off x="548640" y="4736592"/>
            <a:ext cx="676656" cy="676656"/>
          </a:xfrm>
          <a:prstGeom prst="roundRect">
            <a:avLst>
              <a:gd name="adj" fmla="val 162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2" name="r7_4_t"/>
          <p:cNvSpPr txBox="1"/>
          <p:nvPr/>
        </p:nvSpPr>
        <p:spPr>
          <a:xfrm>
            <a:off x="1463040" y="4736592"/>
            <a:ext cx="8503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같은 스마트폰으로 등록·녹음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같은 기기로 등록·녹음하면 유리하며, 소음·거리에 따라 품질이 달라질 수 있습니다</a:t>
            </a:r>
            <a:endParaRPr lang="en-US" sz="1400" dirty="0"/>
          </a:p>
        </p:txBody>
      </p:sp>
      <p:sp>
        <p:nvSpPr>
          <p:cNvPr id="23" name="r7_4_tag"/>
          <p:cNvSpPr txBox="1"/>
          <p:nvPr/>
        </p:nvSpPr>
        <p:spPr>
          <a:xfrm>
            <a:off x="10515600" y="4919472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권장</a:t>
            </a:r>
            <a:endParaRPr lang="en-US" sz="1300" dirty="0"/>
          </a:p>
        </p:txBody>
      </p:sp>
      <p:sp>
        <p:nvSpPr>
          <p:cNvPr id="24" name="r7_5"/>
          <p:cNvSpPr/>
          <p:nvPr/>
        </p:nvSpPr>
        <p:spPr>
          <a:xfrm>
            <a:off x="548640" y="5486400"/>
            <a:ext cx="1109167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r7_5_n"/>
          <p:cNvSpPr txBox="1"/>
          <p:nvPr/>
        </p:nvSpPr>
        <p:spPr>
          <a:xfrm>
            <a:off x="548640" y="5486400"/>
            <a:ext cx="676656" cy="676656"/>
          </a:xfrm>
          <a:prstGeom prst="roundRect">
            <a:avLst>
              <a:gd name="adj" fmla="val 1621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6" name="r7_5_t"/>
          <p:cNvSpPr txBox="1"/>
          <p:nvPr/>
        </p:nvSpPr>
        <p:spPr>
          <a:xfrm>
            <a:off x="1463040" y="5486400"/>
            <a:ext cx="8503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세부 기술 확정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화자 인식 방식과 화면 글자 인식 방식은 검증 후 확정합니다</a:t>
            </a:r>
            <a:endParaRPr lang="en-US" sz="1400" dirty="0"/>
          </a:p>
        </p:txBody>
      </p:sp>
      <p:sp>
        <p:nvSpPr>
          <p:cNvPr id="27" name="r7_5_tag"/>
          <p:cNvSpPr txBox="1"/>
          <p:nvPr/>
        </p:nvSpPr>
        <p:spPr>
          <a:xfrm>
            <a:off x="10515600" y="566928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협의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r>
              <a:rPr lang="en-US" altLang="ko-KR" b="0" dirty="0"/>
              <a:t>11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진행 계획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우선순위에 따라 단계적으로 진행합니다</a:t>
            </a:r>
            <a:endParaRPr lang="en-US" sz="1600" dirty="0"/>
          </a:p>
        </p:txBody>
      </p:sp>
      <p:sp>
        <p:nvSpPr>
          <p:cNvPr id="4" name="ph0_hbg"/>
          <p:cNvSpPr/>
          <p:nvPr/>
        </p:nvSpPr>
        <p:spPr>
          <a:xfrm>
            <a:off x="548640" y="1783080"/>
            <a:ext cx="3511296" cy="731520"/>
          </a:xfrm>
          <a:prstGeom prst="homePlat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ph0_h"/>
          <p:cNvSpPr txBox="1"/>
          <p:nvPr/>
        </p:nvSpPr>
        <p:spPr>
          <a:xfrm>
            <a:off x="822960" y="178308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1단계  요구사항 정리</a:t>
            </a:r>
            <a:endParaRPr lang="en-US" sz="1800" dirty="0"/>
          </a:p>
        </p:txBody>
      </p:sp>
      <p:sp>
        <p:nvSpPr>
          <p:cNvPr id="6" name="ph0_bg"/>
          <p:cNvSpPr/>
          <p:nvPr/>
        </p:nvSpPr>
        <p:spPr>
          <a:xfrm>
            <a:off x="548640" y="2697480"/>
            <a:ext cx="351129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ph0_items"/>
          <p:cNvSpPr txBox="1"/>
          <p:nvPr/>
        </p:nvSpPr>
        <p:spPr>
          <a:xfrm>
            <a:off x="822960" y="288036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SKT · SK하이닉스와 상세 요구사항 협의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범위와 우선순위 확정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성문 등록 동의 · 보관 정책 협의</a:t>
            </a:r>
            <a:endParaRPr lang="en-US" sz="1500" dirty="0"/>
          </a:p>
        </p:txBody>
      </p:sp>
      <p:sp>
        <p:nvSpPr>
          <p:cNvPr id="8" name="ph1_hbg"/>
          <p:cNvSpPr/>
          <p:nvPr/>
        </p:nvSpPr>
        <p:spPr>
          <a:xfrm>
            <a:off x="4338828" y="1783080"/>
            <a:ext cx="3511296" cy="731520"/>
          </a:xfrm>
          <a:prstGeom prst="homePlat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ph1_h"/>
          <p:cNvSpPr txBox="1"/>
          <p:nvPr/>
        </p:nvSpPr>
        <p:spPr>
          <a:xfrm>
            <a:off x="4613148" y="178308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2단계  화자 자동 인식</a:t>
            </a:r>
            <a:endParaRPr lang="en-US" sz="1800" dirty="0"/>
          </a:p>
        </p:txBody>
      </p:sp>
      <p:sp>
        <p:nvSpPr>
          <p:cNvPr id="10" name="ph1_bg"/>
          <p:cNvSpPr/>
          <p:nvPr/>
        </p:nvSpPr>
        <p:spPr>
          <a:xfrm>
            <a:off x="4338828" y="2697480"/>
            <a:ext cx="351129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ph1_items"/>
          <p:cNvSpPr txBox="1"/>
          <p:nvPr/>
        </p:nvSpPr>
        <p:spPr>
          <a:xfrm>
            <a:off x="4613148" y="288036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성문 등록 화면과 관리 기능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화자 분리 정확도 개선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등록 기반 실명 표시 검증</a:t>
            </a:r>
            <a:endParaRPr lang="en-US" sz="1500" dirty="0"/>
          </a:p>
        </p:txBody>
      </p:sp>
      <p:sp>
        <p:nvSpPr>
          <p:cNvPr id="12" name="ph2_hbg"/>
          <p:cNvSpPr/>
          <p:nvPr/>
        </p:nvSpPr>
        <p:spPr>
          <a:xfrm>
            <a:off x="8129016" y="1783080"/>
            <a:ext cx="3511296" cy="731520"/>
          </a:xfrm>
          <a:prstGeom prst="homePlat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ph2_h"/>
          <p:cNvSpPr txBox="1"/>
          <p:nvPr/>
        </p:nvSpPr>
        <p:spPr>
          <a:xfrm>
            <a:off x="8403336" y="1783080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3단계  문서·화면 맥락</a:t>
            </a:r>
            <a:endParaRPr lang="en-US" sz="1800" dirty="0"/>
          </a:p>
        </p:txBody>
      </p:sp>
      <p:sp>
        <p:nvSpPr>
          <p:cNvPr id="14" name="ph2_bg"/>
          <p:cNvSpPr/>
          <p:nvPr/>
        </p:nvSpPr>
        <p:spPr>
          <a:xfrm>
            <a:off x="8129016" y="2697480"/>
            <a:ext cx="3511296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ph2_items"/>
          <p:cNvSpPr txBox="1"/>
          <p:nvPr/>
        </p:nvSpPr>
        <p:spPr>
          <a:xfrm>
            <a:off x="8403336" y="2880360"/>
            <a:ext cx="29626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회의 전 자료에서 키워드 자동 추출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웹 화면 공유 캡처·글자 인식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화면 맥락은 기획 정의 후 추진</a:t>
            </a:r>
            <a:endParaRPr lang="en-US" sz="1500" dirty="0"/>
          </a:p>
        </p:txBody>
      </p:sp>
      <p:sp>
        <p:nvSpPr>
          <p:cNvPr id="16" name="plan_note"/>
          <p:cNvSpPr/>
          <p:nvPr/>
        </p:nvSpPr>
        <p:spPr>
          <a:xfrm>
            <a:off x="548640" y="5257800"/>
            <a:ext cx="11091672" cy="457200"/>
          </a:xfrm>
          <a:prstGeom prst="roundRect">
            <a:avLst>
              <a:gd name="adj" fmla="val 24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plan_note_t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일정은 협의 후 확정합니다  ·  MCP 연동은 이번 범위에 포함하지 않습니다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r>
              <a:rPr lang="en-US" altLang="ko-KR" dirty="0"/>
              <a:t>12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Meeting Proposal">
  <a:themeElements>
    <a:clrScheme name="AI Meeting Proposal">
      <a:dk1>
        <a:srgbClr val="14213D"/>
      </a:dk1>
      <a:lt1>
        <a:srgbClr val="FFFFFF"/>
      </a:lt1>
      <a:dk2>
        <a:srgbClr val="475569"/>
      </a:dk2>
      <a:lt2>
        <a:srgbClr val="F1F5F9"/>
      </a:lt2>
      <a:accent1>
        <a:srgbClr val="2563EB"/>
      </a:accent1>
      <a:accent2>
        <a:srgbClr val="DBEAFE"/>
      </a:accent2>
      <a:accent3>
        <a:srgbClr val="94A3B8"/>
      </a:accent3>
      <a:accent4>
        <a:srgbClr val="D9480F"/>
      </a:accent4>
      <a:accent5>
        <a:srgbClr val="0F766E"/>
      </a:accent5>
      <a:accent6>
        <a:srgbClr val="FFEDD5"/>
      </a:accent6>
      <a:hlink>
        <a:srgbClr val="2563EB"/>
      </a:hlink>
      <a:folHlink>
        <a:srgbClr val="475569"/>
      </a:folHlink>
    </a:clrScheme>
    <a:fontScheme name="AI Meeting Propos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959</Words>
  <Application>Microsoft Macintosh PowerPoint</Application>
  <PresentationFormat>와이드스크린</PresentationFormat>
  <Paragraphs>226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AI Meeting Proposal</vt:lpstr>
      <vt:lpstr>AI회의록 고도화 제안</vt:lpstr>
      <vt:lpstr>이런 점이 달라집니다</vt:lpstr>
      <vt:lpstr>① 화자 자동 인식</vt:lpstr>
      <vt:lpstr>② 회의 전 자료로 용어 정확도 향상</vt:lpstr>
      <vt:lpstr>③ 회의 중 화면을 회의록에 연결</vt:lpstr>
      <vt:lpstr>구성은 이렇게 달라집니다</vt:lpstr>
      <vt:lpstr>상세 구성도</vt:lpstr>
      <vt:lpstr>AI 회의록 아키텍쳐</vt:lpstr>
      <vt:lpstr>AI 회의록 아키텍쳐</vt:lpstr>
      <vt:lpstr>준비할 것과 알아두실 점</vt:lpstr>
      <vt:lpstr>진행 계획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AI회의록 고도화 제안</dc:title>
  <dc:subject>PptxGenJS Presentation</dc:subject>
  <dc:creator>Timbel</dc:creator>
  <cp:lastModifiedBy>노 성남</cp:lastModifiedBy>
  <cp:revision>2</cp:revision>
  <dcterms:created xsi:type="dcterms:W3CDTF">2026-10-07T12:57:51Z</dcterms:created>
  <dcterms:modified xsi:type="dcterms:W3CDTF">2026-10-07T13:06:29Z</dcterms:modified>
</cp:coreProperties>
</file>