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하기" id="{c8aaaffc-7df3-32e1-c3b9-eb1b48ad60e0}">
          <p14:sldIdLst>
            <p14:sldId id="256"/>
            <p14:sldId id="257"/>
            <p14:sldId id="258"/>
            <p14:sldId id="259"/>
          </p14:sldIdLst>
        </p14:section>
        <p14:section name="단독 녹음" id="{9e680882-9acf-e0fe-3cc9-14f2d7bab4a0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그룹 녹음" id="{9765da25-720f-2592-54c8-1a42eb203408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예외 상황·FAQ" id="{e7e92af0-2900-9c3b-971c-5d7839d0568b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제목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6766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부제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806440"/>
            <a:ext cx="6766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작성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48840"/>
            <a:ext cx="6400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01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섹션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6949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설명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제목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부제</a:t>
            </a: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Timbel  ·  AI 회의록 녹음 기능 안내서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imeeting.skhynix.com/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imeeting.skhynix.com/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aimeeting.skhynix.com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회의록 녹음 기능 안내서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녹음 버튼부터 회의록 완성까지  ·  단독 녹음  ·  그룹 녹음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806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Timbel   |   2026. 10</a:t>
            </a:r>
            <a:endParaRPr lang="en-US" sz="1200" dirty="0"/>
          </a:p>
        </p:txBody>
      </p:sp>
      <p:sp>
        <p:nvSpPr>
          <p:cNvPr id="5" name="wave-1"/>
          <p:cNvSpPr/>
          <p:nvPr/>
        </p:nvSpPr>
        <p:spPr>
          <a:xfrm>
            <a:off x="7818120" y="3246120"/>
            <a:ext cx="109728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wave-2"/>
          <p:cNvSpPr/>
          <p:nvPr/>
        </p:nvSpPr>
        <p:spPr>
          <a:xfrm>
            <a:off x="8037576" y="3086100"/>
            <a:ext cx="109728" cy="685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wave-3"/>
          <p:cNvSpPr/>
          <p:nvPr/>
        </p:nvSpPr>
        <p:spPr>
          <a:xfrm>
            <a:off x="8257032" y="2880360"/>
            <a:ext cx="109728" cy="10972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wave-4"/>
          <p:cNvSpPr/>
          <p:nvPr/>
        </p:nvSpPr>
        <p:spPr>
          <a:xfrm>
            <a:off x="8476488" y="3017520"/>
            <a:ext cx="109728" cy="8229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9" name="wave-5"/>
          <p:cNvSpPr/>
          <p:nvPr/>
        </p:nvSpPr>
        <p:spPr>
          <a:xfrm>
            <a:off x="8695944" y="2674620"/>
            <a:ext cx="109728" cy="1508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wave-6"/>
          <p:cNvSpPr/>
          <p:nvPr/>
        </p:nvSpPr>
        <p:spPr>
          <a:xfrm>
            <a:off x="8915400" y="2377440"/>
            <a:ext cx="109728" cy="21031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wave-7"/>
          <p:cNvSpPr/>
          <p:nvPr/>
        </p:nvSpPr>
        <p:spPr>
          <a:xfrm>
            <a:off x="9134856" y="2766060"/>
            <a:ext cx="109728" cy="1325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wave-8"/>
          <p:cNvSpPr/>
          <p:nvPr/>
        </p:nvSpPr>
        <p:spPr>
          <a:xfrm>
            <a:off x="9354312" y="2994660"/>
            <a:ext cx="109728" cy="86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wave-9"/>
          <p:cNvSpPr/>
          <p:nvPr/>
        </p:nvSpPr>
        <p:spPr>
          <a:xfrm>
            <a:off x="9573768" y="2514600"/>
            <a:ext cx="109728" cy="1828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wave-10"/>
          <p:cNvSpPr/>
          <p:nvPr/>
        </p:nvSpPr>
        <p:spPr>
          <a:xfrm>
            <a:off x="9793224" y="2217420"/>
            <a:ext cx="109728" cy="24231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5" name="wave-11"/>
          <p:cNvSpPr/>
          <p:nvPr/>
        </p:nvSpPr>
        <p:spPr>
          <a:xfrm>
            <a:off x="10012680" y="2606040"/>
            <a:ext cx="109728" cy="16459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wave-12"/>
          <p:cNvSpPr/>
          <p:nvPr/>
        </p:nvSpPr>
        <p:spPr>
          <a:xfrm>
            <a:off x="10232136" y="2880360"/>
            <a:ext cx="109728" cy="10972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wave-13"/>
          <p:cNvSpPr/>
          <p:nvPr/>
        </p:nvSpPr>
        <p:spPr>
          <a:xfrm>
            <a:off x="10451592" y="2423160"/>
            <a:ext cx="109728" cy="20116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8" name="wave-14"/>
          <p:cNvSpPr/>
          <p:nvPr/>
        </p:nvSpPr>
        <p:spPr>
          <a:xfrm>
            <a:off x="10671048" y="2743200"/>
            <a:ext cx="109728" cy="137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wave-15"/>
          <p:cNvSpPr/>
          <p:nvPr/>
        </p:nvSpPr>
        <p:spPr>
          <a:xfrm>
            <a:off x="10890504" y="2994660"/>
            <a:ext cx="109728" cy="86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wave-16"/>
          <p:cNvSpPr/>
          <p:nvPr/>
        </p:nvSpPr>
        <p:spPr>
          <a:xfrm>
            <a:off x="11109960" y="2834640"/>
            <a:ext cx="109728" cy="11887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1" name="wave-17"/>
          <p:cNvSpPr/>
          <p:nvPr/>
        </p:nvSpPr>
        <p:spPr>
          <a:xfrm>
            <a:off x="11329416" y="3086100"/>
            <a:ext cx="109728" cy="685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wave-18"/>
          <p:cNvSpPr/>
          <p:nvPr/>
        </p:nvSpPr>
        <p:spPr>
          <a:xfrm>
            <a:off x="11548872" y="3246120"/>
            <a:ext cx="109728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chip-19"/>
          <p:cNvSpPr/>
          <p:nvPr/>
        </p:nvSpPr>
        <p:spPr>
          <a:xfrm>
            <a:off x="8961120" y="1691640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4" name="text-20"/>
          <p:cNvSpPr txBox="1"/>
          <p:nvPr/>
        </p:nvSpPr>
        <p:spPr>
          <a:xfrm>
            <a:off x="8961120" y="1691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● REC  00:12:34</a:t>
            </a:r>
            <a:endParaRPr lang="en-US" sz="1300" dirty="0"/>
          </a:p>
        </p:txBody>
      </p:sp>
      <p:sp>
        <p:nvSpPr>
          <p:cNvPr id="25" name="chip-21"/>
          <p:cNvSpPr/>
          <p:nvPr/>
        </p:nvSpPr>
        <p:spPr>
          <a:xfrm>
            <a:off x="10104120" y="4846320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text-22"/>
          <p:cNvSpPr txBox="1"/>
          <p:nvPr/>
        </p:nvSpPr>
        <p:spPr>
          <a:xfrm>
            <a:off x="10104120" y="4846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그룹 코드  A7K2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시작 전에 알아두세요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녹음은 모바일 앱에서, 회의록 확인은 PC에서 합니다</a:t>
            </a:r>
            <a:endParaRPr lang="en-US" sz="1600" dirty="0"/>
          </a:p>
        </p:txBody>
      </p:sp>
      <p:sp>
        <p:nvSpPr>
          <p:cNvPr id="4" name="card-23"/>
          <p:cNvSpPr/>
          <p:nvPr/>
        </p:nvSpPr>
        <p:spPr>
          <a:xfrm>
            <a:off x="548640" y="1783080"/>
            <a:ext cx="3515258" cy="434340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5" name="iconbg-24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2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400300"/>
            <a:ext cx="411480" cy="411480"/>
          </a:xfrm>
          <a:prstGeom prst="rect">
            <a:avLst/>
          </a:prstGeom>
        </p:spPr>
      </p:pic>
      <p:sp>
        <p:nvSpPr>
          <p:cNvPr id="7" name="text-26"/>
          <p:cNvSpPr txBox="1"/>
          <p:nvPr/>
        </p:nvSpPr>
        <p:spPr>
          <a:xfrm>
            <a:off x="914400" y="329184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모바일 앱에서 녹음</a:t>
            </a:r>
            <a:endParaRPr lang="en-US" sz="2000" dirty="0"/>
          </a:p>
        </p:txBody>
      </p:sp>
      <p:sp>
        <p:nvSpPr>
          <p:cNvPr id="8" name="text-27"/>
          <p:cNvSpPr txBox="1"/>
          <p:nvPr/>
        </p:nvSpPr>
        <p:spPr>
          <a:xfrm>
            <a:off x="914400" y="384048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앱에서 녹음과 업로드를 하고, 회의록이 완성되면 앱 알림함으로 알림을 받습니다.</a:t>
            </a:r>
            <a:endParaRPr lang="en-US" sz="1500" dirty="0"/>
          </a:p>
        </p:txBody>
      </p:sp>
      <p:sp>
        <p:nvSpPr>
          <p:cNvPr id="9" name="card-28"/>
          <p:cNvSpPr/>
          <p:nvPr/>
        </p:nvSpPr>
        <p:spPr>
          <a:xfrm>
            <a:off x="4338218" y="1783080"/>
            <a:ext cx="3515258" cy="434340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0" name="iconbg-29"/>
          <p:cNvSpPr/>
          <p:nvPr/>
        </p:nvSpPr>
        <p:spPr>
          <a:xfrm>
            <a:off x="4703978" y="2194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3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718" y="2400300"/>
            <a:ext cx="411480" cy="411480"/>
          </a:xfrm>
          <a:prstGeom prst="rect">
            <a:avLst/>
          </a:prstGeom>
        </p:spPr>
      </p:pic>
      <p:sp>
        <p:nvSpPr>
          <p:cNvPr id="12" name="text-31"/>
          <p:cNvSpPr txBox="1"/>
          <p:nvPr/>
        </p:nvSpPr>
        <p:spPr>
          <a:xfrm>
            <a:off x="4703978" y="329184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PC에서 회의록 확인</a:t>
            </a:r>
            <a:endParaRPr lang="en-US" sz="2000" dirty="0"/>
          </a:p>
        </p:txBody>
      </p:sp>
      <p:sp>
        <p:nvSpPr>
          <p:cNvPr id="13" name="text-32"/>
          <p:cNvSpPr txBox="1"/>
          <p:nvPr/>
        </p:nvSpPr>
        <p:spPr>
          <a:xfrm>
            <a:off x="4703978" y="384048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완성된 회의록은 PC에서 AI회의록 시스템에 접속해 확인합니다.</a:t>
            </a:r>
            <a:endParaRPr lang="en-US" sz="1500" dirty="0"/>
          </a:p>
        </p:txBody>
      </p:sp>
      <p:sp>
        <p:nvSpPr>
          <p:cNvPr id="14" name="chip-33"/>
          <p:cNvSpPr/>
          <p:nvPr/>
        </p:nvSpPr>
        <p:spPr>
          <a:xfrm>
            <a:off x="4703978" y="5212080"/>
            <a:ext cx="2783738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5" name="text-34"/>
          <p:cNvSpPr txBox="1"/>
          <p:nvPr/>
        </p:nvSpPr>
        <p:spPr>
          <a:xfrm>
            <a:off x="4703978" y="521208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6" name="text-35"/>
          <p:cNvSpPr txBox="1"/>
          <p:nvPr/>
        </p:nvSpPr>
        <p:spPr>
          <a:xfrm>
            <a:off x="4703978" y="521208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aimeeting.skhynix.com</a:t>
            </a:r>
            <a:endParaRPr lang="en-US" sz="1500" dirty="0"/>
          </a:p>
        </p:txBody>
      </p:sp>
      <p:sp>
        <p:nvSpPr>
          <p:cNvPr id="17" name="card-36"/>
          <p:cNvSpPr/>
          <p:nvPr/>
        </p:nvSpPr>
        <p:spPr>
          <a:xfrm>
            <a:off x="8127797" y="1783080"/>
            <a:ext cx="3515258" cy="4343400"/>
          </a:xfrm>
          <a:prstGeom prst="roundRect">
            <a:avLst>
              <a:gd name="adj" fmla="val 3121"/>
            </a:avLst>
          </a:prstGeom>
          <a:solidFill>
            <a:schemeClr val="accent6"/>
          </a:solidFill>
          <a:ln/>
        </p:spPr>
      </p:sp>
      <p:sp>
        <p:nvSpPr>
          <p:cNvPr id="18" name="iconbg-37"/>
          <p:cNvSpPr/>
          <p:nvPr/>
        </p:nvSpPr>
        <p:spPr>
          <a:xfrm>
            <a:off x="8493557" y="21945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con-3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9297" y="2400300"/>
            <a:ext cx="411480" cy="411480"/>
          </a:xfrm>
          <a:prstGeom prst="rect">
            <a:avLst/>
          </a:prstGeom>
        </p:spPr>
      </p:pic>
      <p:sp>
        <p:nvSpPr>
          <p:cNvPr id="20" name="text-39"/>
          <p:cNvSpPr txBox="1"/>
          <p:nvPr/>
        </p:nvSpPr>
        <p:spPr>
          <a:xfrm>
            <a:off x="8493557" y="329184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관리자에게 메일 발송</a:t>
            </a:r>
            <a:endParaRPr lang="en-US" sz="2000" dirty="0"/>
          </a:p>
        </p:txBody>
      </p:sp>
      <p:sp>
        <p:nvSpPr>
          <p:cNvPr id="21" name="text-40"/>
          <p:cNvSpPr txBox="1"/>
          <p:nvPr/>
        </p:nvSpPr>
        <p:spPr>
          <a:xfrm>
            <a:off x="8493557" y="384048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녹음을 시작하면 관리자에게 메일이 발송됩니다. 회의 시작 전, 참석자에게 녹음 동의를 받아 주세요.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녹음 방식은 두 가지입니다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홈 화면 가운데 [녹음] 버튼을 누르면 녹음 방식을 고를 수 있습니다</a:t>
            </a:r>
            <a:endParaRPr lang="en-US" sz="1600" dirty="0"/>
          </a:p>
        </p:txBody>
      </p:sp>
      <p:sp>
        <p:nvSpPr>
          <p:cNvPr id="4" name="card-41"/>
          <p:cNvSpPr/>
          <p:nvPr/>
        </p:nvSpPr>
        <p:spPr>
          <a:xfrm>
            <a:off x="548640" y="1783080"/>
            <a:ext cx="4069080" cy="4343400"/>
          </a:xfrm>
          <a:prstGeom prst="roundRect">
            <a:avLst>
              <a:gd name="adj" fmla="val 2697"/>
            </a:avLst>
          </a:prstGeom>
          <a:solidFill>
            <a:schemeClr val="bg2"/>
          </a:solidFill>
          <a:ln/>
        </p:spPr>
      </p:sp>
      <p:sp>
        <p:nvSpPr>
          <p:cNvPr id="5" name="chip-42"/>
          <p:cNvSpPr/>
          <p:nvPr/>
        </p:nvSpPr>
        <p:spPr>
          <a:xfrm>
            <a:off x="868680" y="205740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-43"/>
          <p:cNvSpPr txBox="1"/>
          <p:nvPr/>
        </p:nvSpPr>
        <p:spPr>
          <a:xfrm>
            <a:off x="868680" y="2057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메뉴: 녹음</a:t>
            </a:r>
            <a:endParaRPr lang="en-US" sz="1100" dirty="0"/>
          </a:p>
        </p:txBody>
      </p:sp>
      <p:sp>
        <p:nvSpPr>
          <p:cNvPr id="7" name="text-44"/>
          <p:cNvSpPr txBox="1"/>
          <p:nvPr/>
        </p:nvSpPr>
        <p:spPr>
          <a:xfrm>
            <a:off x="868680" y="2468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단독 녹음</a:t>
            </a:r>
            <a:endParaRPr lang="en-US" sz="2200" dirty="0"/>
          </a:p>
        </p:txBody>
      </p:sp>
      <p:sp>
        <p:nvSpPr>
          <p:cNvPr id="8" name="text-45"/>
          <p:cNvSpPr txBox="1"/>
          <p:nvPr/>
        </p:nvSpPr>
        <p:spPr>
          <a:xfrm>
            <a:off x="868680" y="2926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휴대폰 1대로 회의를 녹음할 때</a:t>
            </a:r>
            <a:endParaRPr lang="en-US" sz="1300" dirty="0"/>
          </a:p>
        </p:txBody>
      </p:sp>
      <p:sp>
        <p:nvSpPr>
          <p:cNvPr id="9" name="text-46"/>
          <p:cNvSpPr txBox="1"/>
          <p:nvPr/>
        </p:nvSpPr>
        <p:spPr>
          <a:xfrm>
            <a:off x="86868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1대</a:t>
            </a:r>
            <a:endParaRPr lang="en-US" sz="3000" dirty="0"/>
          </a:p>
        </p:txBody>
      </p:sp>
      <p:sp>
        <p:nvSpPr>
          <p:cNvPr id="10" name="text-47"/>
          <p:cNvSpPr txBox="1"/>
          <p:nvPr/>
        </p:nvSpPr>
        <p:spPr>
          <a:xfrm>
            <a:off x="868680" y="4142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참여 기기</a:t>
            </a:r>
            <a:endParaRPr lang="en-US" sz="1100" dirty="0"/>
          </a:p>
        </p:txBody>
      </p:sp>
      <p:sp>
        <p:nvSpPr>
          <p:cNvPr id="11" name="text-48"/>
          <p:cNvSpPr txBox="1"/>
          <p:nvPr/>
        </p:nvSpPr>
        <p:spPr>
          <a:xfrm>
            <a:off x="269748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3시간</a:t>
            </a:r>
            <a:endParaRPr lang="en-US" sz="3000" dirty="0"/>
          </a:p>
        </p:txBody>
      </p:sp>
      <p:sp>
        <p:nvSpPr>
          <p:cNvPr id="12" name="text-49"/>
          <p:cNvSpPr txBox="1"/>
          <p:nvPr/>
        </p:nvSpPr>
        <p:spPr>
          <a:xfrm>
            <a:off x="2697480" y="4142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최대 녹음 시간</a:t>
            </a:r>
            <a:endParaRPr lang="en-US" sz="1100" dirty="0"/>
          </a:p>
        </p:txBody>
      </p:sp>
      <p:sp>
        <p:nvSpPr>
          <p:cNvPr id="13" name="text-50"/>
          <p:cNvSpPr txBox="1"/>
          <p:nvPr/>
        </p:nvSpPr>
        <p:spPr>
          <a:xfrm>
            <a:off x="868680" y="4617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녹음 조작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본인이 직접</a:t>
            </a:r>
            <a:endParaRPr lang="en-US" sz="1400" dirty="0"/>
          </a:p>
        </p:txBody>
      </p:sp>
      <p:sp>
        <p:nvSpPr>
          <p:cNvPr id="14" name="text-51"/>
          <p:cNvSpPr txBox="1"/>
          <p:nvPr/>
        </p:nvSpPr>
        <p:spPr>
          <a:xfrm>
            <a:off x="868680" y="53035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결과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내 회의록 1건</a:t>
            </a:r>
            <a:endParaRPr lang="en-US" sz="1400" dirty="0"/>
          </a:p>
        </p:txBody>
      </p:sp>
      <p:sp>
        <p:nvSpPr>
          <p:cNvPr id="15" name="card-52"/>
          <p:cNvSpPr/>
          <p:nvPr/>
        </p:nvSpPr>
        <p:spPr>
          <a:xfrm>
            <a:off x="4892040" y="1783080"/>
            <a:ext cx="4069080" cy="4343400"/>
          </a:xfrm>
          <a:prstGeom prst="roundRect">
            <a:avLst>
              <a:gd name="adj" fmla="val 2697"/>
            </a:avLst>
          </a:prstGeom>
          <a:solidFill>
            <a:schemeClr val="bg2"/>
          </a:solidFill>
          <a:ln/>
        </p:spPr>
      </p:sp>
      <p:sp>
        <p:nvSpPr>
          <p:cNvPr id="16" name="chip-53"/>
          <p:cNvSpPr/>
          <p:nvPr/>
        </p:nvSpPr>
        <p:spPr>
          <a:xfrm>
            <a:off x="5212080" y="205740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7" name="text-54"/>
          <p:cNvSpPr txBox="1"/>
          <p:nvPr/>
        </p:nvSpPr>
        <p:spPr>
          <a:xfrm>
            <a:off x="5212080" y="2057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메뉴: 그룹 녹음</a:t>
            </a:r>
            <a:endParaRPr lang="en-US" sz="1100" dirty="0"/>
          </a:p>
        </p:txBody>
      </p:sp>
      <p:sp>
        <p:nvSpPr>
          <p:cNvPr id="18" name="text-55"/>
          <p:cNvSpPr txBox="1"/>
          <p:nvPr/>
        </p:nvSpPr>
        <p:spPr>
          <a:xfrm>
            <a:off x="5212080" y="2468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그룹 녹음</a:t>
            </a:r>
            <a:endParaRPr lang="en-US" sz="2200" dirty="0"/>
          </a:p>
        </p:txBody>
      </p:sp>
      <p:sp>
        <p:nvSpPr>
          <p:cNvPr id="19" name="text-56"/>
          <p:cNvSpPr txBox="1"/>
          <p:nvPr/>
        </p:nvSpPr>
        <p:spPr>
          <a:xfrm>
            <a:off x="5212080" y="2926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넓은 회의실 등에서 여러 대의 휴대폰을 자리마다 두고 함께 녹음할 때</a:t>
            </a:r>
            <a:endParaRPr lang="en-US" sz="1300" dirty="0"/>
          </a:p>
        </p:txBody>
      </p:sp>
      <p:sp>
        <p:nvSpPr>
          <p:cNvPr id="20" name="text-57"/>
          <p:cNvSpPr txBox="1"/>
          <p:nvPr/>
        </p:nvSpPr>
        <p:spPr>
          <a:xfrm>
            <a:off x="521208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최대 5대</a:t>
            </a:r>
            <a:endParaRPr lang="en-US" sz="3000" dirty="0"/>
          </a:p>
        </p:txBody>
      </p:sp>
      <p:sp>
        <p:nvSpPr>
          <p:cNvPr id="21" name="text-58"/>
          <p:cNvSpPr txBox="1"/>
          <p:nvPr/>
        </p:nvSpPr>
        <p:spPr>
          <a:xfrm>
            <a:off x="5212080" y="4142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참여 기기 (진행자 포함)</a:t>
            </a:r>
            <a:endParaRPr lang="en-US" sz="1100" dirty="0"/>
          </a:p>
        </p:txBody>
      </p:sp>
      <p:sp>
        <p:nvSpPr>
          <p:cNvPr id="22" name="text-59"/>
          <p:cNvSpPr txBox="1"/>
          <p:nvPr/>
        </p:nvSpPr>
        <p:spPr>
          <a:xfrm>
            <a:off x="704088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1시간</a:t>
            </a:r>
            <a:endParaRPr lang="en-US" sz="3000" dirty="0"/>
          </a:p>
        </p:txBody>
      </p:sp>
      <p:sp>
        <p:nvSpPr>
          <p:cNvPr id="23" name="text-60"/>
          <p:cNvSpPr txBox="1"/>
          <p:nvPr/>
        </p:nvSpPr>
        <p:spPr>
          <a:xfrm>
            <a:off x="7040880" y="4142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최대 녹음 시간</a:t>
            </a:r>
            <a:endParaRPr lang="en-US" sz="1100" dirty="0"/>
          </a:p>
        </p:txBody>
      </p:sp>
      <p:sp>
        <p:nvSpPr>
          <p:cNvPr id="24" name="text-61"/>
          <p:cNvSpPr txBox="1"/>
          <p:nvPr/>
        </p:nvSpPr>
        <p:spPr>
          <a:xfrm>
            <a:off x="5212080" y="4617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녹음 조작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진행자(방장)가 시작, 일시정지, 종료를 모두 제어</a:t>
            </a:r>
            <a:endParaRPr lang="en-US" sz="1400" dirty="0"/>
          </a:p>
        </p:txBody>
      </p:sp>
      <p:sp>
        <p:nvSpPr>
          <p:cNvPr id="25" name="text-62"/>
          <p:cNvSpPr txBox="1"/>
          <p:nvPr/>
        </p:nvSpPr>
        <p:spPr>
          <a:xfrm>
            <a:off x="5212080" y="53035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결과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모든 기기의 음성을 합친 회의록이 참여자 각자의 회의록으로 생성</a:t>
            </a:r>
            <a:endParaRPr lang="en-US" sz="1400" dirty="0"/>
          </a:p>
        </p:txBody>
      </p:sp>
      <p:sp>
        <p:nvSpPr>
          <p:cNvPr id="26" name="phone-63"/>
          <p:cNvSpPr/>
          <p:nvPr/>
        </p:nvSpPr>
        <p:spPr>
          <a:xfrm>
            <a:off x="9508018" y="1719072"/>
            <a:ext cx="2135037" cy="4471416"/>
          </a:xfrm>
          <a:prstGeom prst="roundRect">
            <a:avLst>
              <a:gd name="adj" fmla="val 942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27" name="screen-64" descr="녹음 방식 선택 메뉴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2026" y="1783080"/>
            <a:ext cx="2007021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녹음부터 회의록 완성까지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단독 녹음 기준, 6단계로 진행됩니다</a:t>
            </a:r>
            <a:endParaRPr lang="en-US" sz="1600" dirty="0"/>
          </a:p>
        </p:txBody>
      </p:sp>
      <p:sp>
        <p:nvSpPr>
          <p:cNvPr id="4" name="chip-65"/>
          <p:cNvSpPr/>
          <p:nvPr/>
        </p:nvSpPr>
        <p:spPr>
          <a:xfrm>
            <a:off x="548640" y="1783080"/>
            <a:ext cx="137160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5" name="text-66"/>
          <p:cNvSpPr txBox="1"/>
          <p:nvPr/>
        </p:nvSpPr>
        <p:spPr>
          <a:xfrm>
            <a:off x="548640" y="1783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내가 하는 일</a:t>
            </a:r>
            <a:endParaRPr lang="en-US" sz="1100" dirty="0"/>
          </a:p>
        </p:txBody>
      </p:sp>
      <p:sp>
        <p:nvSpPr>
          <p:cNvPr id="6" name="chip-67"/>
          <p:cNvSpPr/>
          <p:nvPr/>
        </p:nvSpPr>
        <p:spPr>
          <a:xfrm>
            <a:off x="6210148" y="1783080"/>
            <a:ext cx="13716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text-68"/>
          <p:cNvSpPr txBox="1"/>
          <p:nvPr/>
        </p:nvSpPr>
        <p:spPr>
          <a:xfrm>
            <a:off x="6210148" y="1783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자동으로 진행</a:t>
            </a:r>
            <a:endParaRPr lang="en-US" sz="1100" dirty="0"/>
          </a:p>
        </p:txBody>
      </p:sp>
      <p:sp>
        <p:nvSpPr>
          <p:cNvPr id="8" name="card-69"/>
          <p:cNvSpPr/>
          <p:nvPr/>
        </p:nvSpPr>
        <p:spPr>
          <a:xfrm>
            <a:off x="548640" y="2240280"/>
            <a:ext cx="1658569" cy="251460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/>
        </p:spPr>
      </p:sp>
      <p:sp>
        <p:nvSpPr>
          <p:cNvPr id="9" name="num-70"/>
          <p:cNvSpPr/>
          <p:nvPr/>
        </p:nvSpPr>
        <p:spPr>
          <a:xfrm>
            <a:off x="777240" y="25146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-71"/>
          <p:cNvSpPr txBox="1"/>
          <p:nvPr/>
        </p:nvSpPr>
        <p:spPr>
          <a:xfrm>
            <a:off x="7772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-72"/>
          <p:cNvSpPr txBox="1"/>
          <p:nvPr/>
        </p:nvSpPr>
        <p:spPr>
          <a:xfrm>
            <a:off x="777240" y="310896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STEP 1</a:t>
            </a:r>
            <a:endParaRPr lang="en-US" sz="1100" dirty="0"/>
          </a:p>
        </p:txBody>
      </p:sp>
      <p:sp>
        <p:nvSpPr>
          <p:cNvPr id="12" name="text-73"/>
          <p:cNvSpPr txBox="1"/>
          <p:nvPr/>
        </p:nvSpPr>
        <p:spPr>
          <a:xfrm>
            <a:off x="777240" y="3383280"/>
            <a:ext cx="12928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녹음 시작</a:t>
            </a:r>
            <a:endParaRPr lang="en-US" sz="1700" dirty="0"/>
          </a:p>
        </p:txBody>
      </p:sp>
      <p:sp>
        <p:nvSpPr>
          <p:cNvPr id="13" name="text-74"/>
          <p:cNvSpPr txBox="1"/>
          <p:nvPr/>
        </p:nvSpPr>
        <p:spPr>
          <a:xfrm>
            <a:off x="777240" y="3840480"/>
            <a:ext cx="129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관리자 메일 발송 확인 후 [확인]</a:t>
            </a:r>
            <a:endParaRPr lang="en-US" sz="1200" dirty="0"/>
          </a:p>
        </p:txBody>
      </p:sp>
      <p:sp>
        <p:nvSpPr>
          <p:cNvPr id="14" name="card-75"/>
          <p:cNvSpPr/>
          <p:nvPr/>
        </p:nvSpPr>
        <p:spPr>
          <a:xfrm>
            <a:off x="2435809" y="2240280"/>
            <a:ext cx="1658569" cy="251460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/>
        </p:spPr>
      </p:sp>
      <p:sp>
        <p:nvSpPr>
          <p:cNvPr id="15" name="num-76"/>
          <p:cNvSpPr/>
          <p:nvPr/>
        </p:nvSpPr>
        <p:spPr>
          <a:xfrm>
            <a:off x="2664409" y="25146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text-77"/>
          <p:cNvSpPr txBox="1"/>
          <p:nvPr/>
        </p:nvSpPr>
        <p:spPr>
          <a:xfrm>
            <a:off x="2664409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-78"/>
          <p:cNvSpPr txBox="1"/>
          <p:nvPr/>
        </p:nvSpPr>
        <p:spPr>
          <a:xfrm>
            <a:off x="2664409" y="310896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STEP 2</a:t>
            </a:r>
            <a:endParaRPr lang="en-US" sz="1100" dirty="0"/>
          </a:p>
        </p:txBody>
      </p:sp>
      <p:sp>
        <p:nvSpPr>
          <p:cNvPr id="18" name="text-79"/>
          <p:cNvSpPr txBox="1"/>
          <p:nvPr/>
        </p:nvSpPr>
        <p:spPr>
          <a:xfrm>
            <a:off x="2664409" y="3383280"/>
            <a:ext cx="12928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녹음 중</a:t>
            </a:r>
            <a:endParaRPr lang="en-US" sz="1700" dirty="0"/>
          </a:p>
        </p:txBody>
      </p:sp>
      <p:sp>
        <p:nvSpPr>
          <p:cNvPr id="19" name="text-80"/>
          <p:cNvSpPr txBox="1"/>
          <p:nvPr/>
        </p:nvSpPr>
        <p:spPr>
          <a:xfrm>
            <a:off x="2664409" y="3840480"/>
            <a:ext cx="129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일시정지·재개, 전화·알림은 자동 처리</a:t>
            </a:r>
            <a:endParaRPr lang="en-US" sz="1200" dirty="0"/>
          </a:p>
        </p:txBody>
      </p:sp>
      <p:sp>
        <p:nvSpPr>
          <p:cNvPr id="20" name="card-81"/>
          <p:cNvSpPr/>
          <p:nvPr/>
        </p:nvSpPr>
        <p:spPr>
          <a:xfrm>
            <a:off x="4322978" y="2240280"/>
            <a:ext cx="1658569" cy="251460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/>
        </p:spPr>
      </p:sp>
      <p:sp>
        <p:nvSpPr>
          <p:cNvPr id="21" name="num-82"/>
          <p:cNvSpPr/>
          <p:nvPr/>
        </p:nvSpPr>
        <p:spPr>
          <a:xfrm>
            <a:off x="4551578" y="25146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text-83"/>
          <p:cNvSpPr txBox="1"/>
          <p:nvPr/>
        </p:nvSpPr>
        <p:spPr>
          <a:xfrm>
            <a:off x="455157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-84"/>
          <p:cNvSpPr txBox="1"/>
          <p:nvPr/>
        </p:nvSpPr>
        <p:spPr>
          <a:xfrm>
            <a:off x="4551578" y="310896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STEP 3</a:t>
            </a:r>
            <a:endParaRPr lang="en-US" sz="1100" dirty="0"/>
          </a:p>
        </p:txBody>
      </p:sp>
      <p:sp>
        <p:nvSpPr>
          <p:cNvPr id="24" name="text-85"/>
          <p:cNvSpPr txBox="1"/>
          <p:nvPr/>
        </p:nvSpPr>
        <p:spPr>
          <a:xfrm>
            <a:off x="4551578" y="3383280"/>
            <a:ext cx="12928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종료·설정</a:t>
            </a:r>
            <a:endParaRPr lang="en-US" sz="1700" dirty="0"/>
          </a:p>
        </p:txBody>
      </p:sp>
      <p:sp>
        <p:nvSpPr>
          <p:cNvPr id="25" name="text-86"/>
          <p:cNvSpPr txBox="1"/>
          <p:nvPr/>
        </p:nvSpPr>
        <p:spPr>
          <a:xfrm>
            <a:off x="4551578" y="3840480"/>
            <a:ext cx="129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참석자 수, 언어, 템플릿, 제목 입력 후 [확인]</a:t>
            </a:r>
            <a:endParaRPr lang="en-US" sz="1200" dirty="0"/>
          </a:p>
        </p:txBody>
      </p:sp>
      <p:sp>
        <p:nvSpPr>
          <p:cNvPr id="26" name="card-87"/>
          <p:cNvSpPr/>
          <p:nvPr/>
        </p:nvSpPr>
        <p:spPr>
          <a:xfrm>
            <a:off x="6210148" y="2240280"/>
            <a:ext cx="1658569" cy="2514600"/>
          </a:xfrm>
          <a:prstGeom prst="roundRect">
            <a:avLst>
              <a:gd name="adj" fmla="val 6616"/>
            </a:avLst>
          </a:prstGeom>
          <a:solidFill>
            <a:schemeClr val="accent2"/>
          </a:solidFill>
          <a:ln/>
        </p:spPr>
      </p:sp>
      <p:sp>
        <p:nvSpPr>
          <p:cNvPr id="27" name="num-88"/>
          <p:cNvSpPr/>
          <p:nvPr/>
        </p:nvSpPr>
        <p:spPr>
          <a:xfrm>
            <a:off x="6438748" y="2514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-89"/>
          <p:cNvSpPr txBox="1"/>
          <p:nvPr/>
        </p:nvSpPr>
        <p:spPr>
          <a:xfrm>
            <a:off x="643874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-90"/>
          <p:cNvSpPr txBox="1"/>
          <p:nvPr/>
        </p:nvSpPr>
        <p:spPr>
          <a:xfrm>
            <a:off x="6438748" y="310896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4</a:t>
            </a:r>
            <a:endParaRPr lang="en-US" sz="1100" dirty="0"/>
          </a:p>
        </p:txBody>
      </p:sp>
      <p:sp>
        <p:nvSpPr>
          <p:cNvPr id="30" name="text-91"/>
          <p:cNvSpPr txBox="1"/>
          <p:nvPr/>
        </p:nvSpPr>
        <p:spPr>
          <a:xfrm>
            <a:off x="6438748" y="3383280"/>
            <a:ext cx="12928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파일 업로드</a:t>
            </a:r>
            <a:endParaRPr lang="en-US" sz="1700" dirty="0"/>
          </a:p>
        </p:txBody>
      </p:sp>
      <p:sp>
        <p:nvSpPr>
          <p:cNvPr id="31" name="text-92"/>
          <p:cNvSpPr txBox="1"/>
          <p:nvPr/>
        </p:nvSpPr>
        <p:spPr>
          <a:xfrm>
            <a:off x="6438748" y="3840480"/>
            <a:ext cx="129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홈 하단 패널에서 진행률 확인</a:t>
            </a:r>
            <a:endParaRPr lang="en-US" sz="1200" dirty="0"/>
          </a:p>
        </p:txBody>
      </p:sp>
      <p:sp>
        <p:nvSpPr>
          <p:cNvPr id="32" name="card-93"/>
          <p:cNvSpPr/>
          <p:nvPr/>
        </p:nvSpPr>
        <p:spPr>
          <a:xfrm>
            <a:off x="8097317" y="2240280"/>
            <a:ext cx="1658569" cy="2514600"/>
          </a:xfrm>
          <a:prstGeom prst="roundRect">
            <a:avLst>
              <a:gd name="adj" fmla="val 6616"/>
            </a:avLst>
          </a:prstGeom>
          <a:solidFill>
            <a:schemeClr val="accent2"/>
          </a:solidFill>
          <a:ln/>
        </p:spPr>
      </p:sp>
      <p:sp>
        <p:nvSpPr>
          <p:cNvPr id="33" name="num-94"/>
          <p:cNvSpPr/>
          <p:nvPr/>
        </p:nvSpPr>
        <p:spPr>
          <a:xfrm>
            <a:off x="8325917" y="2514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-95"/>
          <p:cNvSpPr txBox="1"/>
          <p:nvPr/>
        </p:nvSpPr>
        <p:spPr>
          <a:xfrm>
            <a:off x="8325917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-96"/>
          <p:cNvSpPr txBox="1"/>
          <p:nvPr/>
        </p:nvSpPr>
        <p:spPr>
          <a:xfrm>
            <a:off x="8325917" y="310896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5</a:t>
            </a:r>
            <a:endParaRPr lang="en-US" sz="1100" dirty="0"/>
          </a:p>
        </p:txBody>
      </p:sp>
      <p:sp>
        <p:nvSpPr>
          <p:cNvPr id="36" name="text-97"/>
          <p:cNvSpPr txBox="1"/>
          <p:nvPr/>
        </p:nvSpPr>
        <p:spPr>
          <a:xfrm>
            <a:off x="8325917" y="3383280"/>
            <a:ext cx="12928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파일 변환</a:t>
            </a:r>
            <a:endParaRPr lang="en-US" sz="1700" dirty="0"/>
          </a:p>
        </p:txBody>
      </p:sp>
      <p:sp>
        <p:nvSpPr>
          <p:cNvPr id="37" name="text-98"/>
          <p:cNvSpPr txBox="1"/>
          <p:nvPr/>
        </p:nvSpPr>
        <p:spPr>
          <a:xfrm>
            <a:off x="8325917" y="3840480"/>
            <a:ext cx="129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서버에서 음성 인식 → 요약</a:t>
            </a:r>
            <a:endParaRPr lang="en-US" sz="1200" dirty="0"/>
          </a:p>
        </p:txBody>
      </p:sp>
      <p:sp>
        <p:nvSpPr>
          <p:cNvPr id="38" name="card-99"/>
          <p:cNvSpPr/>
          <p:nvPr/>
        </p:nvSpPr>
        <p:spPr>
          <a:xfrm>
            <a:off x="9984486" y="2240280"/>
            <a:ext cx="1658569" cy="2514600"/>
          </a:xfrm>
          <a:prstGeom prst="roundRect">
            <a:avLst>
              <a:gd name="adj" fmla="val 6616"/>
            </a:avLst>
          </a:prstGeom>
          <a:solidFill>
            <a:schemeClr val="accent2"/>
          </a:solidFill>
          <a:ln/>
        </p:spPr>
      </p:sp>
      <p:sp>
        <p:nvSpPr>
          <p:cNvPr id="39" name="num-100"/>
          <p:cNvSpPr/>
          <p:nvPr/>
        </p:nvSpPr>
        <p:spPr>
          <a:xfrm>
            <a:off x="10213086" y="2514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-101"/>
          <p:cNvSpPr txBox="1"/>
          <p:nvPr/>
        </p:nvSpPr>
        <p:spPr>
          <a:xfrm>
            <a:off x="10213086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41" name="text-102"/>
          <p:cNvSpPr txBox="1"/>
          <p:nvPr/>
        </p:nvSpPr>
        <p:spPr>
          <a:xfrm>
            <a:off x="10213086" y="310896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6</a:t>
            </a:r>
            <a:endParaRPr lang="en-US" sz="1100" dirty="0"/>
          </a:p>
        </p:txBody>
      </p:sp>
      <p:sp>
        <p:nvSpPr>
          <p:cNvPr id="42" name="text-103"/>
          <p:cNvSpPr txBox="1"/>
          <p:nvPr/>
        </p:nvSpPr>
        <p:spPr>
          <a:xfrm>
            <a:off x="10213086" y="3383280"/>
            <a:ext cx="12928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회의록 완성</a:t>
            </a:r>
            <a:endParaRPr lang="en-US" sz="1700" dirty="0"/>
          </a:p>
        </p:txBody>
      </p:sp>
      <p:sp>
        <p:nvSpPr>
          <p:cNvPr id="43" name="text-104"/>
          <p:cNvSpPr txBox="1"/>
          <p:nvPr/>
        </p:nvSpPr>
        <p:spPr>
          <a:xfrm>
            <a:off x="10213086" y="3840480"/>
            <a:ext cx="129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알림함 알림 → PC 웹에서 확인</a:t>
            </a:r>
            <a:endParaRPr lang="en-US" sz="1200" dirty="0"/>
          </a:p>
        </p:txBody>
      </p:sp>
      <p:sp>
        <p:nvSpPr>
          <p:cNvPr id="44" name="card-105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10435"/>
            </a:avLst>
          </a:prstGeom>
          <a:solidFill>
            <a:schemeClr val="accent2"/>
          </a:solidFill>
          <a:ln/>
        </p:spPr>
      </p:sp>
      <p:sp>
        <p:nvSpPr>
          <p:cNvPr id="45" name="iconbg-106"/>
          <p:cNvSpPr/>
          <p:nvPr/>
        </p:nvSpPr>
        <p:spPr>
          <a:xfrm>
            <a:off x="822960" y="5349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6" name="icon-10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474970"/>
            <a:ext cx="251460" cy="251460"/>
          </a:xfrm>
          <a:prstGeom prst="rect">
            <a:avLst/>
          </a:prstGeom>
        </p:spPr>
      </p:pic>
      <p:sp>
        <p:nvSpPr>
          <p:cNvPr id="47" name="text-108"/>
          <p:cNvSpPr txBox="1"/>
          <p:nvPr/>
        </p:nvSpPr>
        <p:spPr>
          <a:xfrm>
            <a:off x="1554480" y="5184648"/>
            <a:ext cx="98599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STEP 3에서 [확인]을 누르면 바로 새 녹음을 시작할 수 있습니다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업로드가 끝날 때까지 기다리지 않아도 됩니다. 앞선 녹음은 순서대로 자동 업로드됩니다.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48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01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단독 녹음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휴대폰 1대로 녹음하고 회의록을 만드는 과정</a:t>
            </a:r>
            <a:endParaRPr lang="en-US" sz="1800" dirty="0"/>
          </a:p>
        </p:txBody>
      </p:sp>
      <p:sp>
        <p:nvSpPr>
          <p:cNvPr id="5" name="wave-109"/>
          <p:cNvSpPr/>
          <p:nvPr/>
        </p:nvSpPr>
        <p:spPr>
          <a:xfrm>
            <a:off x="7818120" y="3136392"/>
            <a:ext cx="93269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6" name="wave-110"/>
          <p:cNvSpPr/>
          <p:nvPr/>
        </p:nvSpPr>
        <p:spPr>
          <a:xfrm>
            <a:off x="8004658" y="3000375"/>
            <a:ext cx="93269" cy="58293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7" name="wave-111"/>
          <p:cNvSpPr/>
          <p:nvPr/>
        </p:nvSpPr>
        <p:spPr>
          <a:xfrm>
            <a:off x="8191195" y="2825496"/>
            <a:ext cx="93269" cy="93268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8" name="wave-112"/>
          <p:cNvSpPr/>
          <p:nvPr/>
        </p:nvSpPr>
        <p:spPr>
          <a:xfrm>
            <a:off x="8377733" y="2942082"/>
            <a:ext cx="93269" cy="699516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9" name="wave-113"/>
          <p:cNvSpPr/>
          <p:nvPr/>
        </p:nvSpPr>
        <p:spPr>
          <a:xfrm>
            <a:off x="8564270" y="2650617"/>
            <a:ext cx="93269" cy="1282446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0" name="wave-114"/>
          <p:cNvSpPr/>
          <p:nvPr/>
        </p:nvSpPr>
        <p:spPr>
          <a:xfrm>
            <a:off x="8750808" y="2398014"/>
            <a:ext cx="93269" cy="1787652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1" name="wave-115"/>
          <p:cNvSpPr/>
          <p:nvPr/>
        </p:nvSpPr>
        <p:spPr>
          <a:xfrm>
            <a:off x="8937346" y="2728341"/>
            <a:ext cx="93269" cy="1126998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12" name="wave-116"/>
          <p:cNvSpPr/>
          <p:nvPr/>
        </p:nvSpPr>
        <p:spPr>
          <a:xfrm>
            <a:off x="9123883" y="2922651"/>
            <a:ext cx="93269" cy="73837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3" name="wave-117"/>
          <p:cNvSpPr/>
          <p:nvPr/>
        </p:nvSpPr>
        <p:spPr>
          <a:xfrm>
            <a:off x="9310421" y="2514600"/>
            <a:ext cx="93269" cy="155448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4" name="wave-118"/>
          <p:cNvSpPr/>
          <p:nvPr/>
        </p:nvSpPr>
        <p:spPr>
          <a:xfrm>
            <a:off x="9496958" y="2261997"/>
            <a:ext cx="93269" cy="2059686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5" name="wave-119"/>
          <p:cNvSpPr/>
          <p:nvPr/>
        </p:nvSpPr>
        <p:spPr>
          <a:xfrm>
            <a:off x="9683496" y="2592324"/>
            <a:ext cx="93269" cy="1399032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6" name="wave-120"/>
          <p:cNvSpPr/>
          <p:nvPr/>
        </p:nvSpPr>
        <p:spPr>
          <a:xfrm>
            <a:off x="9870034" y="2825496"/>
            <a:ext cx="93269" cy="93268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7" name="wave-121"/>
          <p:cNvSpPr/>
          <p:nvPr/>
        </p:nvSpPr>
        <p:spPr>
          <a:xfrm>
            <a:off x="10056571" y="2436876"/>
            <a:ext cx="93269" cy="1709928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8" name="wave-122"/>
          <p:cNvSpPr/>
          <p:nvPr/>
        </p:nvSpPr>
        <p:spPr>
          <a:xfrm>
            <a:off x="10243109" y="2708910"/>
            <a:ext cx="93269" cy="116586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9" name="wave-123"/>
          <p:cNvSpPr/>
          <p:nvPr/>
        </p:nvSpPr>
        <p:spPr>
          <a:xfrm>
            <a:off x="10429646" y="2922651"/>
            <a:ext cx="93269" cy="73837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0" name="wave-124"/>
          <p:cNvSpPr/>
          <p:nvPr/>
        </p:nvSpPr>
        <p:spPr>
          <a:xfrm>
            <a:off x="10616184" y="2786634"/>
            <a:ext cx="93269" cy="1010412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21" name="wave-125"/>
          <p:cNvSpPr/>
          <p:nvPr/>
        </p:nvSpPr>
        <p:spPr>
          <a:xfrm>
            <a:off x="10802722" y="3000375"/>
            <a:ext cx="93269" cy="58293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2" name="wave-126"/>
          <p:cNvSpPr/>
          <p:nvPr/>
        </p:nvSpPr>
        <p:spPr>
          <a:xfrm>
            <a:off x="10989259" y="3136392"/>
            <a:ext cx="93269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1  녹음 시작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녹음 버튼을 누르고 확인 창에서 [확인]을 눌러야 녹음이 시작됩니다</a:t>
            </a:r>
            <a:endParaRPr lang="en-US" sz="1600" dirty="0"/>
          </a:p>
        </p:txBody>
      </p:sp>
      <p:sp>
        <p:nvSpPr>
          <p:cNvPr id="4" name="card-127"/>
          <p:cNvSpPr/>
          <p:nvPr/>
        </p:nvSpPr>
        <p:spPr>
          <a:xfrm>
            <a:off x="548640" y="1783080"/>
            <a:ext cx="6263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num-128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129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130"/>
          <p:cNvSpPr txBox="1"/>
          <p:nvPr/>
        </p:nvSpPr>
        <p:spPr>
          <a:xfrm>
            <a:off x="1463040" y="1874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홈의 [녹음] 버튼 → 녹음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녹음 화면이 열립니다. 화면에 들어가기만 해서는 녹음이 시작되지 않습니다.</a:t>
            </a:r>
            <a:endParaRPr lang="en-US" sz="1400" dirty="0"/>
          </a:p>
        </p:txBody>
      </p:sp>
      <p:sp>
        <p:nvSpPr>
          <p:cNvPr id="8" name="card-131"/>
          <p:cNvSpPr/>
          <p:nvPr/>
        </p:nvSpPr>
        <p:spPr>
          <a:xfrm>
            <a:off x="548640" y="2834640"/>
            <a:ext cx="6263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num-132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-133"/>
          <p:cNvSpPr txBox="1"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-134"/>
          <p:cNvSpPr txBox="1"/>
          <p:nvPr/>
        </p:nvSpPr>
        <p:spPr>
          <a:xfrm>
            <a:off x="1463040" y="2926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가운데 녹음 버튼 누르기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"녹음을 시작할까요?" 확인 창이 나타납니다.</a:t>
            </a:r>
            <a:endParaRPr lang="en-US" sz="1400" dirty="0"/>
          </a:p>
        </p:txBody>
      </p:sp>
      <p:sp>
        <p:nvSpPr>
          <p:cNvPr id="12" name="card-135"/>
          <p:cNvSpPr/>
          <p:nvPr/>
        </p:nvSpPr>
        <p:spPr>
          <a:xfrm>
            <a:off x="548640" y="3886200"/>
            <a:ext cx="6263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3" name="num-136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-137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-138"/>
          <p:cNvSpPr txBox="1"/>
          <p:nvPr/>
        </p:nvSpPr>
        <p:spPr>
          <a:xfrm>
            <a:off x="1463040" y="3977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[확인] 누르기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관리자에게 메일이 발송되고 녹음이 시작됩니다. 경과 시간과 음성 파형이 표시됩니다.</a:t>
            </a:r>
            <a:endParaRPr lang="en-US" sz="1400" dirty="0"/>
          </a:p>
        </p:txBody>
      </p:sp>
      <p:sp>
        <p:nvSpPr>
          <p:cNvPr id="16" name="card-139"/>
          <p:cNvSpPr/>
          <p:nvPr/>
        </p:nvSpPr>
        <p:spPr>
          <a:xfrm>
            <a:off x="548640" y="5029200"/>
            <a:ext cx="626364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17" name="iconbg-140"/>
          <p:cNvSpPr/>
          <p:nvPr/>
        </p:nvSpPr>
        <p:spPr>
          <a:xfrm>
            <a:off x="822960" y="53263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-14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452110"/>
            <a:ext cx="251460" cy="251460"/>
          </a:xfrm>
          <a:prstGeom prst="rect">
            <a:avLst/>
          </a:prstGeom>
        </p:spPr>
      </p:pic>
      <p:sp>
        <p:nvSpPr>
          <p:cNvPr id="19" name="text-142"/>
          <p:cNvSpPr txBox="1"/>
          <p:nvPr/>
        </p:nvSpPr>
        <p:spPr>
          <a:xfrm>
            <a:off x="1554480" y="5138928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메일 발송에 실패하면 녹음이 시작되지 않습니다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"이메일 발송에 실패하였습니다." 안내가 나오면 네트워크 연결을 확인한 뒤 다시 시도해 주세요.</a:t>
            </a:r>
            <a:endParaRPr lang="en-US" sz="1400" dirty="0"/>
          </a:p>
        </p:txBody>
      </p:sp>
      <p:sp>
        <p:nvSpPr>
          <p:cNvPr id="20" name="phone-143"/>
          <p:cNvSpPr/>
          <p:nvPr/>
        </p:nvSpPr>
        <p:spPr>
          <a:xfrm>
            <a:off x="7297315" y="1719072"/>
            <a:ext cx="2008278" cy="4197096"/>
          </a:xfrm>
          <a:prstGeom prst="roundRect">
            <a:avLst>
              <a:gd name="adj" fmla="val 1001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21" name="screen-144" descr="녹음 시작 확인 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323" y="1783080"/>
            <a:ext cx="1880262" cy="4069080"/>
          </a:xfrm>
          <a:prstGeom prst="rect">
            <a:avLst/>
          </a:prstGeom>
        </p:spPr>
      </p:pic>
      <p:sp>
        <p:nvSpPr>
          <p:cNvPr id="22" name="phone-145"/>
          <p:cNvSpPr/>
          <p:nvPr/>
        </p:nvSpPr>
        <p:spPr>
          <a:xfrm>
            <a:off x="9634777" y="1719072"/>
            <a:ext cx="2008278" cy="4197096"/>
          </a:xfrm>
          <a:prstGeom prst="roundRect">
            <a:avLst>
              <a:gd name="adj" fmla="val 1001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23" name="screen-146" descr="단독 녹음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8785" y="1783080"/>
            <a:ext cx="1880262" cy="4069080"/>
          </a:xfrm>
          <a:prstGeom prst="rect">
            <a:avLst/>
          </a:prstGeom>
        </p:spPr>
      </p:pic>
      <p:sp>
        <p:nvSpPr>
          <p:cNvPr id="24" name="text-147"/>
          <p:cNvSpPr txBox="1"/>
          <p:nvPr/>
        </p:nvSpPr>
        <p:spPr>
          <a:xfrm>
            <a:off x="7178443" y="5943600"/>
            <a:ext cx="22460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녹음 시작 확인 창</a:t>
            </a:r>
            <a:endParaRPr lang="en-US" sz="1200" dirty="0"/>
          </a:p>
        </p:txBody>
      </p:sp>
      <p:sp>
        <p:nvSpPr>
          <p:cNvPr id="25" name="text-148"/>
          <p:cNvSpPr txBox="1"/>
          <p:nvPr/>
        </p:nvSpPr>
        <p:spPr>
          <a:xfrm>
            <a:off x="9515905" y="5943600"/>
            <a:ext cx="22460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녹음 화면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2  녹음 중 조작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버튼을 누르거나 화면을 이동할 때 녹음이 이렇게 동작합니다</a:t>
            </a:r>
            <a:endParaRPr lang="en-US" sz="1600" dirty="0"/>
          </a:p>
        </p:txBody>
      </p:sp>
      <p:sp>
        <p:nvSpPr>
          <p:cNvPr id="4" name="card-149"/>
          <p:cNvSpPr/>
          <p:nvPr/>
        </p:nvSpPr>
        <p:spPr>
          <a:xfrm>
            <a:off x="548640" y="178308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" name="iconbg-150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15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251710"/>
            <a:ext cx="297180" cy="297180"/>
          </a:xfrm>
          <a:prstGeom prst="rect">
            <a:avLst/>
          </a:prstGeom>
        </p:spPr>
      </p:pic>
      <p:sp>
        <p:nvSpPr>
          <p:cNvPr id="7" name="text-152"/>
          <p:cNvSpPr txBox="1"/>
          <p:nvPr/>
        </p:nvSpPr>
        <p:spPr>
          <a:xfrm>
            <a:off x="1691640" y="2103120"/>
            <a:ext cx="394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일시정지</a:t>
            </a:r>
            <a:endParaRPr lang="en-US" sz="2000" dirty="0"/>
          </a:p>
        </p:txBody>
      </p:sp>
      <p:sp>
        <p:nvSpPr>
          <p:cNvPr id="8" name="text-153"/>
          <p:cNvSpPr txBox="1"/>
          <p:nvPr/>
        </p:nvSpPr>
        <p:spPr>
          <a:xfrm>
            <a:off x="868680" y="288036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녹음 버튼을 누르면 "녹음이 일시정지 되었습니다." 안내와 함께 녹음이 멈춥니다. 다시 누르면 이어서 녹음됩니다.</a:t>
            </a:r>
            <a:endParaRPr lang="en-US" sz="1400" dirty="0"/>
          </a:p>
        </p:txBody>
      </p:sp>
      <p:sp>
        <p:nvSpPr>
          <p:cNvPr id="9" name="card-154"/>
          <p:cNvSpPr/>
          <p:nvPr/>
        </p:nvSpPr>
        <p:spPr>
          <a:xfrm>
            <a:off x="6233008" y="178308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iconbg-155"/>
          <p:cNvSpPr/>
          <p:nvPr/>
        </p:nvSpPr>
        <p:spPr>
          <a:xfrm>
            <a:off x="6553048" y="21031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15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638" y="2251710"/>
            <a:ext cx="297180" cy="297180"/>
          </a:xfrm>
          <a:prstGeom prst="rect">
            <a:avLst/>
          </a:prstGeom>
        </p:spPr>
      </p:pic>
      <p:sp>
        <p:nvSpPr>
          <p:cNvPr id="12" name="text-157"/>
          <p:cNvSpPr txBox="1"/>
          <p:nvPr/>
        </p:nvSpPr>
        <p:spPr>
          <a:xfrm>
            <a:off x="7376008" y="2103120"/>
            <a:ext cx="394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뒤로 가기</a:t>
            </a:r>
            <a:endParaRPr lang="en-US" sz="2000" dirty="0"/>
          </a:p>
        </p:txBody>
      </p:sp>
      <p:sp>
        <p:nvSpPr>
          <p:cNvPr id="13" name="text-158"/>
          <p:cNvSpPr txBox="1"/>
          <p:nvPr/>
        </p:nvSpPr>
        <p:spPr>
          <a:xfrm>
            <a:off x="6553048" y="288036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녹음이 취소되지 않고 일시정지됩니다.</a:t>
            </a:r>
            <a:endParaRPr lang="en-US" sz="1400" dirty="0"/>
          </a:p>
        </p:txBody>
      </p:sp>
      <p:sp>
        <p:nvSpPr>
          <p:cNvPr id="14" name="card-159"/>
          <p:cNvSpPr/>
          <p:nvPr/>
        </p:nvSpPr>
        <p:spPr>
          <a:xfrm>
            <a:off x="548640" y="416052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5" name="iconbg-160"/>
          <p:cNvSpPr/>
          <p:nvPr/>
        </p:nvSpPr>
        <p:spPr>
          <a:xfrm>
            <a:off x="868680" y="44805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16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629150"/>
            <a:ext cx="297180" cy="297180"/>
          </a:xfrm>
          <a:prstGeom prst="rect">
            <a:avLst/>
          </a:prstGeom>
        </p:spPr>
      </p:pic>
      <p:sp>
        <p:nvSpPr>
          <p:cNvPr id="17" name="text-162"/>
          <p:cNvSpPr txBox="1"/>
          <p:nvPr/>
        </p:nvSpPr>
        <p:spPr>
          <a:xfrm>
            <a:off x="1691640" y="4480560"/>
            <a:ext cx="394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다른 앱으로 이동 / 화면 끔</a:t>
            </a:r>
            <a:endParaRPr lang="en-US" sz="2000" dirty="0"/>
          </a:p>
        </p:txBody>
      </p:sp>
      <p:sp>
        <p:nvSpPr>
          <p:cNvPr id="18" name="text-163"/>
          <p:cNvSpPr txBox="1"/>
          <p:nvPr/>
        </p:nvSpPr>
        <p:spPr>
          <a:xfrm>
            <a:off x="868680" y="52578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녹음이 계속됩니다. 녹음 중에는 화면이 자동으로 꺼지지 않습니다. 단, 다른 앱이 마이크를 쓰면 녹음이 정상적으로 되지 않을 수 있습니다.</a:t>
            </a:r>
            <a:endParaRPr lang="en-US" sz="1400" dirty="0"/>
          </a:p>
        </p:txBody>
      </p:sp>
      <p:sp>
        <p:nvSpPr>
          <p:cNvPr id="19" name="card-164"/>
          <p:cNvSpPr/>
          <p:nvPr/>
        </p:nvSpPr>
        <p:spPr>
          <a:xfrm>
            <a:off x="6233008" y="416052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accent6"/>
          </a:solidFill>
          <a:ln/>
        </p:spPr>
      </p:sp>
      <p:sp>
        <p:nvSpPr>
          <p:cNvPr id="20" name="iconbg-165"/>
          <p:cNvSpPr/>
          <p:nvPr/>
        </p:nvSpPr>
        <p:spPr>
          <a:xfrm>
            <a:off x="6553048" y="448056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-16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638" y="4629150"/>
            <a:ext cx="297180" cy="297180"/>
          </a:xfrm>
          <a:prstGeom prst="rect">
            <a:avLst/>
          </a:prstGeom>
        </p:spPr>
      </p:pic>
      <p:sp>
        <p:nvSpPr>
          <p:cNvPr id="22" name="text-167"/>
          <p:cNvSpPr txBox="1"/>
          <p:nvPr/>
        </p:nvSpPr>
        <p:spPr>
          <a:xfrm>
            <a:off x="7376008" y="4480560"/>
            <a:ext cx="394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[취소]</a:t>
            </a:r>
            <a:endParaRPr lang="en-US" sz="2000" dirty="0"/>
          </a:p>
        </p:txBody>
      </p:sp>
      <p:sp>
        <p:nvSpPr>
          <p:cNvPr id="23" name="text-168"/>
          <p:cNvSpPr txBox="1"/>
          <p:nvPr/>
        </p:nvSpPr>
        <p:spPr>
          <a:xfrm>
            <a:off x="6553048" y="52578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확인하면 지금까지의 녹음이 저장되지 않고 삭제됩니다. 삭제한 녹음은 복구할 수 없습니다.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2  녹음이 자동으로 멈출 때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아래 상황에서는 앱이 녹음을 멈추거나 중지합니다</a:t>
            </a:r>
            <a:endParaRPr lang="en-US" sz="1600" dirty="0"/>
          </a:p>
        </p:txBody>
      </p:sp>
      <p:graphicFrame>
        <p:nvGraphicFramePr>
          <p:cNvPr id="9" name="table-1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297680"/>
                <a:gridCol w="428213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상황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앱 동작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내가 할 일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전화 수신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"통화로 인해 녹음이 일시정지 되었습니다." 안내와 함께 자동으로 일시정지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통화가 끝나거나 거절하면 자동으로 다시 녹음됩니다. 재개되지 않으면 녹음 버튼을 누르세요.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통화 중 녹음 시작·재개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"녹음할 수 없습니다" 안내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통화를 마친 뒤 녹음 버튼을 누르세요.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알림음·알람·긴급재난문자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녹음이 잠시 멈출 수 있습니다. iPhone은 알림이 끝나면 자동으로 다시 녹음됩니다.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경과 시간이 계속 흐르는지 확인하고, 멈춰 있으면 녹음 버튼을 누르세요.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최대 3시간 도달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녹음이 자동으로 멈추고 완료 설정 창이 열립니다.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설정을 확인하고 [확인]을 누르세요.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저장공간 95% 초과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"디스크 용량이 95%를 초과하여 녹음이 중지되었습니다." 안내와 함께 자동 중지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휴대폰 저장공간을 확보하세요.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-170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※ 전화 수신과 알림 관련 동작은 휴대폰 기종과 OS 버전에 따라 다를 수 있습니다.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3  녹음 종료와 완료 설정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오른쪽 아래 [종료]를 누르면 녹음이 멈추고 녹음 완료 설정 창이 열립니다</a:t>
            </a:r>
            <a:endParaRPr lang="en-US" sz="1600" dirty="0"/>
          </a:p>
        </p:txBody>
      </p:sp>
      <p:sp>
        <p:nvSpPr>
          <p:cNvPr id="4" name="card-171"/>
          <p:cNvSpPr/>
          <p:nvPr/>
        </p:nvSpPr>
        <p:spPr>
          <a:xfrm>
            <a:off x="548640" y="1783080"/>
            <a:ext cx="4114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text-172"/>
          <p:cNvSpPr txBox="1"/>
          <p:nvPr/>
        </p:nvSpPr>
        <p:spPr>
          <a:xfrm>
            <a:off x="822960" y="198424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참석자 수 (회의 규모)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1~2명 / 3~6명 / 7~10명 / 11명 이상. 실제로 발언한 사람 수를 기준으로 고르면 인식 정확도가 높아집니다.</a:t>
            </a:r>
            <a:endParaRPr lang="en-US" sz="1400" dirty="0"/>
          </a:p>
        </p:txBody>
      </p:sp>
      <p:sp>
        <p:nvSpPr>
          <p:cNvPr id="6" name="card-173"/>
          <p:cNvSpPr/>
          <p:nvPr/>
        </p:nvSpPr>
        <p:spPr>
          <a:xfrm>
            <a:off x="4937760" y="1783080"/>
            <a:ext cx="4114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text-174"/>
          <p:cNvSpPr txBox="1"/>
          <p:nvPr/>
        </p:nvSpPr>
        <p:spPr>
          <a:xfrm>
            <a:off x="5212080" y="198424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인식 언어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한국어(기본), 영어, 일본어, 중국어</a:t>
            </a:r>
            <a:endParaRPr lang="en-US" sz="1400" dirty="0"/>
          </a:p>
        </p:txBody>
      </p:sp>
      <p:sp>
        <p:nvSpPr>
          <p:cNvPr id="8" name="card-175"/>
          <p:cNvSpPr/>
          <p:nvPr/>
        </p:nvSpPr>
        <p:spPr>
          <a:xfrm>
            <a:off x="548640" y="3474720"/>
            <a:ext cx="4114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text-176"/>
          <p:cNvSpPr txBox="1"/>
          <p:nvPr/>
        </p:nvSpPr>
        <p:spPr>
          <a:xfrm>
            <a:off x="822960" y="367588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요약 템플릿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회의록 요약 형식을 고릅니다.</a:t>
            </a:r>
            <a:endParaRPr lang="en-US" sz="1400" dirty="0"/>
          </a:p>
        </p:txBody>
      </p:sp>
      <p:sp>
        <p:nvSpPr>
          <p:cNvPr id="10" name="card-177"/>
          <p:cNvSpPr/>
          <p:nvPr/>
        </p:nvSpPr>
        <p:spPr>
          <a:xfrm>
            <a:off x="4937760" y="3474720"/>
            <a:ext cx="4114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1" name="text-178"/>
          <p:cNvSpPr txBox="1"/>
          <p:nvPr/>
        </p:nvSpPr>
        <p:spPr>
          <a:xfrm>
            <a:off x="5212080" y="367588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회의록 제목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회의록 제목을 입력합니다.</a:t>
            </a:r>
            <a:endParaRPr lang="en-US" sz="1400" dirty="0"/>
          </a:p>
        </p:txBody>
      </p:sp>
      <p:sp>
        <p:nvSpPr>
          <p:cNvPr id="12" name="card-179"/>
          <p:cNvSpPr/>
          <p:nvPr/>
        </p:nvSpPr>
        <p:spPr>
          <a:xfrm>
            <a:off x="548640" y="5120640"/>
            <a:ext cx="8503920" cy="1051560"/>
          </a:xfrm>
          <a:prstGeom prst="roundRect">
            <a:avLst>
              <a:gd name="adj" fmla="val 10435"/>
            </a:avLst>
          </a:prstGeom>
          <a:solidFill>
            <a:schemeClr val="accent2"/>
          </a:solidFill>
          <a:ln/>
        </p:spPr>
      </p:sp>
      <p:sp>
        <p:nvSpPr>
          <p:cNvPr id="13" name="iconbg-180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18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520690"/>
            <a:ext cx="251460" cy="251460"/>
          </a:xfrm>
          <a:prstGeom prst="rect">
            <a:avLst/>
          </a:prstGeom>
        </p:spPr>
      </p:pic>
      <p:sp>
        <p:nvSpPr>
          <p:cNvPr id="15" name="text-182"/>
          <p:cNvSpPr txBox="1"/>
          <p:nvPr/>
        </p:nvSpPr>
        <p:spPr>
          <a:xfrm>
            <a:off x="1554480" y="523036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[확인]을 누르면 바로 홈으로 이동하고 업로드가 자동으로 시작됩니다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업로드가 끝날 때까지 기다리지 않아도 됩니다. 바로 새 녹음을 시작해도 앞선 녹음은 순서대로 업로드됩니다.</a:t>
            </a:r>
            <a:endParaRPr lang="en-US" sz="1400" dirty="0"/>
          </a:p>
        </p:txBody>
      </p:sp>
      <p:sp>
        <p:nvSpPr>
          <p:cNvPr id="16" name="phone-183"/>
          <p:cNvSpPr/>
          <p:nvPr/>
        </p:nvSpPr>
        <p:spPr>
          <a:xfrm>
            <a:off x="9486891" y="1719072"/>
            <a:ext cx="2156164" cy="4517136"/>
          </a:xfrm>
          <a:prstGeom prst="roundRect">
            <a:avLst>
              <a:gd name="adj" fmla="val 933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7" name="screen-184" descr="녹음 완료 설정 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899" y="1783080"/>
            <a:ext cx="2028148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4  파일 업로드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홈 화면 하단에 "파일 업로드 N건 진행 중" 패널이 나타납니다</a:t>
            </a:r>
            <a:endParaRPr lang="en-US" sz="1600" dirty="0"/>
          </a:p>
        </p:txBody>
      </p:sp>
      <p:sp>
        <p:nvSpPr>
          <p:cNvPr id="4" name="card-185"/>
          <p:cNvSpPr/>
          <p:nvPr/>
        </p:nvSpPr>
        <p:spPr>
          <a:xfrm>
            <a:off x="548640" y="1783080"/>
            <a:ext cx="557784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5" name="panelbg-186"/>
          <p:cNvSpPr/>
          <p:nvPr/>
        </p:nvSpPr>
        <p:spPr>
          <a:xfrm>
            <a:off x="914400" y="2148840"/>
            <a:ext cx="4846320" cy="2950758"/>
          </a:xfrm>
          <a:prstGeom prst="roundRect">
            <a:avLst>
              <a:gd name="adj" fmla="val 309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6" name="panel-187" descr="파일 업로드 진행 패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4754880" cy="2859318"/>
          </a:xfrm>
          <a:prstGeom prst="rect">
            <a:avLst/>
          </a:prstGeom>
        </p:spPr>
      </p:pic>
      <p:sp>
        <p:nvSpPr>
          <p:cNvPr id="7" name="text-188"/>
          <p:cNvSpPr txBox="1"/>
          <p:nvPr/>
        </p:nvSpPr>
        <p:spPr>
          <a:xfrm>
            <a:off x="914400" y="5257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파일명, 진행률(%), 전송 속도, 남은 시간이 표시됩니다. 패널 제목을 누르면 접거나 펼칠 수 있습니다.</a:t>
            </a:r>
            <a:endParaRPr lang="en-US" sz="1300" dirty="0"/>
          </a:p>
        </p:txBody>
      </p:sp>
      <p:sp>
        <p:nvSpPr>
          <p:cNvPr id="8" name="card-189"/>
          <p:cNvSpPr/>
          <p:nvPr/>
        </p:nvSpPr>
        <p:spPr>
          <a:xfrm>
            <a:off x="6492240" y="1783080"/>
            <a:ext cx="51508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9" name="iconbg-190"/>
          <p:cNvSpPr/>
          <p:nvPr/>
        </p:nvSpPr>
        <p:spPr>
          <a:xfrm>
            <a:off x="6766560" y="2148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19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0" y="2297430"/>
            <a:ext cx="297180" cy="297180"/>
          </a:xfrm>
          <a:prstGeom prst="rect">
            <a:avLst/>
          </a:prstGeom>
        </p:spPr>
      </p:pic>
      <p:sp>
        <p:nvSpPr>
          <p:cNvPr id="11" name="text-192"/>
          <p:cNvSpPr txBox="1"/>
          <p:nvPr/>
        </p:nvSpPr>
        <p:spPr>
          <a:xfrm>
            <a:off x="7589520" y="1920240"/>
            <a:ext cx="3824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들어온 순서대로 한 건씩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녹음이 여러 건이면 순서대로 자동 업로드됩니다.</a:t>
            </a:r>
            <a:endParaRPr lang="en-US" sz="1400" dirty="0"/>
          </a:p>
        </p:txBody>
      </p:sp>
      <p:sp>
        <p:nvSpPr>
          <p:cNvPr id="12" name="card-193"/>
          <p:cNvSpPr/>
          <p:nvPr/>
        </p:nvSpPr>
        <p:spPr>
          <a:xfrm>
            <a:off x="6492240" y="3291840"/>
            <a:ext cx="51508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3" name="iconbg-194"/>
          <p:cNvSpPr/>
          <p:nvPr/>
        </p:nvSpPr>
        <p:spPr>
          <a:xfrm>
            <a:off x="6766560" y="3657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19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0" y="3806190"/>
            <a:ext cx="297180" cy="297180"/>
          </a:xfrm>
          <a:prstGeom prst="rect">
            <a:avLst/>
          </a:prstGeom>
        </p:spPr>
      </p:pic>
      <p:sp>
        <p:nvSpPr>
          <p:cNvPr id="15" name="text-196"/>
          <p:cNvSpPr txBox="1"/>
          <p:nvPr/>
        </p:nvSpPr>
        <p:spPr>
          <a:xfrm>
            <a:off x="7589520" y="3429000"/>
            <a:ext cx="3824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다른 화면으로 가도 계속 진행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다른 화면으로 이동하거나 앱을 백그라운드로 보내도 업로드가 계속됩니다.</a:t>
            </a:r>
            <a:endParaRPr lang="en-US" sz="1400" dirty="0"/>
          </a:p>
        </p:txBody>
      </p:sp>
      <p:sp>
        <p:nvSpPr>
          <p:cNvPr id="16" name="card-197"/>
          <p:cNvSpPr/>
          <p:nvPr/>
        </p:nvSpPr>
        <p:spPr>
          <a:xfrm>
            <a:off x="6492240" y="4800600"/>
            <a:ext cx="5150815" cy="1325880"/>
          </a:xfrm>
          <a:prstGeom prst="roundRect">
            <a:avLst>
              <a:gd name="adj" fmla="val 8276"/>
            </a:avLst>
          </a:prstGeom>
          <a:solidFill>
            <a:schemeClr val="accent6"/>
          </a:solidFill>
          <a:ln/>
        </p:spPr>
      </p:sp>
      <p:sp>
        <p:nvSpPr>
          <p:cNvPr id="17" name="iconbg-198"/>
          <p:cNvSpPr/>
          <p:nvPr/>
        </p:nvSpPr>
        <p:spPr>
          <a:xfrm>
            <a:off x="6766560" y="516636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-19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150" y="5314950"/>
            <a:ext cx="297180" cy="297180"/>
          </a:xfrm>
          <a:prstGeom prst="rect">
            <a:avLst/>
          </a:prstGeom>
        </p:spPr>
      </p:pic>
      <p:sp>
        <p:nvSpPr>
          <p:cNvPr id="19" name="text-200"/>
          <p:cNvSpPr txBox="1"/>
          <p:nvPr/>
        </p:nvSpPr>
        <p:spPr>
          <a:xfrm>
            <a:off x="7589520" y="4937760"/>
            <a:ext cx="3824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앱을 완전히 종료하지 마세요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업로드 중에 앱을 완전히 종료하면 업로드가 중단될 수 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5–6  변환과 회의록 완성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업로드가 끝나면 서버에서 회의록을 만들고, 완성되면 알림을 보냅니다</a:t>
            </a:r>
            <a:endParaRPr lang="en-US" sz="1600" dirty="0"/>
          </a:p>
        </p:txBody>
      </p:sp>
      <p:sp>
        <p:nvSpPr>
          <p:cNvPr id="4" name="card-201"/>
          <p:cNvSpPr/>
          <p:nvPr/>
        </p:nvSpPr>
        <p:spPr>
          <a:xfrm>
            <a:off x="548640" y="1783080"/>
            <a:ext cx="4114800" cy="438912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chip-202"/>
          <p:cNvSpPr/>
          <p:nvPr/>
        </p:nvSpPr>
        <p:spPr>
          <a:xfrm>
            <a:off x="822960" y="205740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-203"/>
          <p:cNvSpPr txBox="1"/>
          <p:nvPr/>
        </p:nvSpPr>
        <p:spPr>
          <a:xfrm>
            <a:off x="822960" y="20574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STEP 5</a:t>
            </a:r>
            <a:endParaRPr lang="en-US" sz="1100" dirty="0"/>
          </a:p>
        </p:txBody>
      </p:sp>
      <p:sp>
        <p:nvSpPr>
          <p:cNvPr id="7" name="text-204"/>
          <p:cNvSpPr txBox="1"/>
          <p:nvPr/>
        </p:nvSpPr>
        <p:spPr>
          <a:xfrm>
            <a:off x="822960" y="2441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녹음 파일 변환</a:t>
            </a:r>
            <a:endParaRPr lang="en-US" sz="2000" dirty="0"/>
          </a:p>
        </p:txBody>
      </p:sp>
      <p:sp>
        <p:nvSpPr>
          <p:cNvPr id="8" name="text-205"/>
          <p:cNvSpPr txBox="1"/>
          <p:nvPr/>
        </p:nvSpPr>
        <p:spPr>
          <a:xfrm>
            <a:off x="82296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패널이 "녹음 파일 변환 N건 진행 중"으로 바뀝니다</a:t>
            </a:r>
            <a:endParaRPr lang="en-US" sz="1300" dirty="0"/>
          </a:p>
        </p:txBody>
      </p:sp>
      <p:sp>
        <p:nvSpPr>
          <p:cNvPr id="9" name="panelbg-206"/>
          <p:cNvSpPr/>
          <p:nvPr/>
        </p:nvSpPr>
        <p:spPr>
          <a:xfrm>
            <a:off x="822960" y="3429000"/>
            <a:ext cx="3566160" cy="1664518"/>
          </a:xfrm>
          <a:prstGeom prst="roundRect">
            <a:avLst>
              <a:gd name="adj" fmla="val 549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0" name="panel-207" descr="녹음 파일 변환 패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474720"/>
            <a:ext cx="3474720" cy="1573078"/>
          </a:xfrm>
          <a:prstGeom prst="rect">
            <a:avLst/>
          </a:prstGeom>
        </p:spPr>
      </p:pic>
      <p:sp>
        <p:nvSpPr>
          <p:cNvPr id="11" name="num-208"/>
          <p:cNvSpPr/>
          <p:nvPr/>
        </p:nvSpPr>
        <p:spPr>
          <a:xfrm>
            <a:off x="822960" y="523036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-209"/>
          <p:cNvSpPr txBox="1"/>
          <p:nvPr/>
        </p:nvSpPr>
        <p:spPr>
          <a:xfrm>
            <a:off x="822960" y="5230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-210"/>
          <p:cNvSpPr txBox="1"/>
          <p:nvPr/>
        </p:nvSpPr>
        <p:spPr>
          <a:xfrm>
            <a:off x="1188720" y="5212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음성 인식 중...</a:t>
            </a:r>
            <a:endParaRPr lang="en-US" sz="1300" dirty="0"/>
          </a:p>
        </p:txBody>
      </p:sp>
      <p:sp>
        <p:nvSpPr>
          <p:cNvPr id="14" name="num-211"/>
          <p:cNvSpPr/>
          <p:nvPr/>
        </p:nvSpPr>
        <p:spPr>
          <a:xfrm>
            <a:off x="822960" y="553212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-212"/>
          <p:cNvSpPr txBox="1"/>
          <p:nvPr/>
        </p:nvSpPr>
        <p:spPr>
          <a:xfrm>
            <a:off x="822960" y="5532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-213"/>
          <p:cNvSpPr txBox="1"/>
          <p:nvPr/>
        </p:nvSpPr>
        <p:spPr>
          <a:xfrm>
            <a:off x="1188720" y="5513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요약 진행 중...</a:t>
            </a:r>
            <a:endParaRPr lang="en-US" sz="1300" dirty="0"/>
          </a:p>
        </p:txBody>
      </p:sp>
      <p:sp>
        <p:nvSpPr>
          <p:cNvPr id="17" name="num-214"/>
          <p:cNvSpPr/>
          <p:nvPr/>
        </p:nvSpPr>
        <p:spPr>
          <a:xfrm>
            <a:off x="822960" y="583387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-215"/>
          <p:cNvSpPr txBox="1"/>
          <p:nvPr/>
        </p:nvSpPr>
        <p:spPr>
          <a:xfrm>
            <a:off x="822960" y="5833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-216"/>
          <p:cNvSpPr txBox="1"/>
          <p:nvPr/>
        </p:nvSpPr>
        <p:spPr>
          <a:xfrm>
            <a:off x="1188720" y="5815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요약 진행 완료</a:t>
            </a:r>
            <a:endParaRPr lang="en-US" sz="1300" dirty="0"/>
          </a:p>
        </p:txBody>
      </p:sp>
      <p:sp>
        <p:nvSpPr>
          <p:cNvPr id="20" name="card-217"/>
          <p:cNvSpPr/>
          <p:nvPr/>
        </p:nvSpPr>
        <p:spPr>
          <a:xfrm>
            <a:off x="4937760" y="1783080"/>
            <a:ext cx="4114800" cy="4389120"/>
          </a:xfrm>
          <a:prstGeom prst="roundRect">
            <a:avLst>
              <a:gd name="adj" fmla="val 2667"/>
            </a:avLst>
          </a:prstGeom>
          <a:solidFill>
            <a:schemeClr val="accent2"/>
          </a:solidFill>
          <a:ln/>
        </p:spPr>
      </p:sp>
      <p:sp>
        <p:nvSpPr>
          <p:cNvPr id="21" name="chip-218"/>
          <p:cNvSpPr/>
          <p:nvPr/>
        </p:nvSpPr>
        <p:spPr>
          <a:xfrm>
            <a:off x="5212080" y="205740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2" name="text-219"/>
          <p:cNvSpPr txBox="1"/>
          <p:nvPr/>
        </p:nvSpPr>
        <p:spPr>
          <a:xfrm>
            <a:off x="5212080" y="20574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STEP 6</a:t>
            </a:r>
            <a:endParaRPr lang="en-US" sz="1100" dirty="0"/>
          </a:p>
        </p:txBody>
      </p:sp>
      <p:sp>
        <p:nvSpPr>
          <p:cNvPr id="23" name="text-220"/>
          <p:cNvSpPr txBox="1"/>
          <p:nvPr/>
        </p:nvSpPr>
        <p:spPr>
          <a:xfrm>
            <a:off x="5212080" y="2441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회의록 완성</a:t>
            </a:r>
            <a:endParaRPr lang="en-US" sz="2000" dirty="0"/>
          </a:p>
        </p:txBody>
      </p:sp>
      <p:sp>
        <p:nvSpPr>
          <p:cNvPr id="24" name="text-221"/>
          <p:cNvSpPr txBox="1"/>
          <p:nvPr/>
        </p:nvSpPr>
        <p:spPr>
          <a:xfrm>
            <a:off x="5212080" y="2880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변환이 끝나면 패널이 사라지고, 앱 알림함에 "회의록이 생성되었습니다." 알림이 표시됩니다.</a:t>
            </a:r>
            <a:endParaRPr lang="en-US" sz="1300" dirty="0"/>
          </a:p>
        </p:txBody>
      </p:sp>
      <p:sp>
        <p:nvSpPr>
          <p:cNvPr id="25" name="card-222"/>
          <p:cNvSpPr/>
          <p:nvPr/>
        </p:nvSpPr>
        <p:spPr>
          <a:xfrm>
            <a:off x="5212080" y="393192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</p:spPr>
      </p:sp>
      <p:sp>
        <p:nvSpPr>
          <p:cNvPr id="26" name="iconbg-223"/>
          <p:cNvSpPr/>
          <p:nvPr/>
        </p:nvSpPr>
        <p:spPr>
          <a:xfrm>
            <a:off x="5440680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-22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297680"/>
            <a:ext cx="274320" cy="274320"/>
          </a:xfrm>
          <a:prstGeom prst="rect">
            <a:avLst/>
          </a:prstGeom>
        </p:spPr>
      </p:pic>
      <p:sp>
        <p:nvSpPr>
          <p:cNvPr id="28" name="text-225"/>
          <p:cNvSpPr txBox="1"/>
          <p:nvPr/>
        </p:nvSpPr>
        <p:spPr>
          <a:xfrm>
            <a:off x="612648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회의록은 PC에서 확인</a:t>
            </a:r>
            <a:endParaRPr lang="en-US" sz="1600" dirty="0"/>
          </a:p>
        </p:txBody>
      </p:sp>
      <p:sp>
        <p:nvSpPr>
          <p:cNvPr id="29" name="text-226"/>
          <p:cNvSpPr txBox="1"/>
          <p:nvPr/>
        </p:nvSpPr>
        <p:spPr>
          <a:xfrm>
            <a:off x="5440680" y="4846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PC에서 AI회의록 시스템에 접속해 완성된 회의록을 확인하세요.</a:t>
            </a:r>
            <a:endParaRPr lang="en-US" sz="1300" dirty="0"/>
          </a:p>
        </p:txBody>
      </p:sp>
      <p:sp>
        <p:nvSpPr>
          <p:cNvPr id="30" name="text-227"/>
          <p:cNvSpPr txBox="1"/>
          <p:nvPr/>
        </p:nvSpPr>
        <p:spPr>
          <a:xfrm>
            <a:off x="5440680" y="5394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aimeeting.skhynix.com</a:t>
            </a:r>
            <a:endParaRPr lang="en-US" sz="1600" dirty="0"/>
          </a:p>
        </p:txBody>
      </p:sp>
      <p:sp>
        <p:nvSpPr>
          <p:cNvPr id="31" name="phone-228"/>
          <p:cNvSpPr/>
          <p:nvPr/>
        </p:nvSpPr>
        <p:spPr>
          <a:xfrm>
            <a:off x="9486891" y="1719072"/>
            <a:ext cx="2156164" cy="4517136"/>
          </a:xfrm>
          <a:prstGeom prst="roundRect">
            <a:avLst>
              <a:gd name="adj" fmla="val 933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32" name="screen-229" descr="알림함 - 회의록 생성 알림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899" y="1783080"/>
            <a:ext cx="2028148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48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02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그룹 녹음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여러 대의 휴대폰으로 함께 녹음하고 하나의 회의록을 만듭니다</a:t>
            </a:r>
            <a:endParaRPr lang="en-US" sz="1800" dirty="0"/>
          </a:p>
        </p:txBody>
      </p:sp>
      <p:sp>
        <p:nvSpPr>
          <p:cNvPr id="5" name="wave-230"/>
          <p:cNvSpPr/>
          <p:nvPr/>
        </p:nvSpPr>
        <p:spPr>
          <a:xfrm>
            <a:off x="7818120" y="3136392"/>
            <a:ext cx="93269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6" name="wave-231"/>
          <p:cNvSpPr/>
          <p:nvPr/>
        </p:nvSpPr>
        <p:spPr>
          <a:xfrm>
            <a:off x="8004658" y="3000375"/>
            <a:ext cx="93269" cy="58293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7" name="wave-232"/>
          <p:cNvSpPr/>
          <p:nvPr/>
        </p:nvSpPr>
        <p:spPr>
          <a:xfrm>
            <a:off x="8191195" y="2825496"/>
            <a:ext cx="93269" cy="93268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8" name="wave-233"/>
          <p:cNvSpPr/>
          <p:nvPr/>
        </p:nvSpPr>
        <p:spPr>
          <a:xfrm>
            <a:off x="8377733" y="2942082"/>
            <a:ext cx="93269" cy="699516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9" name="wave-234"/>
          <p:cNvSpPr/>
          <p:nvPr/>
        </p:nvSpPr>
        <p:spPr>
          <a:xfrm>
            <a:off x="8564270" y="2650617"/>
            <a:ext cx="93269" cy="1282446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0" name="wave-235"/>
          <p:cNvSpPr/>
          <p:nvPr/>
        </p:nvSpPr>
        <p:spPr>
          <a:xfrm>
            <a:off x="8750808" y="2398014"/>
            <a:ext cx="93269" cy="1787652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1" name="wave-236"/>
          <p:cNvSpPr/>
          <p:nvPr/>
        </p:nvSpPr>
        <p:spPr>
          <a:xfrm>
            <a:off x="8937346" y="2728341"/>
            <a:ext cx="93269" cy="1126998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12" name="wave-237"/>
          <p:cNvSpPr/>
          <p:nvPr/>
        </p:nvSpPr>
        <p:spPr>
          <a:xfrm>
            <a:off x="9123883" y="2922651"/>
            <a:ext cx="93269" cy="73837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3" name="wave-238"/>
          <p:cNvSpPr/>
          <p:nvPr/>
        </p:nvSpPr>
        <p:spPr>
          <a:xfrm>
            <a:off x="9310421" y="2514600"/>
            <a:ext cx="93269" cy="155448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4" name="wave-239"/>
          <p:cNvSpPr/>
          <p:nvPr/>
        </p:nvSpPr>
        <p:spPr>
          <a:xfrm>
            <a:off x="9496958" y="2261997"/>
            <a:ext cx="93269" cy="2059686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5" name="wave-240"/>
          <p:cNvSpPr/>
          <p:nvPr/>
        </p:nvSpPr>
        <p:spPr>
          <a:xfrm>
            <a:off x="9683496" y="2592324"/>
            <a:ext cx="93269" cy="1399032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6" name="wave-241"/>
          <p:cNvSpPr/>
          <p:nvPr/>
        </p:nvSpPr>
        <p:spPr>
          <a:xfrm>
            <a:off x="9870034" y="2825496"/>
            <a:ext cx="93269" cy="93268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7" name="wave-242"/>
          <p:cNvSpPr/>
          <p:nvPr/>
        </p:nvSpPr>
        <p:spPr>
          <a:xfrm>
            <a:off x="10056571" y="2436876"/>
            <a:ext cx="93269" cy="1709928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8" name="wave-243"/>
          <p:cNvSpPr/>
          <p:nvPr/>
        </p:nvSpPr>
        <p:spPr>
          <a:xfrm>
            <a:off x="10243109" y="2708910"/>
            <a:ext cx="93269" cy="116586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9" name="wave-244"/>
          <p:cNvSpPr/>
          <p:nvPr/>
        </p:nvSpPr>
        <p:spPr>
          <a:xfrm>
            <a:off x="10429646" y="2922651"/>
            <a:ext cx="93269" cy="73837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0" name="wave-245"/>
          <p:cNvSpPr/>
          <p:nvPr/>
        </p:nvSpPr>
        <p:spPr>
          <a:xfrm>
            <a:off x="10616184" y="2786634"/>
            <a:ext cx="93269" cy="1010412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21" name="wave-246"/>
          <p:cNvSpPr/>
          <p:nvPr/>
        </p:nvSpPr>
        <p:spPr>
          <a:xfrm>
            <a:off x="10802722" y="3000375"/>
            <a:ext cx="93269" cy="58293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2" name="wave-247"/>
          <p:cNvSpPr/>
          <p:nvPr/>
        </p:nvSpPr>
        <p:spPr>
          <a:xfrm>
            <a:off x="10989259" y="3136392"/>
            <a:ext cx="93269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그룹 녹음은 이렇게 동작합니다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그룹을 만든 사람이 진행자(방장), 코드를 입력해 들어온 사람이 참여자가 됩니다</a:t>
            </a:r>
            <a:endParaRPr lang="en-US" sz="1600" dirty="0"/>
          </a:p>
        </p:txBody>
      </p:sp>
      <p:sp>
        <p:nvSpPr>
          <p:cNvPr id="4" name="card-248"/>
          <p:cNvSpPr/>
          <p:nvPr/>
        </p:nvSpPr>
        <p:spPr>
          <a:xfrm>
            <a:off x="548640" y="1783080"/>
            <a:ext cx="3515258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text-249"/>
          <p:cNvSpPr txBox="1"/>
          <p:nvPr/>
        </p:nvSpPr>
        <p:spPr>
          <a:xfrm>
            <a:off x="868680" y="192024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최대 5대</a:t>
            </a:r>
            <a:endParaRPr lang="en-US" sz="3600" dirty="0"/>
          </a:p>
        </p:txBody>
      </p:sp>
      <p:sp>
        <p:nvSpPr>
          <p:cNvPr id="6" name="text-250"/>
          <p:cNvSpPr txBox="1"/>
          <p:nvPr/>
        </p:nvSpPr>
        <p:spPr>
          <a:xfrm>
            <a:off x="868680" y="2633472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진행자 포함 참여 기기</a:t>
            </a:r>
            <a:endParaRPr lang="en-US" sz="1400" dirty="0"/>
          </a:p>
        </p:txBody>
      </p:sp>
      <p:sp>
        <p:nvSpPr>
          <p:cNvPr id="7" name="card-251"/>
          <p:cNvSpPr/>
          <p:nvPr/>
        </p:nvSpPr>
        <p:spPr>
          <a:xfrm>
            <a:off x="4338218" y="1783080"/>
            <a:ext cx="3515258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8" name="text-252"/>
          <p:cNvSpPr txBox="1"/>
          <p:nvPr/>
        </p:nvSpPr>
        <p:spPr>
          <a:xfrm>
            <a:off x="4658258" y="192024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최대 1시간</a:t>
            </a:r>
            <a:endParaRPr lang="en-US" sz="3600" dirty="0"/>
          </a:p>
        </p:txBody>
      </p:sp>
      <p:sp>
        <p:nvSpPr>
          <p:cNvPr id="9" name="text-253"/>
          <p:cNvSpPr txBox="1"/>
          <p:nvPr/>
        </p:nvSpPr>
        <p:spPr>
          <a:xfrm>
            <a:off x="4658258" y="2633472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녹음 시간</a:t>
            </a:r>
            <a:endParaRPr lang="en-US" sz="1400" dirty="0"/>
          </a:p>
        </p:txBody>
      </p:sp>
      <p:sp>
        <p:nvSpPr>
          <p:cNvPr id="10" name="card-254"/>
          <p:cNvSpPr/>
          <p:nvPr/>
        </p:nvSpPr>
        <p:spPr>
          <a:xfrm>
            <a:off x="8127797" y="1783080"/>
            <a:ext cx="3515258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1" name="text-255"/>
          <p:cNvSpPr txBox="1"/>
          <p:nvPr/>
        </p:nvSpPr>
        <p:spPr>
          <a:xfrm>
            <a:off x="8447837" y="192024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4자리</a:t>
            </a:r>
            <a:endParaRPr lang="en-US" sz="3600" dirty="0"/>
          </a:p>
        </p:txBody>
      </p:sp>
      <p:sp>
        <p:nvSpPr>
          <p:cNvPr id="12" name="text-256"/>
          <p:cNvSpPr txBox="1"/>
          <p:nvPr/>
        </p:nvSpPr>
        <p:spPr>
          <a:xfrm>
            <a:off x="8447837" y="2633472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그룹 코드로 참여</a:t>
            </a:r>
            <a:endParaRPr lang="en-US" sz="1400" dirty="0"/>
          </a:p>
        </p:txBody>
      </p:sp>
      <p:sp>
        <p:nvSpPr>
          <p:cNvPr id="13" name="card-257"/>
          <p:cNvSpPr/>
          <p:nvPr/>
        </p:nvSpPr>
        <p:spPr>
          <a:xfrm>
            <a:off x="548640" y="3520440"/>
            <a:ext cx="11094415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iconbg-258"/>
          <p:cNvSpPr/>
          <p:nvPr/>
        </p:nvSpPr>
        <p:spPr>
          <a:xfrm>
            <a:off x="960120" y="41833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2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4331970"/>
            <a:ext cx="297180" cy="297180"/>
          </a:xfrm>
          <a:prstGeom prst="rect">
            <a:avLst/>
          </a:prstGeom>
        </p:spPr>
      </p:pic>
      <p:sp>
        <p:nvSpPr>
          <p:cNvPr id="16" name="iconbg-260"/>
          <p:cNvSpPr/>
          <p:nvPr/>
        </p:nvSpPr>
        <p:spPr>
          <a:xfrm>
            <a:off x="1691640" y="41833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-2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230" y="4331970"/>
            <a:ext cx="297180" cy="297180"/>
          </a:xfrm>
          <a:prstGeom prst="rect">
            <a:avLst/>
          </a:prstGeom>
        </p:spPr>
      </p:pic>
      <p:sp>
        <p:nvSpPr>
          <p:cNvPr id="18" name="iconbg-262"/>
          <p:cNvSpPr/>
          <p:nvPr/>
        </p:nvSpPr>
        <p:spPr>
          <a:xfrm>
            <a:off x="2423160" y="41833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con-26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0" y="4331970"/>
            <a:ext cx="297180" cy="297180"/>
          </a:xfrm>
          <a:prstGeom prst="rect">
            <a:avLst/>
          </a:prstGeom>
        </p:spPr>
      </p:pic>
      <p:sp>
        <p:nvSpPr>
          <p:cNvPr id="20" name="iconbg-264"/>
          <p:cNvSpPr/>
          <p:nvPr/>
        </p:nvSpPr>
        <p:spPr>
          <a:xfrm>
            <a:off x="3154680" y="41833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con-26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270" y="4331970"/>
            <a:ext cx="297180" cy="297180"/>
          </a:xfrm>
          <a:prstGeom prst="rect">
            <a:avLst/>
          </a:prstGeom>
        </p:spPr>
      </p:pic>
      <p:sp>
        <p:nvSpPr>
          <p:cNvPr id="22" name="iconbg-266"/>
          <p:cNvSpPr/>
          <p:nvPr/>
        </p:nvSpPr>
        <p:spPr>
          <a:xfrm>
            <a:off x="3886200" y="41833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con-26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4790" y="4331970"/>
            <a:ext cx="297180" cy="297180"/>
          </a:xfrm>
          <a:prstGeom prst="rect">
            <a:avLst/>
          </a:prstGeom>
        </p:spPr>
      </p:pic>
      <p:sp>
        <p:nvSpPr>
          <p:cNvPr id="24" name="text-268"/>
          <p:cNvSpPr txBox="1"/>
          <p:nvPr/>
        </p:nvSpPr>
        <p:spPr>
          <a:xfrm>
            <a:off x="777240" y="4937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진행자</a:t>
            </a:r>
            <a:endParaRPr lang="en-US" sz="1200" dirty="0"/>
          </a:p>
        </p:txBody>
      </p:sp>
      <p:sp>
        <p:nvSpPr>
          <p:cNvPr id="25" name="text-269"/>
          <p:cNvSpPr txBox="1"/>
          <p:nvPr/>
        </p:nvSpPr>
        <p:spPr>
          <a:xfrm>
            <a:off x="1691640" y="4937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참여자 (최대 4명)</a:t>
            </a:r>
            <a:endParaRPr lang="en-US" sz="1200" dirty="0"/>
          </a:p>
        </p:txBody>
      </p:sp>
      <p:sp>
        <p:nvSpPr>
          <p:cNvPr id="26" name="text-270"/>
          <p:cNvSpPr txBox="1"/>
          <p:nvPr/>
        </p:nvSpPr>
        <p:spPr>
          <a:xfrm>
            <a:off x="960120" y="53492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모든 기기가 동시에 녹음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시작·일시정지·종료는 진행자가 제어</a:t>
            </a:r>
            <a:endParaRPr lang="en-US" sz="1300" dirty="0"/>
          </a:p>
        </p:txBody>
      </p:sp>
      <p:sp>
        <p:nvSpPr>
          <p:cNvPr id="27" name="arrow-271"/>
          <p:cNvSpPr/>
          <p:nvPr/>
        </p:nvSpPr>
        <p:spPr>
          <a:xfrm>
            <a:off x="4617720" y="4727448"/>
            <a:ext cx="4114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8" name="card-272"/>
          <p:cNvSpPr/>
          <p:nvPr/>
        </p:nvSpPr>
        <p:spPr>
          <a:xfrm>
            <a:off x="5166360" y="3931920"/>
            <a:ext cx="28346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9" name="iconbg-273"/>
          <p:cNvSpPr/>
          <p:nvPr/>
        </p:nvSpPr>
        <p:spPr>
          <a:xfrm>
            <a:off x="5394960" y="41605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0" name="icon-27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9260" y="4274820"/>
            <a:ext cx="228600" cy="228600"/>
          </a:xfrm>
          <a:prstGeom prst="rect">
            <a:avLst/>
          </a:prstGeom>
        </p:spPr>
      </p:pic>
      <p:sp>
        <p:nvSpPr>
          <p:cNvPr id="31" name="text-275"/>
          <p:cNvSpPr txBox="1"/>
          <p:nvPr/>
        </p:nvSpPr>
        <p:spPr>
          <a:xfrm>
            <a:off x="5394960" y="4709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서버에서 하나로 합침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모든 기기의 음성을 모아 회의록 1건 생성</a:t>
            </a:r>
            <a:endParaRPr lang="en-US" sz="1400" dirty="0"/>
          </a:p>
        </p:txBody>
      </p:sp>
      <p:sp>
        <p:nvSpPr>
          <p:cNvPr id="32" name="arrow-276"/>
          <p:cNvSpPr/>
          <p:nvPr/>
        </p:nvSpPr>
        <p:spPr>
          <a:xfrm>
            <a:off x="8138160" y="4727448"/>
            <a:ext cx="4114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3" name="card-277"/>
          <p:cNvSpPr/>
          <p:nvPr/>
        </p:nvSpPr>
        <p:spPr>
          <a:xfrm>
            <a:off x="8686800" y="3931920"/>
            <a:ext cx="2590495" cy="1600200"/>
          </a:xfrm>
          <a:prstGeom prst="roundRect">
            <a:avLst>
              <a:gd name="adj" fmla="val 6857"/>
            </a:avLst>
          </a:prstGeom>
          <a:solidFill>
            <a:schemeClr val="accent2"/>
          </a:solidFill>
          <a:ln/>
        </p:spPr>
      </p:sp>
      <p:sp>
        <p:nvSpPr>
          <p:cNvPr id="34" name="iconbg-278"/>
          <p:cNvSpPr/>
          <p:nvPr/>
        </p:nvSpPr>
        <p:spPr>
          <a:xfrm>
            <a:off x="891540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con-27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0" y="4274820"/>
            <a:ext cx="228600" cy="228600"/>
          </a:xfrm>
          <a:prstGeom prst="rect">
            <a:avLst/>
          </a:prstGeom>
        </p:spPr>
      </p:pic>
      <p:sp>
        <p:nvSpPr>
          <p:cNvPr id="36" name="text-280"/>
          <p:cNvSpPr txBox="1"/>
          <p:nvPr/>
        </p:nvSpPr>
        <p:spPr>
          <a:xfrm>
            <a:off x="8915400" y="4709160"/>
            <a:ext cx="2133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각자의 회의록으로 생성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진행자와 참여자 모두 같은 회의록을 받음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진행자와 참여자 · 녹음 전과 시작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진행자가 녹음을 시작하면 참여자 기기는 자동으로 따라 시작합니다</a:t>
            </a:r>
            <a:endParaRPr lang="en-US" sz="1600" dirty="0"/>
          </a:p>
        </p:txBody>
      </p:sp>
      <p:graphicFrame>
        <p:nvGraphicFramePr>
          <p:cNvPr id="15" name="table-2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78808"/>
                <a:gridCol w="417240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기능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진행자 (방장)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참여자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그룹 만들기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4자리 그룹 코드 발급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그룹 참여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그룹 코드 입력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그룹 코드 확인·복사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가능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가능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참여 인원 확인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가능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가능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녹음 시작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[녹음 시작] 버튼 → 확인 창에서 [확인]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진행자가 시작하면 자동으로 시작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관리자 메일 발송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녹음 시작 전 확인 창에서 [확인]을 누를 때 발송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녹음이 시작될 때 자동 발송 ("관리자에게 메일이 발송되었습니다.")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진행자와 참여자 · 녹음 중과 종료 후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녹음 조작은 진행자만 할 수 있고, 결과 회의록은 모두가 받습니다</a:t>
            </a:r>
            <a:endParaRPr lang="en-US" sz="1600" dirty="0"/>
          </a:p>
        </p:txBody>
      </p:sp>
      <p:graphicFrame>
        <p:nvGraphicFramePr>
          <p:cNvPr id="16" name="table-2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78808"/>
                <a:gridCol w="417240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기능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진행자 (방장)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참여자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일시정지 / 재개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누르면 모든 기기에 함께 적용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진행자를 따라 자동 적용, 안내 메시지 표시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녹음 종료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[종료] 버튼으로 모든 기기 함께 종료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"진행자가 종료할 때까지 대기"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완료 설정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참석자 수·언어·템플릿·제목을 진행자가 고름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진행자 설정이 그대로 적용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중간에 나가기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그룹 녹음 전체가 취소되어 모든 참여자의 녹음이 저장되지 않음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본인 녹음만 반영되지 않고 다른 사람은 계속 녹음. 나간 뒤에는 같은 그룹에 다시 참여할 수 없음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업로드 진행 현황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내 휴대폰에서 각자 확인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내 휴대폰에서 각자 확인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결과 회의록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합쳐진 회의록이 내 회의록으로 생성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진행자와 같은 회의록이 내 회의록으로 생성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-283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회의록은 진행자와 참여자 모두 PC 웹(AI회의록 시스템)에서 확인합니다.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그룹 녹음 화면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그룹을 만들고 참여해 녹음하기까지 진행자와 참여자의 화면입니다</a:t>
            </a:r>
            <a:endParaRPr lang="en-US" sz="1600" dirty="0"/>
          </a:p>
        </p:txBody>
      </p:sp>
      <p:sp>
        <p:nvSpPr>
          <p:cNvPr id="4" name="chip-284"/>
          <p:cNvSpPr/>
          <p:nvPr/>
        </p:nvSpPr>
        <p:spPr>
          <a:xfrm>
            <a:off x="1478242" y="173736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-285"/>
          <p:cNvSpPr txBox="1"/>
          <p:nvPr/>
        </p:nvSpPr>
        <p:spPr>
          <a:xfrm>
            <a:off x="1478242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진행자</a:t>
            </a:r>
            <a:endParaRPr lang="en-US" sz="1100" dirty="0"/>
          </a:p>
        </p:txBody>
      </p:sp>
      <p:sp>
        <p:nvSpPr>
          <p:cNvPr id="6" name="phone-286"/>
          <p:cNvSpPr/>
          <p:nvPr/>
        </p:nvSpPr>
        <p:spPr>
          <a:xfrm>
            <a:off x="1036936" y="2130552"/>
            <a:ext cx="1797013" cy="3739896"/>
          </a:xfrm>
          <a:prstGeom prst="roundRect">
            <a:avLst>
              <a:gd name="adj" fmla="val 1119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7" name="screen-287" descr="진행자 화면: ① 그룹 생성 · 코드 공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44" y="2194560"/>
            <a:ext cx="1668997" cy="3611880"/>
          </a:xfrm>
          <a:prstGeom prst="rect">
            <a:avLst/>
          </a:prstGeom>
        </p:spPr>
      </p:pic>
      <p:sp>
        <p:nvSpPr>
          <p:cNvPr id="8" name="text-288"/>
          <p:cNvSpPr txBox="1"/>
          <p:nvPr/>
        </p:nvSpPr>
        <p:spPr>
          <a:xfrm>
            <a:off x="640080" y="589788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① 그룹 생성 · 코드 공유</a:t>
            </a:r>
            <a:endParaRPr lang="en-US" sz="1400" dirty="0"/>
          </a:p>
        </p:txBody>
      </p:sp>
      <p:sp>
        <p:nvSpPr>
          <p:cNvPr id="9" name="chip-289"/>
          <p:cNvSpPr/>
          <p:nvPr/>
        </p:nvSpPr>
        <p:spPr>
          <a:xfrm>
            <a:off x="4251846" y="173736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0" name="text-290"/>
          <p:cNvSpPr txBox="1"/>
          <p:nvPr/>
        </p:nvSpPr>
        <p:spPr>
          <a:xfrm>
            <a:off x="4251846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참여자</a:t>
            </a:r>
            <a:endParaRPr lang="en-US" sz="1100" dirty="0"/>
          </a:p>
        </p:txBody>
      </p:sp>
      <p:sp>
        <p:nvSpPr>
          <p:cNvPr id="11" name="phone-291"/>
          <p:cNvSpPr/>
          <p:nvPr/>
        </p:nvSpPr>
        <p:spPr>
          <a:xfrm>
            <a:off x="3810539" y="2130552"/>
            <a:ext cx="1797013" cy="3739896"/>
          </a:xfrm>
          <a:prstGeom prst="roundRect">
            <a:avLst>
              <a:gd name="adj" fmla="val 1119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2" name="screen-292" descr="참여자 화면: ② 4자리 코드 입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547" y="2194560"/>
            <a:ext cx="1668997" cy="3611880"/>
          </a:xfrm>
          <a:prstGeom prst="rect">
            <a:avLst/>
          </a:prstGeom>
        </p:spPr>
      </p:pic>
      <p:sp>
        <p:nvSpPr>
          <p:cNvPr id="13" name="text-293"/>
          <p:cNvSpPr txBox="1"/>
          <p:nvPr/>
        </p:nvSpPr>
        <p:spPr>
          <a:xfrm>
            <a:off x="3413684" y="589788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② 4자리 코드 입력</a:t>
            </a:r>
            <a:endParaRPr lang="en-US" sz="1400" dirty="0"/>
          </a:p>
        </p:txBody>
      </p:sp>
      <p:sp>
        <p:nvSpPr>
          <p:cNvPr id="14" name="chip-294"/>
          <p:cNvSpPr/>
          <p:nvPr/>
        </p:nvSpPr>
        <p:spPr>
          <a:xfrm>
            <a:off x="7025450" y="173736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-295"/>
          <p:cNvSpPr txBox="1"/>
          <p:nvPr/>
        </p:nvSpPr>
        <p:spPr>
          <a:xfrm>
            <a:off x="7025450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진행자</a:t>
            </a:r>
            <a:endParaRPr lang="en-US" sz="1100" dirty="0"/>
          </a:p>
        </p:txBody>
      </p:sp>
      <p:sp>
        <p:nvSpPr>
          <p:cNvPr id="16" name="phone-296"/>
          <p:cNvSpPr/>
          <p:nvPr/>
        </p:nvSpPr>
        <p:spPr>
          <a:xfrm>
            <a:off x="6584143" y="2130552"/>
            <a:ext cx="1797013" cy="3739896"/>
          </a:xfrm>
          <a:prstGeom prst="roundRect">
            <a:avLst>
              <a:gd name="adj" fmla="val 1119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7" name="screen-297" descr="진행자 화면: ③ [녹음 시작] · 전체 제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151" y="2194560"/>
            <a:ext cx="1668997" cy="3611880"/>
          </a:xfrm>
          <a:prstGeom prst="rect">
            <a:avLst/>
          </a:prstGeom>
        </p:spPr>
      </p:pic>
      <p:sp>
        <p:nvSpPr>
          <p:cNvPr id="18" name="text-298"/>
          <p:cNvSpPr txBox="1"/>
          <p:nvPr/>
        </p:nvSpPr>
        <p:spPr>
          <a:xfrm>
            <a:off x="6187288" y="589788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③ [녹음 시작] · 전체 제어</a:t>
            </a:r>
            <a:endParaRPr lang="en-US" sz="1400" dirty="0"/>
          </a:p>
        </p:txBody>
      </p:sp>
      <p:sp>
        <p:nvSpPr>
          <p:cNvPr id="19" name="chip-299"/>
          <p:cNvSpPr/>
          <p:nvPr/>
        </p:nvSpPr>
        <p:spPr>
          <a:xfrm>
            <a:off x="9799053" y="173736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0" name="text-300"/>
          <p:cNvSpPr txBox="1"/>
          <p:nvPr/>
        </p:nvSpPr>
        <p:spPr>
          <a:xfrm>
            <a:off x="9799053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참여자</a:t>
            </a:r>
            <a:endParaRPr lang="en-US" sz="1100" dirty="0"/>
          </a:p>
        </p:txBody>
      </p:sp>
      <p:sp>
        <p:nvSpPr>
          <p:cNvPr id="21" name="phone-301"/>
          <p:cNvSpPr/>
          <p:nvPr/>
        </p:nvSpPr>
        <p:spPr>
          <a:xfrm>
            <a:off x="9357747" y="2130552"/>
            <a:ext cx="1797013" cy="3739896"/>
          </a:xfrm>
          <a:prstGeom prst="roundRect">
            <a:avLst>
              <a:gd name="adj" fmla="val 1119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22" name="screen-302" descr="참여자 화면: ④ 진행자를 따라 자동 진행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755" y="2194560"/>
            <a:ext cx="1668997" cy="3611880"/>
          </a:xfrm>
          <a:prstGeom prst="rect">
            <a:avLst/>
          </a:prstGeom>
        </p:spPr>
      </p:pic>
      <p:sp>
        <p:nvSpPr>
          <p:cNvPr id="23" name="text-303"/>
          <p:cNvSpPr txBox="1"/>
          <p:nvPr/>
        </p:nvSpPr>
        <p:spPr>
          <a:xfrm>
            <a:off x="8960891" y="589788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④ 진행자를 따라 자동 진행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그룹 녹음 진행 순서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단독 녹음과 다른 점을 중심으로 정리했습니다</a:t>
            </a:r>
            <a:endParaRPr lang="en-US" sz="1600" dirty="0"/>
          </a:p>
        </p:txBody>
      </p:sp>
      <p:graphicFrame>
        <p:nvGraphicFramePr>
          <p:cNvPr id="18" name="table-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4425696"/>
                <a:gridCol w="442843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단계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진행자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참여자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준비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[녹음] → 그룹 녹음 → 그룹 생성 → 대기실에 표시된 4자리 코드를 참여자에게 공유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[녹음] → 그룹 녹음 → 그룹 참여 → 4자리 코드 입력 → 대기실에서 대기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1  시작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참여 인원 확인 → [녹음 시작] → 확인 창에서 [확인] (관리자 메일 발송)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자동으로 녹음 시작, 관리자 메일 자동 발송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시작 신호음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모든 휴대폰에서 안내 음성과 신호음이 울립니다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2  녹음 중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가운데 버튼으로 전체 일시정지 / 재개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진행자를 따라 자동으로 일시정지 / 재개 ("진행자가 녹음을 일시정지했습니다.")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3  종료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[종료] → 완료 설정 → [확인]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자동으로 종료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종료 신호음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신호음이 울린 뒤 약 5초 후 모든 기기의 녹음이 종료됩니다 ("녹음을 종료하는 중입니다...")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4–5  업로드·변환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녹음 결과 화면에서 진행 상황 확인 → [홈 화면 이동]을 누르면 홈으로 이동, 업로드는 백그라운드에서 계속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6  완성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알림함에 회의록 생성 알림 → PC 웹에서 합쳐진 회의록 확인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참여자가 녹음을 취소할 때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참여자가 녹음 중 [취소]를 누르면 확인 창이 나타납니다</a:t>
            </a:r>
            <a:endParaRPr lang="en-US" sz="1600" dirty="0"/>
          </a:p>
        </p:txBody>
      </p:sp>
      <p:sp>
        <p:nvSpPr>
          <p:cNvPr id="4" name="phone-305"/>
          <p:cNvSpPr/>
          <p:nvPr/>
        </p:nvSpPr>
        <p:spPr>
          <a:xfrm>
            <a:off x="896112" y="1719072"/>
            <a:ext cx="2156164" cy="4517136"/>
          </a:xfrm>
          <a:prstGeom prst="roundRect">
            <a:avLst>
              <a:gd name="adj" fmla="val 933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screen-306" descr="참여자 녹음 취소 확인 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028148" cy="4389120"/>
          </a:xfrm>
          <a:prstGeom prst="rect">
            <a:avLst/>
          </a:prstGeom>
        </p:spPr>
      </p:pic>
      <p:sp>
        <p:nvSpPr>
          <p:cNvPr id="6" name="card-307"/>
          <p:cNvSpPr/>
          <p:nvPr/>
        </p:nvSpPr>
        <p:spPr>
          <a:xfrm>
            <a:off x="3719788" y="1783080"/>
            <a:ext cx="7923267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7" name="text-308"/>
          <p:cNvSpPr txBox="1"/>
          <p:nvPr/>
        </p:nvSpPr>
        <p:spPr>
          <a:xfrm>
            <a:off x="3994108" y="1783080"/>
            <a:ext cx="73746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"녹음 취소 시 지금까지 녹음된 내용은 반영되지 않으며 그룹 재참여 불가합니다"</a:t>
            </a:r>
            <a:endParaRPr lang="en-US" sz="1500" dirty="0"/>
          </a:p>
        </p:txBody>
      </p:sp>
      <p:sp>
        <p:nvSpPr>
          <p:cNvPr id="8" name="card-309"/>
          <p:cNvSpPr/>
          <p:nvPr/>
        </p:nvSpPr>
        <p:spPr>
          <a:xfrm>
            <a:off x="3719788" y="2834640"/>
            <a:ext cx="3824474" cy="1874520"/>
          </a:xfrm>
          <a:prstGeom prst="roundRect">
            <a:avLst>
              <a:gd name="adj" fmla="val 5854"/>
            </a:avLst>
          </a:prstGeom>
          <a:solidFill>
            <a:schemeClr val="accent6"/>
          </a:solidFill>
          <a:ln/>
        </p:spPr>
      </p:sp>
      <p:sp>
        <p:nvSpPr>
          <p:cNvPr id="9" name="chip-310"/>
          <p:cNvSpPr/>
          <p:nvPr/>
        </p:nvSpPr>
        <p:spPr>
          <a:xfrm>
            <a:off x="3994108" y="3108960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0" name="text-311"/>
          <p:cNvSpPr txBox="1"/>
          <p:nvPr/>
        </p:nvSpPr>
        <p:spPr>
          <a:xfrm>
            <a:off x="3994108" y="3108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[취소진행]</a:t>
            </a:r>
            <a:endParaRPr lang="en-US" sz="1100" dirty="0"/>
          </a:p>
        </p:txBody>
      </p:sp>
      <p:sp>
        <p:nvSpPr>
          <p:cNvPr id="11" name="text-312"/>
          <p:cNvSpPr txBox="1"/>
          <p:nvPr/>
        </p:nvSpPr>
        <p:spPr>
          <a:xfrm>
            <a:off x="3994108" y="3520440"/>
            <a:ext cx="33672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그룹에서 나가 홈으로 이동합니다.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내 녹음은 회의록에 반영되지 않음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같은 그룹에 다시 참여할 수 없음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다른 참여자의 녹음은 계속됨</a:t>
            </a:r>
            <a:endParaRPr lang="en-US" sz="1400" dirty="0"/>
          </a:p>
        </p:txBody>
      </p:sp>
      <p:sp>
        <p:nvSpPr>
          <p:cNvPr id="12" name="card-313"/>
          <p:cNvSpPr/>
          <p:nvPr/>
        </p:nvSpPr>
        <p:spPr>
          <a:xfrm>
            <a:off x="7818582" y="2834640"/>
            <a:ext cx="3824474" cy="1874520"/>
          </a:xfrm>
          <a:prstGeom prst="roundRect">
            <a:avLst>
              <a:gd name="adj" fmla="val 5854"/>
            </a:avLst>
          </a:prstGeom>
          <a:solidFill>
            <a:schemeClr val="accent2"/>
          </a:solidFill>
          <a:ln/>
        </p:spPr>
      </p:sp>
      <p:sp>
        <p:nvSpPr>
          <p:cNvPr id="13" name="chip-314"/>
          <p:cNvSpPr/>
          <p:nvPr/>
        </p:nvSpPr>
        <p:spPr>
          <a:xfrm>
            <a:off x="8092902" y="3108960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-315"/>
          <p:cNvSpPr txBox="1"/>
          <p:nvPr/>
        </p:nvSpPr>
        <p:spPr>
          <a:xfrm>
            <a:off x="8092902" y="3108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[계속녹음]</a:t>
            </a:r>
            <a:endParaRPr lang="en-US" sz="1100" dirty="0"/>
          </a:p>
        </p:txBody>
      </p:sp>
      <p:sp>
        <p:nvSpPr>
          <p:cNvPr id="15" name="text-316"/>
          <p:cNvSpPr txBox="1"/>
          <p:nvPr/>
        </p:nvSpPr>
        <p:spPr>
          <a:xfrm>
            <a:off x="8092902" y="3520440"/>
            <a:ext cx="3367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창을 닫고 녹음을 계속합니다.</a:t>
            </a:r>
            <a:endParaRPr lang="en-US" sz="1400" dirty="0"/>
          </a:p>
        </p:txBody>
      </p:sp>
      <p:sp>
        <p:nvSpPr>
          <p:cNvPr id="16" name="card-317"/>
          <p:cNvSpPr/>
          <p:nvPr/>
        </p:nvSpPr>
        <p:spPr>
          <a:xfrm>
            <a:off x="3719788" y="4937760"/>
            <a:ext cx="7923267" cy="123444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/>
        </p:spPr>
      </p:sp>
      <p:sp>
        <p:nvSpPr>
          <p:cNvPr id="17" name="iconbg-318"/>
          <p:cNvSpPr/>
          <p:nvPr/>
        </p:nvSpPr>
        <p:spPr>
          <a:xfrm>
            <a:off x="3994108" y="53035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-31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38" y="5429250"/>
            <a:ext cx="251460" cy="251460"/>
          </a:xfrm>
          <a:prstGeom prst="rect">
            <a:avLst/>
          </a:prstGeom>
        </p:spPr>
      </p:pic>
      <p:sp>
        <p:nvSpPr>
          <p:cNvPr id="19" name="text-320"/>
          <p:cNvSpPr txBox="1"/>
          <p:nvPr/>
        </p:nvSpPr>
        <p:spPr>
          <a:xfrm>
            <a:off x="4725628" y="5047488"/>
            <a:ext cx="6688827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진행자가 나가면 그룹 녹음 전체가 취소됩니다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모든 참여자의 녹음이 저장되지 않고 "방장이 그룹 녹음을 취소했습니다." 안내가 나타납니다. 진행자는 녹음이 끝날 때까지 화면을 나가지 마세요.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참여할 수 없는 경우와 신호음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그룹에 들어가지 못할 때의 원인과, 시작·종료 신호음 사용 시 주의할 점입니다</a:t>
            </a:r>
            <a:endParaRPr lang="en-US" sz="1600" dirty="0"/>
          </a:p>
        </p:txBody>
      </p:sp>
      <p:sp>
        <p:nvSpPr>
          <p:cNvPr id="4" name="text-321"/>
          <p:cNvSpPr txBox="1"/>
          <p:nvPr/>
        </p:nvSpPr>
        <p:spPr>
          <a:xfrm>
            <a:off x="548640" y="178308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그룹에 참여할 수 없을 때</a:t>
            </a:r>
            <a:endParaRPr lang="en-US" sz="2000" dirty="0"/>
          </a:p>
        </p:txBody>
      </p:sp>
      <p:sp>
        <p:nvSpPr>
          <p:cNvPr id="5" name="card-322"/>
          <p:cNvSpPr/>
          <p:nvPr/>
        </p:nvSpPr>
        <p:spPr>
          <a:xfrm>
            <a:off x="548640" y="2377440"/>
            <a:ext cx="536432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bg-323"/>
          <p:cNvSpPr/>
          <p:nvPr/>
        </p:nvSpPr>
        <p:spPr>
          <a:xfrm>
            <a:off x="822960" y="26791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con-32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16352"/>
            <a:ext cx="274320" cy="274320"/>
          </a:xfrm>
          <a:prstGeom prst="rect">
            <a:avLst/>
          </a:prstGeom>
        </p:spPr>
      </p:pic>
      <p:sp>
        <p:nvSpPr>
          <p:cNvPr id="8" name="text-325"/>
          <p:cNvSpPr txBox="1"/>
          <p:nvPr/>
        </p:nvSpPr>
        <p:spPr>
          <a:xfrm>
            <a:off x="1600200" y="2487168"/>
            <a:ext cx="408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존재하지 않거나 만료된 그룹 코드입니다.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코드가 틀렸거나, 진행자가 그룹을 나갔습니다.</a:t>
            </a:r>
            <a:endParaRPr lang="en-US" sz="1400" dirty="0"/>
          </a:p>
        </p:txBody>
      </p:sp>
      <p:sp>
        <p:nvSpPr>
          <p:cNvPr id="9" name="card-326"/>
          <p:cNvSpPr/>
          <p:nvPr/>
        </p:nvSpPr>
        <p:spPr>
          <a:xfrm>
            <a:off x="548640" y="3657600"/>
            <a:ext cx="536432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bg-327"/>
          <p:cNvSpPr/>
          <p:nvPr/>
        </p:nvSpPr>
        <p:spPr>
          <a:xfrm>
            <a:off x="822960" y="395935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con-32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096512"/>
            <a:ext cx="274320" cy="274320"/>
          </a:xfrm>
          <a:prstGeom prst="rect">
            <a:avLst/>
          </a:prstGeom>
        </p:spPr>
      </p:pic>
      <p:sp>
        <p:nvSpPr>
          <p:cNvPr id="12" name="text-329"/>
          <p:cNvSpPr txBox="1"/>
          <p:nvPr/>
        </p:nvSpPr>
        <p:spPr>
          <a:xfrm>
            <a:off x="1600200" y="3767328"/>
            <a:ext cx="408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그룹 정원(최대 5명)이 가득 찼습니다.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진행자를 포함해 5명이 이미 참여했습니다.</a:t>
            </a:r>
            <a:endParaRPr lang="en-US" sz="1400" dirty="0"/>
          </a:p>
        </p:txBody>
      </p:sp>
      <p:sp>
        <p:nvSpPr>
          <p:cNvPr id="13" name="card-330"/>
          <p:cNvSpPr/>
          <p:nvPr/>
        </p:nvSpPr>
        <p:spPr>
          <a:xfrm>
            <a:off x="548640" y="4937760"/>
            <a:ext cx="536432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bg-331"/>
          <p:cNvSpPr/>
          <p:nvPr/>
        </p:nvSpPr>
        <p:spPr>
          <a:xfrm>
            <a:off x="822960" y="523951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con-3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376672"/>
            <a:ext cx="274320" cy="274320"/>
          </a:xfrm>
          <a:prstGeom prst="rect">
            <a:avLst/>
          </a:prstGeom>
        </p:spPr>
      </p:pic>
      <p:sp>
        <p:nvSpPr>
          <p:cNvPr id="16" name="text-333"/>
          <p:cNvSpPr txBox="1"/>
          <p:nvPr/>
        </p:nvSpPr>
        <p:spPr>
          <a:xfrm>
            <a:off x="1600200" y="5047488"/>
            <a:ext cx="408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이미 녹음이 시작되어 참여할 수 없습니다.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녹음이 시작된 뒤에는 중간에 참여할 수 없습니다.</a:t>
            </a:r>
            <a:endParaRPr lang="en-US" sz="1400" dirty="0"/>
          </a:p>
        </p:txBody>
      </p:sp>
      <p:sp>
        <p:nvSpPr>
          <p:cNvPr id="17" name="text-334"/>
          <p:cNvSpPr txBox="1"/>
          <p:nvPr/>
        </p:nvSpPr>
        <p:spPr>
          <a:xfrm>
            <a:off x="6278728" y="178308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시작·종료 신호음</a:t>
            </a:r>
            <a:endParaRPr lang="en-US" sz="2000" dirty="0"/>
          </a:p>
        </p:txBody>
      </p:sp>
      <p:sp>
        <p:nvSpPr>
          <p:cNvPr id="18" name="card-335"/>
          <p:cNvSpPr/>
          <p:nvPr/>
        </p:nvSpPr>
        <p:spPr>
          <a:xfrm>
            <a:off x="6278728" y="2377440"/>
            <a:ext cx="5364328" cy="3703320"/>
          </a:xfrm>
          <a:prstGeom prst="roundRect">
            <a:avLst>
              <a:gd name="adj" fmla="val 2963"/>
            </a:avLst>
          </a:prstGeom>
          <a:solidFill>
            <a:schemeClr val="accent2"/>
          </a:solidFill>
          <a:ln/>
        </p:spPr>
      </p:sp>
      <p:sp>
        <p:nvSpPr>
          <p:cNvPr id="19" name="iconbg-336"/>
          <p:cNvSpPr/>
          <p:nvPr/>
        </p:nvSpPr>
        <p:spPr>
          <a:xfrm>
            <a:off x="6598768" y="2651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33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358" y="2800350"/>
            <a:ext cx="297180" cy="297180"/>
          </a:xfrm>
          <a:prstGeom prst="rect">
            <a:avLst/>
          </a:prstGeom>
        </p:spPr>
      </p:pic>
      <p:sp>
        <p:nvSpPr>
          <p:cNvPr id="21" name="text-338"/>
          <p:cNvSpPr txBox="1"/>
          <p:nvPr/>
        </p:nvSpPr>
        <p:spPr>
          <a:xfrm>
            <a:off x="7376008" y="2606040"/>
            <a:ext cx="3992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그룹 녹음을 시작할 때와 끝낼 때 모든 휴대폰에서 안내 음성과 신호음이 납니다. 서버는 이 소리로 여러 기기의 녹음 시점을 맞춥니다.</a:t>
            </a:r>
            <a:endParaRPr lang="en-US" sz="1300" dirty="0"/>
          </a:p>
        </p:txBody>
      </p:sp>
      <p:sp>
        <p:nvSpPr>
          <p:cNvPr id="22" name="text-339"/>
          <p:cNvSpPr txBox="1"/>
          <p:nvPr/>
        </p:nvSpPr>
        <p:spPr>
          <a:xfrm>
            <a:off x="6598768" y="365760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휴대폰 음량을 충분히 높여 주세요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iPhone: 음량이 낮으면 "기기 음량을 높여주세요" 안내가 나타나고, 진행자는 음량을 높일 때까지 녹음을 시작할 수 없습니다.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Android: 신호음이 나는 동안 음량이 자동으로 조정됩니다.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안내 음성과 신호음은 완성된 회의록에 포함되지 않습니다.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녹음 결과 화면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그룹 녹음이 끝나면 각자의 휴대폰에서 업로드와 회의록 생성 진행을 확인합니다</a:t>
            </a:r>
            <a:endParaRPr lang="en-US" sz="1600" dirty="0"/>
          </a:p>
        </p:txBody>
      </p:sp>
      <p:sp>
        <p:nvSpPr>
          <p:cNvPr id="4" name="card-340"/>
          <p:cNvSpPr/>
          <p:nvPr/>
        </p:nvSpPr>
        <p:spPr>
          <a:xfrm>
            <a:off x="548640" y="1783080"/>
            <a:ext cx="4114800" cy="438912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text-341"/>
          <p:cNvSpPr txBox="1"/>
          <p:nvPr/>
        </p:nvSpPr>
        <p:spPr>
          <a:xfrm>
            <a:off x="82296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진행 단계 안내</a:t>
            </a:r>
            <a:endParaRPr lang="en-US" sz="1600" dirty="0"/>
          </a:p>
        </p:txBody>
      </p:sp>
      <p:sp>
        <p:nvSpPr>
          <p:cNvPr id="6" name="num-342"/>
          <p:cNvSpPr/>
          <p:nvPr/>
        </p:nvSpPr>
        <p:spPr>
          <a:xfrm>
            <a:off x="822960" y="25603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-343"/>
          <p:cNvSpPr txBox="1"/>
          <p:nvPr/>
        </p:nvSpPr>
        <p:spPr>
          <a:xfrm>
            <a:off x="82296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-344"/>
          <p:cNvSpPr txBox="1"/>
          <p:nvPr/>
        </p:nvSpPr>
        <p:spPr>
          <a:xfrm>
            <a:off x="1371600" y="2468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각자의 녹음이 업로드되면 자동으로 회의록이 만들어집니다.</a:t>
            </a:r>
            <a:endParaRPr lang="en-US" sz="1300" dirty="0"/>
          </a:p>
        </p:txBody>
      </p:sp>
      <p:sp>
        <p:nvSpPr>
          <p:cNvPr id="9" name="num-345"/>
          <p:cNvSpPr/>
          <p:nvPr/>
        </p:nvSpPr>
        <p:spPr>
          <a:xfrm>
            <a:off x="822960" y="34290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-346"/>
          <p:cNvSpPr txBox="1"/>
          <p:nvPr/>
        </p:nvSpPr>
        <p:spPr>
          <a:xfrm>
            <a:off x="82296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-347"/>
          <p:cNvSpPr txBox="1"/>
          <p:nvPr/>
        </p:nvSpPr>
        <p:spPr>
          <a:xfrm>
            <a:off x="1371600" y="33375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녹음을 병합해 회의록을 만들고 있습니다.</a:t>
            </a:r>
            <a:endParaRPr lang="en-US" sz="1300" dirty="0"/>
          </a:p>
        </p:txBody>
      </p:sp>
      <p:sp>
        <p:nvSpPr>
          <p:cNvPr id="12" name="num-348"/>
          <p:cNvSpPr/>
          <p:nvPr/>
        </p:nvSpPr>
        <p:spPr>
          <a:xfrm>
            <a:off x="822960" y="42976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-349"/>
          <p:cNvSpPr txBox="1"/>
          <p:nvPr/>
        </p:nvSpPr>
        <p:spPr>
          <a:xfrm>
            <a:off x="82296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-350"/>
          <p:cNvSpPr txBox="1"/>
          <p:nvPr/>
        </p:nvSpPr>
        <p:spPr>
          <a:xfrm>
            <a:off x="1371600" y="4206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녹음 병합을 마치고 회의록을 만들고 있습니다.</a:t>
            </a:r>
            <a:endParaRPr lang="en-US" sz="1300" dirty="0"/>
          </a:p>
        </p:txBody>
      </p:sp>
      <p:sp>
        <p:nvSpPr>
          <p:cNvPr id="15" name="num-351"/>
          <p:cNvSpPr/>
          <p:nvPr/>
        </p:nvSpPr>
        <p:spPr>
          <a:xfrm>
            <a:off x="822960" y="5166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-352"/>
          <p:cNvSpPr txBox="1"/>
          <p:nvPr/>
        </p:nvSpPr>
        <p:spPr>
          <a:xfrm>
            <a:off x="82296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-353"/>
          <p:cNvSpPr txBox="1"/>
          <p:nvPr/>
        </p:nvSpPr>
        <p:spPr>
          <a:xfrm>
            <a:off x="1371600" y="5074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회의록이 준비되었습니다.</a:t>
            </a:r>
            <a:endParaRPr lang="en-US" sz="1300" dirty="0"/>
          </a:p>
        </p:txBody>
      </p:sp>
      <p:sp>
        <p:nvSpPr>
          <p:cNvPr id="18" name="card-354"/>
          <p:cNvSpPr/>
          <p:nvPr/>
        </p:nvSpPr>
        <p:spPr>
          <a:xfrm>
            <a:off x="4937760" y="1783080"/>
            <a:ext cx="41148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text-355"/>
          <p:cNvSpPr txBox="1"/>
          <p:nvPr/>
        </p:nvSpPr>
        <p:spPr>
          <a:xfrm>
            <a:off x="52120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업로드 진행률 · 참가자 현황</a:t>
            </a:r>
            <a:endParaRPr lang="en-US" sz="1600" dirty="0"/>
          </a:p>
        </p:txBody>
      </p:sp>
      <p:sp>
        <p:nvSpPr>
          <p:cNvPr id="20" name="track-356"/>
          <p:cNvSpPr/>
          <p:nvPr/>
        </p:nvSpPr>
        <p:spPr>
          <a:xfrm>
            <a:off x="5212080" y="2560320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1E4E6"/>
          </a:solidFill>
          <a:ln/>
        </p:spPr>
      </p:sp>
      <p:sp>
        <p:nvSpPr>
          <p:cNvPr id="21" name="bar-357"/>
          <p:cNvSpPr/>
          <p:nvPr/>
        </p:nvSpPr>
        <p:spPr>
          <a:xfrm>
            <a:off x="5212080" y="2560320"/>
            <a:ext cx="1960474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text-358"/>
          <p:cNvSpPr txBox="1"/>
          <p:nvPr/>
        </p:nvSpPr>
        <p:spPr>
          <a:xfrm>
            <a:off x="8229600" y="2441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67%</a:t>
            </a:r>
            <a:endParaRPr lang="en-US" sz="1400" dirty="0"/>
          </a:p>
        </p:txBody>
      </p:sp>
      <p:sp>
        <p:nvSpPr>
          <p:cNvPr id="23" name="chip-359"/>
          <p:cNvSpPr/>
          <p:nvPr/>
        </p:nvSpPr>
        <p:spPr>
          <a:xfrm>
            <a:off x="5212080" y="2971800"/>
            <a:ext cx="105156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4" name="text-360"/>
          <p:cNvSpPr txBox="1"/>
          <p:nvPr/>
        </p:nvSpPr>
        <p:spPr>
          <a:xfrm>
            <a:off x="5212080" y="29718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업로드 완료</a:t>
            </a:r>
            <a:endParaRPr lang="en-US" sz="1100" dirty="0"/>
          </a:p>
        </p:txBody>
      </p:sp>
      <p:sp>
        <p:nvSpPr>
          <p:cNvPr id="25" name="chip-361"/>
          <p:cNvSpPr/>
          <p:nvPr/>
        </p:nvSpPr>
        <p:spPr>
          <a:xfrm>
            <a:off x="6355080" y="297180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6" name="text-362"/>
          <p:cNvSpPr txBox="1"/>
          <p:nvPr/>
        </p:nvSpPr>
        <p:spPr>
          <a:xfrm>
            <a:off x="6355080" y="29718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대기 중</a:t>
            </a:r>
            <a:endParaRPr lang="en-US" sz="1100" dirty="0"/>
          </a:p>
        </p:txBody>
      </p:sp>
      <p:sp>
        <p:nvSpPr>
          <p:cNvPr id="27" name="chip-363"/>
          <p:cNvSpPr/>
          <p:nvPr/>
        </p:nvSpPr>
        <p:spPr>
          <a:xfrm>
            <a:off x="7315200" y="2971800"/>
            <a:ext cx="68580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8" name="text-364"/>
          <p:cNvSpPr txBox="1"/>
          <p:nvPr/>
        </p:nvSpPr>
        <p:spPr>
          <a:xfrm>
            <a:off x="7315200" y="29718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실패</a:t>
            </a:r>
            <a:endParaRPr lang="en-US" sz="1100" dirty="0"/>
          </a:p>
        </p:txBody>
      </p:sp>
      <p:sp>
        <p:nvSpPr>
          <p:cNvPr id="29" name="text-365"/>
          <p:cNvSpPr txBox="1"/>
          <p:nvPr/>
        </p:nvSpPr>
        <p:spPr>
          <a:xfrm>
            <a:off x="5212080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참가자 업로드 현황 위에 전체 업로드 진행률이 표시되고, 참여자별 업로드 상태를 함께 보여 줍니다.</a:t>
            </a:r>
            <a:endParaRPr lang="en-US" sz="1200" dirty="0"/>
          </a:p>
        </p:txBody>
      </p:sp>
      <p:sp>
        <p:nvSpPr>
          <p:cNvPr id="30" name="card-366"/>
          <p:cNvSpPr/>
          <p:nvPr/>
        </p:nvSpPr>
        <p:spPr>
          <a:xfrm>
            <a:off x="4937760" y="4069080"/>
            <a:ext cx="4114800" cy="2103120"/>
          </a:xfrm>
          <a:prstGeom prst="roundRect">
            <a:avLst>
              <a:gd name="adj" fmla="val 5217"/>
            </a:avLst>
          </a:prstGeom>
          <a:solidFill>
            <a:schemeClr val="accent2"/>
          </a:solidFill>
          <a:ln/>
        </p:spPr>
      </p:sp>
      <p:sp>
        <p:nvSpPr>
          <p:cNvPr id="31" name="text-367"/>
          <p:cNvSpPr txBox="1"/>
          <p:nvPr/>
        </p:nvSpPr>
        <p:spPr>
          <a:xfrm>
            <a:off x="5212080" y="4233672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[홈 화면 이동]을 누르면 홈으로 이동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</a:rPr>
              <a:t>확인 시 홈이동, 녹음 파일은 백그라운드로 업로드 됩니다.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업로드와 회의록 생성은 백그라운드에서 계속되며, 바로 새 녹음을 시작해도 됩니다.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업로드에 실패하면 홈 하단 패널에서 [재시도] 또는 [삭제]할 수 있습니다.</a:t>
            </a:r>
            <a:endParaRPr lang="en-US" sz="1400" dirty="0"/>
          </a:p>
        </p:txBody>
      </p:sp>
      <p:sp>
        <p:nvSpPr>
          <p:cNvPr id="32" name="phone-368"/>
          <p:cNvSpPr/>
          <p:nvPr/>
        </p:nvSpPr>
        <p:spPr>
          <a:xfrm>
            <a:off x="9486891" y="1719072"/>
            <a:ext cx="2156164" cy="4517136"/>
          </a:xfrm>
          <a:prstGeom prst="roundRect">
            <a:avLst>
              <a:gd name="adj" fmla="val 933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33" name="screen-369" descr="그룹 녹음 결과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0899" y="1783080"/>
            <a:ext cx="2028148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48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03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예외 상황과 FAQ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녹음·업로드 중 문제가 생겼을 때 대처 방법</a:t>
            </a:r>
            <a:endParaRPr lang="en-US" sz="1800" dirty="0"/>
          </a:p>
        </p:txBody>
      </p:sp>
      <p:sp>
        <p:nvSpPr>
          <p:cNvPr id="5" name="wave-370"/>
          <p:cNvSpPr/>
          <p:nvPr/>
        </p:nvSpPr>
        <p:spPr>
          <a:xfrm>
            <a:off x="7818120" y="3136392"/>
            <a:ext cx="93269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6" name="wave-371"/>
          <p:cNvSpPr/>
          <p:nvPr/>
        </p:nvSpPr>
        <p:spPr>
          <a:xfrm>
            <a:off x="8004658" y="3000375"/>
            <a:ext cx="93269" cy="58293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7" name="wave-372"/>
          <p:cNvSpPr/>
          <p:nvPr/>
        </p:nvSpPr>
        <p:spPr>
          <a:xfrm>
            <a:off x="8191195" y="2825496"/>
            <a:ext cx="93269" cy="93268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8" name="wave-373"/>
          <p:cNvSpPr/>
          <p:nvPr/>
        </p:nvSpPr>
        <p:spPr>
          <a:xfrm>
            <a:off x="8377733" y="2942082"/>
            <a:ext cx="93269" cy="699516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9" name="wave-374"/>
          <p:cNvSpPr/>
          <p:nvPr/>
        </p:nvSpPr>
        <p:spPr>
          <a:xfrm>
            <a:off x="8564270" y="2650617"/>
            <a:ext cx="93269" cy="1282446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0" name="wave-375"/>
          <p:cNvSpPr/>
          <p:nvPr/>
        </p:nvSpPr>
        <p:spPr>
          <a:xfrm>
            <a:off x="8750808" y="2398014"/>
            <a:ext cx="93269" cy="1787652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1" name="wave-376"/>
          <p:cNvSpPr/>
          <p:nvPr/>
        </p:nvSpPr>
        <p:spPr>
          <a:xfrm>
            <a:off x="8937346" y="2728341"/>
            <a:ext cx="93269" cy="1126998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12" name="wave-377"/>
          <p:cNvSpPr/>
          <p:nvPr/>
        </p:nvSpPr>
        <p:spPr>
          <a:xfrm>
            <a:off x="9123883" y="2922651"/>
            <a:ext cx="93269" cy="73837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3" name="wave-378"/>
          <p:cNvSpPr/>
          <p:nvPr/>
        </p:nvSpPr>
        <p:spPr>
          <a:xfrm>
            <a:off x="9310421" y="2514600"/>
            <a:ext cx="93269" cy="155448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4" name="wave-379"/>
          <p:cNvSpPr/>
          <p:nvPr/>
        </p:nvSpPr>
        <p:spPr>
          <a:xfrm>
            <a:off x="9496958" y="2261997"/>
            <a:ext cx="93269" cy="2059686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5" name="wave-380"/>
          <p:cNvSpPr/>
          <p:nvPr/>
        </p:nvSpPr>
        <p:spPr>
          <a:xfrm>
            <a:off x="9683496" y="2592324"/>
            <a:ext cx="93269" cy="1399032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6" name="wave-381"/>
          <p:cNvSpPr/>
          <p:nvPr/>
        </p:nvSpPr>
        <p:spPr>
          <a:xfrm>
            <a:off x="9870034" y="2825496"/>
            <a:ext cx="93269" cy="93268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7" name="wave-382"/>
          <p:cNvSpPr/>
          <p:nvPr/>
        </p:nvSpPr>
        <p:spPr>
          <a:xfrm>
            <a:off x="10056571" y="2436876"/>
            <a:ext cx="93269" cy="1709928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8" name="wave-383"/>
          <p:cNvSpPr/>
          <p:nvPr/>
        </p:nvSpPr>
        <p:spPr>
          <a:xfrm>
            <a:off x="10243109" y="2708910"/>
            <a:ext cx="93269" cy="116586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9" name="wave-384"/>
          <p:cNvSpPr/>
          <p:nvPr/>
        </p:nvSpPr>
        <p:spPr>
          <a:xfrm>
            <a:off x="10429646" y="2922651"/>
            <a:ext cx="93269" cy="73837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0" name="wave-385"/>
          <p:cNvSpPr/>
          <p:nvPr/>
        </p:nvSpPr>
        <p:spPr>
          <a:xfrm>
            <a:off x="10616184" y="2786634"/>
            <a:ext cx="93269" cy="1010412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21" name="wave-386"/>
          <p:cNvSpPr/>
          <p:nvPr/>
        </p:nvSpPr>
        <p:spPr>
          <a:xfrm>
            <a:off x="10802722" y="3000375"/>
            <a:ext cx="93269" cy="58293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2" name="wave-387"/>
          <p:cNvSpPr/>
          <p:nvPr/>
        </p:nvSpPr>
        <p:spPr>
          <a:xfrm>
            <a:off x="10989259" y="3136392"/>
            <a:ext cx="93269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녹음 중 예외 상황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단독 녹음과 그룹 녹음의 동작 차이 (* 휴대폰 기종과 OS 버전에 따라 다를 수 있음)</a:t>
            </a:r>
            <a:endParaRPr lang="en-US" sz="1600" dirty="0"/>
          </a:p>
        </p:txBody>
      </p:sp>
      <p:graphicFrame>
        <p:nvGraphicFramePr>
          <p:cNvPr id="23" name="table-3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288536"/>
                <a:gridCol w="42912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상황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단독 녹음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그룹 녹음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전화 수신 *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자동 일시정지, 통화 후 자동 재개 (재개되지 않으면 녹음 버튼으로 재개)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녹음이 멈추지 않고 계속됨. 통화 중에는 해당 기기만 묵음으로 녹음되고 회의 녹음은 계속 진행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알림음·알람·긴급재난문자 *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녹음이 잠시 멈출 수 있음. iPhone은 자동 재개, 멈춰 있으면 녹음 버튼으로 재개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전화 수신과 같음. 녹음이 멈추지 않고 계속되며, 그동안 해당 기기만 묵음으로 녹음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네트워크 끊김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영향 없음 (휴대폰에 녹음)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녹음은 계속됨. 다시 연결되면 진행자의 일시정지/종료 상태를 자동으로 따라감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최대 녹음 시간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3시간 도달 시 자동으로 멈추고 완료 설정 창 표시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1시간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저장공간 95% 초과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녹음 자동 중지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녹음 자동 중지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관리자 메일 발송 실패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"이메일 발송에 실패하였습니다." 안내, 녹음이 시작되지 않음 → 네트워크 확인 후 다시 시도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진행자: 단독 녹음과 같음 / 참여자: 안내만 표시되고 녹음은 계속됨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진행자가 나감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그룹 녹음 전체 취소, 참여자에게 "방장이 그룹 녹음을 취소했습니다." 안내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참여자가 [취소]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[취소진행]을 누르면 본인 녹음은 반영되지 않고 그룹 재참여 불가. 다른 참여자는 계속 녹음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업로드 중 예외 상황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업로드가 멈추거나 실패했을 때의 표시와 해결 방법입니다</a:t>
            </a:r>
            <a:endParaRPr lang="en-US" sz="1600" dirty="0"/>
          </a:p>
        </p:txBody>
      </p:sp>
      <p:sp>
        <p:nvSpPr>
          <p:cNvPr id="4" name="card-389"/>
          <p:cNvSpPr/>
          <p:nvPr/>
        </p:nvSpPr>
        <p:spPr>
          <a:xfrm>
            <a:off x="548640" y="1737360"/>
            <a:ext cx="78181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5" name="iconbg-390"/>
          <p:cNvSpPr/>
          <p:nvPr/>
        </p:nvSpPr>
        <p:spPr>
          <a:xfrm>
            <a:off x="749808" y="19110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39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025396"/>
            <a:ext cx="228600" cy="228600"/>
          </a:xfrm>
          <a:prstGeom prst="rect">
            <a:avLst/>
          </a:prstGeom>
        </p:spPr>
      </p:pic>
      <p:sp>
        <p:nvSpPr>
          <p:cNvPr id="7" name="text-392"/>
          <p:cNvSpPr txBox="1"/>
          <p:nvPr/>
        </p:nvSpPr>
        <p:spPr>
          <a:xfrm>
            <a:off x="1371600" y="1737360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네트워크 연결이 끊김</a:t>
            </a:r>
            <a:endParaRPr lang="en-US" sz="1400" dirty="0"/>
          </a:p>
        </p:txBody>
      </p:sp>
      <p:sp>
        <p:nvSpPr>
          <p:cNvPr id="8" name="text-393"/>
          <p:cNvSpPr txBox="1"/>
          <p:nvPr/>
        </p:nvSpPr>
        <p:spPr>
          <a:xfrm>
            <a:off x="3657600" y="179222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"네트워크 연결 대기 중... (연결되면 자동 재개)"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별도 조치가 필요 없습니다. 연결되면 자동으로 다시 업로드합니다.</a:t>
            </a:r>
            <a:endParaRPr lang="en-US" sz="1400" dirty="0"/>
          </a:p>
        </p:txBody>
      </p:sp>
      <p:sp>
        <p:nvSpPr>
          <p:cNvPr id="9" name="card-394"/>
          <p:cNvSpPr/>
          <p:nvPr/>
        </p:nvSpPr>
        <p:spPr>
          <a:xfrm>
            <a:off x="548640" y="2633472"/>
            <a:ext cx="78181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0" name="iconbg-395"/>
          <p:cNvSpPr/>
          <p:nvPr/>
        </p:nvSpPr>
        <p:spPr>
          <a:xfrm>
            <a:off x="749808" y="28072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39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921508"/>
            <a:ext cx="228600" cy="228600"/>
          </a:xfrm>
          <a:prstGeom prst="rect">
            <a:avLst/>
          </a:prstGeom>
        </p:spPr>
      </p:pic>
      <p:sp>
        <p:nvSpPr>
          <p:cNvPr id="12" name="text-397"/>
          <p:cNvSpPr txBox="1"/>
          <p:nvPr/>
        </p:nvSpPr>
        <p:spPr>
          <a:xfrm>
            <a:off x="1371600" y="2633472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업로드 실패</a:t>
            </a:r>
            <a:endParaRPr lang="en-US" sz="1400" dirty="0"/>
          </a:p>
        </p:txBody>
      </p:sp>
      <p:sp>
        <p:nvSpPr>
          <p:cNvPr id="13" name="text-398"/>
          <p:cNvSpPr txBox="1"/>
          <p:nvPr/>
        </p:nvSpPr>
        <p:spPr>
          <a:xfrm>
            <a:off x="3657600" y="2688336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"업로드에 실패한 파일은 재시도 또는 삭제해 주세요."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[재시도]를 누르세요. [삭제]를 누르면 녹음 파일이 삭제되며 복구할 수 없습니다.</a:t>
            </a:r>
            <a:endParaRPr lang="en-US" sz="1400" dirty="0"/>
          </a:p>
        </p:txBody>
      </p:sp>
      <p:sp>
        <p:nvSpPr>
          <p:cNvPr id="14" name="card-399"/>
          <p:cNvSpPr/>
          <p:nvPr/>
        </p:nvSpPr>
        <p:spPr>
          <a:xfrm>
            <a:off x="548640" y="3529584"/>
            <a:ext cx="78181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5" name="iconbg-400"/>
          <p:cNvSpPr/>
          <p:nvPr/>
        </p:nvSpPr>
        <p:spPr>
          <a:xfrm>
            <a:off x="749808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40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3817620"/>
            <a:ext cx="228600" cy="228600"/>
          </a:xfrm>
          <a:prstGeom prst="rect">
            <a:avLst/>
          </a:prstGeom>
        </p:spPr>
      </p:pic>
      <p:sp>
        <p:nvSpPr>
          <p:cNvPr id="17" name="text-402"/>
          <p:cNvSpPr txBox="1"/>
          <p:nvPr/>
        </p:nvSpPr>
        <p:spPr>
          <a:xfrm>
            <a:off x="1371600" y="3529584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업로드 도중 앱이 종료됨</a:t>
            </a:r>
            <a:endParaRPr lang="en-US" sz="1400" dirty="0"/>
          </a:p>
        </p:txBody>
      </p:sp>
      <p:sp>
        <p:nvSpPr>
          <p:cNvPr id="18" name="text-403"/>
          <p:cNvSpPr txBox="1"/>
          <p:nvPr/>
        </p:nvSpPr>
        <p:spPr>
          <a:xfrm>
            <a:off x="3657600" y="358444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앱을 다시 실행하면 홈 패널에 실패 항목으로 표시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[재시도]를 누르면 업로드가 다시 진행됩니다.</a:t>
            </a:r>
            <a:endParaRPr lang="en-US" sz="1400" dirty="0"/>
          </a:p>
        </p:txBody>
      </p:sp>
      <p:sp>
        <p:nvSpPr>
          <p:cNvPr id="19" name="card-404"/>
          <p:cNvSpPr/>
          <p:nvPr/>
        </p:nvSpPr>
        <p:spPr>
          <a:xfrm>
            <a:off x="548640" y="4425696"/>
            <a:ext cx="78181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0" name="iconbg-405"/>
          <p:cNvSpPr/>
          <p:nvPr/>
        </p:nvSpPr>
        <p:spPr>
          <a:xfrm>
            <a:off x="749808" y="45994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40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713732"/>
            <a:ext cx="228600" cy="228600"/>
          </a:xfrm>
          <a:prstGeom prst="rect">
            <a:avLst/>
          </a:prstGeom>
        </p:spPr>
      </p:pic>
      <p:sp>
        <p:nvSpPr>
          <p:cNvPr id="22" name="text-407"/>
          <p:cNvSpPr txBox="1"/>
          <p:nvPr/>
        </p:nvSpPr>
        <p:spPr>
          <a:xfrm>
            <a:off x="1371600" y="4425696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전송하지 못한 녹음을 다시 보내고 싶음</a:t>
            </a:r>
            <a:endParaRPr lang="en-US" sz="1400" dirty="0"/>
          </a:p>
        </p:txBody>
      </p:sp>
      <p:sp>
        <p:nvSpPr>
          <p:cNvPr id="23" name="text-408"/>
          <p:cNvSpPr txBox="1"/>
          <p:nvPr/>
        </p:nvSpPr>
        <p:spPr>
          <a:xfrm>
            <a:off x="3657600" y="448056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메뉴 → 녹음 실패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목록에서 [재전송]을 누르세요. 이전에 고른 참석자 수, 언어, 템플릿, 제목이 그대로 채워집니다.</a:t>
            </a:r>
            <a:endParaRPr lang="en-US" sz="1400" dirty="0"/>
          </a:p>
        </p:txBody>
      </p:sp>
      <p:sp>
        <p:nvSpPr>
          <p:cNvPr id="24" name="card-409"/>
          <p:cNvSpPr/>
          <p:nvPr/>
        </p:nvSpPr>
        <p:spPr>
          <a:xfrm>
            <a:off x="548640" y="5321808"/>
            <a:ext cx="78181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5" name="iconbg-410"/>
          <p:cNvSpPr/>
          <p:nvPr/>
        </p:nvSpPr>
        <p:spPr>
          <a:xfrm>
            <a:off x="749808" y="54955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41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5609844"/>
            <a:ext cx="228600" cy="228600"/>
          </a:xfrm>
          <a:prstGeom prst="rect">
            <a:avLst/>
          </a:prstGeom>
        </p:spPr>
      </p:pic>
      <p:sp>
        <p:nvSpPr>
          <p:cNvPr id="27" name="text-412"/>
          <p:cNvSpPr txBox="1"/>
          <p:nvPr/>
        </p:nvSpPr>
        <p:spPr>
          <a:xfrm>
            <a:off x="1371600" y="5321808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그룹 녹음 업로드 실패</a:t>
            </a:r>
            <a:endParaRPr lang="en-US" sz="1400" dirty="0"/>
          </a:p>
        </p:txBody>
      </p:sp>
      <p:sp>
        <p:nvSpPr>
          <p:cNvPr id="28" name="text-413"/>
          <p:cNvSpPr txBox="1"/>
          <p:nvPr/>
        </p:nvSpPr>
        <p:spPr>
          <a:xfrm>
            <a:off x="3657600" y="5376672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홈 하단 패널에 실패 항목 표시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[재시도]를 누르세요.</a:t>
            </a:r>
            <a:endParaRPr lang="en-US" sz="1400" dirty="0"/>
          </a:p>
        </p:txBody>
      </p:sp>
      <p:sp>
        <p:nvSpPr>
          <p:cNvPr id="29" name="card-414"/>
          <p:cNvSpPr/>
          <p:nvPr/>
        </p:nvSpPr>
        <p:spPr>
          <a:xfrm>
            <a:off x="8686800" y="1737360"/>
            <a:ext cx="2956255" cy="4389120"/>
          </a:xfrm>
          <a:prstGeom prst="roundRect">
            <a:avLst>
              <a:gd name="adj" fmla="val 3712"/>
            </a:avLst>
          </a:prstGeom>
          <a:solidFill>
            <a:schemeClr val="bg2"/>
          </a:solidFill>
          <a:ln/>
        </p:spPr>
      </p:sp>
      <p:sp>
        <p:nvSpPr>
          <p:cNvPr id="30" name="text-415"/>
          <p:cNvSpPr txBox="1"/>
          <p:nvPr/>
        </p:nvSpPr>
        <p:spPr>
          <a:xfrm>
            <a:off x="8915400" y="192024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업로드 실패 시 패널</a:t>
            </a:r>
            <a:endParaRPr lang="en-US" sz="1400" dirty="0"/>
          </a:p>
        </p:txBody>
      </p:sp>
      <p:sp>
        <p:nvSpPr>
          <p:cNvPr id="31" name="panelbg-416"/>
          <p:cNvSpPr/>
          <p:nvPr/>
        </p:nvSpPr>
        <p:spPr>
          <a:xfrm>
            <a:off x="8915400" y="2377440"/>
            <a:ext cx="2499055" cy="1651918"/>
          </a:xfrm>
          <a:prstGeom prst="roundRect">
            <a:avLst>
              <a:gd name="adj" fmla="val 553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32" name="panel-417" descr="업로드 실패 - 재시도/삭제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2423160"/>
            <a:ext cx="2407615" cy="1560478"/>
          </a:xfrm>
          <a:prstGeom prst="rect">
            <a:avLst/>
          </a:prstGeom>
        </p:spPr>
      </p:pic>
      <p:sp>
        <p:nvSpPr>
          <p:cNvPr id="33" name="text-418"/>
          <p:cNvSpPr txBox="1"/>
          <p:nvPr/>
        </p:nvSpPr>
        <p:spPr>
          <a:xfrm>
            <a:off x="8915400" y="4434840"/>
            <a:ext cx="24990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[재시도]로 다시 업로드합니다. [삭제]한 녹음 파일은 복구할 수 없습니다.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일부 파일이 누락된 경우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녹음 파일 일부가 서버에 전달되지 않으면 실패로 처리되고 안내 창이 나타납니다</a:t>
            </a:r>
            <a:endParaRPr lang="en-US" sz="1600" dirty="0"/>
          </a:p>
        </p:txBody>
      </p:sp>
      <p:sp>
        <p:nvSpPr>
          <p:cNvPr id="4" name="card-419"/>
          <p:cNvSpPr/>
          <p:nvPr/>
        </p:nvSpPr>
        <p:spPr>
          <a:xfrm>
            <a:off x="548640" y="1783080"/>
            <a:ext cx="34061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5" name="chip-420"/>
          <p:cNvSpPr/>
          <p:nvPr/>
        </p:nvSpPr>
        <p:spPr>
          <a:xfrm>
            <a:off x="822960" y="2057400"/>
            <a:ext cx="114300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6" name="text-421"/>
          <p:cNvSpPr txBox="1"/>
          <p:nvPr/>
        </p:nvSpPr>
        <p:spPr>
          <a:xfrm>
            <a:off x="822960" y="20574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업로드 실패</a:t>
            </a:r>
            <a:endParaRPr lang="en-US" sz="1100" dirty="0"/>
          </a:p>
        </p:txBody>
      </p:sp>
      <p:sp>
        <p:nvSpPr>
          <p:cNvPr id="7" name="text-422"/>
          <p:cNvSpPr txBox="1"/>
          <p:nvPr/>
        </p:nvSpPr>
        <p:spPr>
          <a:xfrm>
            <a:off x="822960" y="2514600"/>
            <a:ext cx="28575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녹음 파일이 모두 휴대폰에 있음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휴대폰에서 서버로 올리는 중 실패한 경우입니다. 앱 홈 하단 패널에서 [재시도]하면 다시 업로드됩니다. (앞 페이지)</a:t>
            </a:r>
            <a:endParaRPr lang="en-US" sz="1400" dirty="0"/>
          </a:p>
        </p:txBody>
      </p:sp>
      <p:sp>
        <p:nvSpPr>
          <p:cNvPr id="8" name="card-423"/>
          <p:cNvSpPr/>
          <p:nvPr/>
        </p:nvSpPr>
        <p:spPr>
          <a:xfrm>
            <a:off x="4229100" y="1783080"/>
            <a:ext cx="3406140" cy="2240280"/>
          </a:xfrm>
          <a:prstGeom prst="roundRect">
            <a:avLst>
              <a:gd name="adj" fmla="val 4898"/>
            </a:avLst>
          </a:prstGeom>
          <a:solidFill>
            <a:schemeClr val="accent6"/>
          </a:solidFill>
          <a:ln/>
        </p:spPr>
      </p:sp>
      <p:sp>
        <p:nvSpPr>
          <p:cNvPr id="9" name="chip-424"/>
          <p:cNvSpPr/>
          <p:nvPr/>
        </p:nvSpPr>
        <p:spPr>
          <a:xfrm>
            <a:off x="4503420" y="2057400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0" name="text-425"/>
          <p:cNvSpPr txBox="1"/>
          <p:nvPr/>
        </p:nvSpPr>
        <p:spPr>
          <a:xfrm>
            <a:off x="4503420" y="20574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일부 파일 누락</a:t>
            </a:r>
            <a:endParaRPr lang="en-US" sz="1100" dirty="0"/>
          </a:p>
        </p:txBody>
      </p:sp>
      <p:sp>
        <p:nvSpPr>
          <p:cNvPr id="11" name="text-426"/>
          <p:cNvSpPr txBox="1"/>
          <p:nvPr/>
        </p:nvSpPr>
        <p:spPr>
          <a:xfrm>
            <a:off x="4503420" y="2514600"/>
            <a:ext cx="28575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녹음 파일 일부가 유실됨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녹음은 3분 단위 파일로 나뉘어 전송됩니다. 일부 파일이 유실되면 서버가 누락된 파일 목록을 보내고 실패로 처리합니다.</a:t>
            </a:r>
            <a:endParaRPr lang="en-US" sz="1400" dirty="0"/>
          </a:p>
        </p:txBody>
      </p:sp>
      <p:sp>
        <p:nvSpPr>
          <p:cNvPr id="12" name="card-427"/>
          <p:cNvSpPr/>
          <p:nvPr/>
        </p:nvSpPr>
        <p:spPr>
          <a:xfrm>
            <a:off x="548640" y="4251960"/>
            <a:ext cx="70866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text-428"/>
          <p:cNvSpPr txBox="1"/>
          <p:nvPr/>
        </p:nvSpPr>
        <p:spPr>
          <a:xfrm>
            <a:off x="822960" y="443484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누락 안내가 나타나면</a:t>
            </a:r>
            <a:endParaRPr lang="en-US" sz="1600" dirty="0"/>
          </a:p>
        </p:txBody>
      </p:sp>
      <p:sp>
        <p:nvSpPr>
          <p:cNvPr id="14" name="num-429"/>
          <p:cNvSpPr/>
          <p:nvPr/>
        </p:nvSpPr>
        <p:spPr>
          <a:xfrm>
            <a:off x="822960" y="493776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-430"/>
          <p:cNvSpPr txBox="1"/>
          <p:nvPr/>
        </p:nvSpPr>
        <p:spPr>
          <a:xfrm>
            <a:off x="822960" y="4937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-431"/>
          <p:cNvSpPr txBox="1"/>
          <p:nvPr/>
        </p:nvSpPr>
        <p:spPr>
          <a:xfrm>
            <a:off x="1325880" y="4901184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PC에서 AI회의록 시스템(웹)에 접속해 재업로드를 시도해 주세요.</a:t>
            </a:r>
            <a:endParaRPr lang="en-US" sz="1400" dirty="0"/>
          </a:p>
        </p:txBody>
      </p:sp>
      <p:sp>
        <p:nvSpPr>
          <p:cNvPr id="17" name="num-432"/>
          <p:cNvSpPr/>
          <p:nvPr/>
        </p:nvSpPr>
        <p:spPr>
          <a:xfrm>
            <a:off x="822960" y="539496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-433"/>
          <p:cNvSpPr txBox="1"/>
          <p:nvPr/>
        </p:nvSpPr>
        <p:spPr>
          <a:xfrm>
            <a:off x="82296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-434"/>
          <p:cNvSpPr txBox="1"/>
          <p:nvPr/>
        </p:nvSpPr>
        <p:spPr>
          <a:xfrm>
            <a:off x="1325880" y="5358384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누락된 파일을 제외한 나머지 파일로만 회의록이 완성됩니다.</a:t>
            </a:r>
            <a:endParaRPr lang="en-US" sz="1400" dirty="0"/>
          </a:p>
        </p:txBody>
      </p:sp>
      <p:sp>
        <p:nvSpPr>
          <p:cNvPr id="20" name="num-435"/>
          <p:cNvSpPr/>
          <p:nvPr/>
        </p:nvSpPr>
        <p:spPr>
          <a:xfrm>
            <a:off x="822960" y="585216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-436"/>
          <p:cNvSpPr txBox="1"/>
          <p:nvPr/>
        </p:nvSpPr>
        <p:spPr>
          <a:xfrm>
            <a:off x="822960" y="5852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-437"/>
          <p:cNvSpPr txBox="1"/>
          <p:nvPr/>
        </p:nvSpPr>
        <p:spPr>
          <a:xfrm>
            <a:off x="1325880" y="5815584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누락된 구간의 발언은 회의록에 포함되지 않습니다.</a:t>
            </a:r>
            <a:endParaRPr lang="en-US" sz="1400" dirty="0"/>
          </a:p>
        </p:txBody>
      </p:sp>
      <p:sp>
        <p:nvSpPr>
          <p:cNvPr id="23" name="card-438"/>
          <p:cNvSpPr/>
          <p:nvPr/>
        </p:nvSpPr>
        <p:spPr>
          <a:xfrm>
            <a:off x="7955280" y="1783080"/>
            <a:ext cx="3687775" cy="4389120"/>
          </a:xfrm>
          <a:prstGeom prst="roundRect">
            <a:avLst>
              <a:gd name="adj" fmla="val 2975"/>
            </a:avLst>
          </a:prstGeom>
          <a:solidFill>
            <a:schemeClr val="tx1"/>
          </a:solidFill>
          <a:ln/>
        </p:spPr>
      </p:sp>
      <p:sp>
        <p:nvSpPr>
          <p:cNvPr id="24" name="text-439"/>
          <p:cNvSpPr txBox="1"/>
          <p:nvPr/>
        </p:nvSpPr>
        <p:spPr>
          <a:xfrm>
            <a:off x="8229600" y="2011680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안내 창 (예시)</a:t>
            </a:r>
            <a:endParaRPr lang="en-US" sz="1200" dirty="0"/>
          </a:p>
        </p:txBody>
      </p:sp>
      <p:sp>
        <p:nvSpPr>
          <p:cNvPr id="25" name="dialog-440"/>
          <p:cNvSpPr/>
          <p:nvPr/>
        </p:nvSpPr>
        <p:spPr>
          <a:xfrm>
            <a:off x="8275320" y="2697480"/>
            <a:ext cx="3047695" cy="265176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6" name="iconbg-441"/>
          <p:cNvSpPr/>
          <p:nvPr/>
        </p:nvSpPr>
        <p:spPr>
          <a:xfrm>
            <a:off x="9552280" y="2926080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icon-44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5724" y="3049524"/>
            <a:ext cx="246888" cy="246888"/>
          </a:xfrm>
          <a:prstGeom prst="rect">
            <a:avLst/>
          </a:prstGeom>
        </p:spPr>
      </p:pic>
      <p:sp>
        <p:nvSpPr>
          <p:cNvPr id="28" name="text-443"/>
          <p:cNvSpPr txBox="1"/>
          <p:nvPr/>
        </p:nvSpPr>
        <p:spPr>
          <a:xfrm>
            <a:off x="8503920" y="3566160"/>
            <a:ext cx="25904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누락파일이 발생되어 웹에서 재업로드를 시도해주세요.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단, 누락된 파일을 제외한 나머지 파일로만 회의록이 완성됩니다.</a:t>
            </a:r>
            <a:endParaRPr lang="en-US" sz="1300" dirty="0"/>
          </a:p>
        </p:txBody>
      </p:sp>
      <p:sp>
        <p:nvSpPr>
          <p:cNvPr id="29" name="dlgbtn-444"/>
          <p:cNvSpPr/>
          <p:nvPr/>
        </p:nvSpPr>
        <p:spPr>
          <a:xfrm>
            <a:off x="8503920" y="4709160"/>
            <a:ext cx="2590495" cy="420624"/>
          </a:xfrm>
          <a:prstGeom prst="roundRect">
            <a:avLst>
              <a:gd name="adj" fmla="val 17391"/>
            </a:avLst>
          </a:prstGeom>
          <a:solidFill>
            <a:schemeClr val="accent1"/>
          </a:solidFill>
          <a:ln/>
        </p:spPr>
      </p:sp>
      <p:sp>
        <p:nvSpPr>
          <p:cNvPr id="30" name="text-445"/>
          <p:cNvSpPr txBox="1"/>
          <p:nvPr/>
        </p:nvSpPr>
        <p:spPr>
          <a:xfrm>
            <a:off x="8503920" y="4709160"/>
            <a:ext cx="2590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확인</a:t>
            </a:r>
            <a:endParaRPr lang="en-US" sz="1400" dirty="0"/>
          </a:p>
        </p:txBody>
      </p:sp>
      <p:sp>
        <p:nvSpPr>
          <p:cNvPr id="31" name="text-446"/>
          <p:cNvSpPr txBox="1"/>
          <p:nvPr/>
        </p:nvSpPr>
        <p:spPr>
          <a:xfrm>
            <a:off x="8229600" y="5623560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실제 앱 화면과 버튼 구성은 다를 수 있습니다.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자주 묻는 질문 · 공통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업로드, 회의록 확인, 관리자 메일, 전화 수신</a:t>
            </a:r>
            <a:endParaRPr lang="en-US" sz="1600" dirty="0"/>
          </a:p>
        </p:txBody>
      </p:sp>
      <p:sp>
        <p:nvSpPr>
          <p:cNvPr id="4" name="card-447"/>
          <p:cNvSpPr/>
          <p:nvPr/>
        </p:nvSpPr>
        <p:spPr>
          <a:xfrm>
            <a:off x="548640" y="1737360"/>
            <a:ext cx="11094415" cy="1026414"/>
          </a:xfrm>
          <a:prstGeom prst="roundRect">
            <a:avLst>
              <a:gd name="adj" fmla="val 10690"/>
            </a:avLst>
          </a:prstGeom>
          <a:solidFill>
            <a:schemeClr val="bg2"/>
          </a:solidFill>
          <a:ln/>
        </p:spPr>
      </p:sp>
      <p:sp>
        <p:nvSpPr>
          <p:cNvPr id="5" name="num-448"/>
          <p:cNvSpPr/>
          <p:nvPr/>
        </p:nvSpPr>
        <p:spPr>
          <a:xfrm>
            <a:off x="777240" y="2021967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449"/>
          <p:cNvSpPr txBox="1"/>
          <p:nvPr/>
        </p:nvSpPr>
        <p:spPr>
          <a:xfrm>
            <a:off x="777240" y="20219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7" name="text-450"/>
          <p:cNvSpPr txBox="1"/>
          <p:nvPr/>
        </p:nvSpPr>
        <p:spPr>
          <a:xfrm>
            <a:off x="1463040" y="1737360"/>
            <a:ext cx="3749040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업로드가 끝날 때까지 기다려야 하나요?</a:t>
            </a:r>
            <a:endParaRPr lang="en-US" sz="1500" dirty="0"/>
          </a:p>
        </p:txBody>
      </p:sp>
      <p:sp>
        <p:nvSpPr>
          <p:cNvPr id="8" name="text-451"/>
          <p:cNvSpPr txBox="1"/>
          <p:nvPr/>
        </p:nvSpPr>
        <p:spPr>
          <a:xfrm>
            <a:off x="5394960" y="1737360"/>
            <a:ext cx="6019495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아니요. 완료 설정에서 [확인]을 누르면 홈으로 이동하고, 바로 다음 녹음을 시작해도 됩니다. 업로드와 변환은 순서대로 자동 진행됩니다. 단, 업로드가 끝날 때까지 앱을 완전히 종료하지는 마세요.</a:t>
            </a:r>
            <a:endParaRPr lang="en-US" sz="1300" dirty="0"/>
          </a:p>
        </p:txBody>
      </p:sp>
      <p:sp>
        <p:nvSpPr>
          <p:cNvPr id="9" name="card-452"/>
          <p:cNvSpPr/>
          <p:nvPr/>
        </p:nvSpPr>
        <p:spPr>
          <a:xfrm>
            <a:off x="548640" y="2873502"/>
            <a:ext cx="11094415" cy="1026414"/>
          </a:xfrm>
          <a:prstGeom prst="roundRect">
            <a:avLst>
              <a:gd name="adj" fmla="val 10690"/>
            </a:avLst>
          </a:prstGeom>
          <a:solidFill>
            <a:schemeClr val="bg2"/>
          </a:solidFill>
          <a:ln/>
        </p:spPr>
      </p:sp>
      <p:sp>
        <p:nvSpPr>
          <p:cNvPr id="10" name="num-453"/>
          <p:cNvSpPr/>
          <p:nvPr/>
        </p:nvSpPr>
        <p:spPr>
          <a:xfrm>
            <a:off x="777240" y="3158109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-454"/>
          <p:cNvSpPr txBox="1"/>
          <p:nvPr/>
        </p:nvSpPr>
        <p:spPr>
          <a:xfrm>
            <a:off x="777240" y="315810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12" name="text-455"/>
          <p:cNvSpPr txBox="1"/>
          <p:nvPr/>
        </p:nvSpPr>
        <p:spPr>
          <a:xfrm>
            <a:off x="1463040" y="2873502"/>
            <a:ext cx="3749040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완성된 회의록은 어디서 보나요?</a:t>
            </a:r>
            <a:endParaRPr lang="en-US" sz="1500" dirty="0"/>
          </a:p>
        </p:txBody>
      </p:sp>
      <p:sp>
        <p:nvSpPr>
          <p:cNvPr id="13" name="text-456"/>
          <p:cNvSpPr txBox="1"/>
          <p:nvPr/>
        </p:nvSpPr>
        <p:spPr>
          <a:xfrm>
            <a:off x="5394960" y="2873502"/>
            <a:ext cx="6019495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회의록이 완성되면 앱 알림함에 "회의록이 생성되었습니다." 알림이 옵니다. 회의록 내용은 PC에서 AI회의록 시스템(aimeeting.skhynix.com)에 접속해 확인합니다.</a:t>
            </a:r>
            <a:endParaRPr lang="en-US" sz="1300" dirty="0"/>
          </a:p>
        </p:txBody>
      </p:sp>
      <p:sp>
        <p:nvSpPr>
          <p:cNvPr id="14" name="card-457"/>
          <p:cNvSpPr/>
          <p:nvPr/>
        </p:nvSpPr>
        <p:spPr>
          <a:xfrm>
            <a:off x="548640" y="4009644"/>
            <a:ext cx="11094415" cy="1026414"/>
          </a:xfrm>
          <a:prstGeom prst="roundRect">
            <a:avLst>
              <a:gd name="adj" fmla="val 10690"/>
            </a:avLst>
          </a:prstGeom>
          <a:solidFill>
            <a:schemeClr val="bg2"/>
          </a:solidFill>
          <a:ln/>
        </p:spPr>
      </p:sp>
      <p:sp>
        <p:nvSpPr>
          <p:cNvPr id="15" name="num-458"/>
          <p:cNvSpPr/>
          <p:nvPr/>
        </p:nvSpPr>
        <p:spPr>
          <a:xfrm>
            <a:off x="777240" y="4294251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-459"/>
          <p:cNvSpPr txBox="1"/>
          <p:nvPr/>
        </p:nvSpPr>
        <p:spPr>
          <a:xfrm>
            <a:off x="777240" y="42942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17" name="text-460"/>
          <p:cNvSpPr txBox="1"/>
          <p:nvPr/>
        </p:nvSpPr>
        <p:spPr>
          <a:xfrm>
            <a:off x="1463040" y="4009644"/>
            <a:ext cx="3749040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녹음을 시작할 때마다 관리자에게 메일이 가나요?</a:t>
            </a:r>
            <a:endParaRPr lang="en-US" sz="1500" dirty="0"/>
          </a:p>
        </p:txBody>
      </p:sp>
      <p:sp>
        <p:nvSpPr>
          <p:cNvPr id="18" name="text-461"/>
          <p:cNvSpPr txBox="1"/>
          <p:nvPr/>
        </p:nvSpPr>
        <p:spPr>
          <a:xfrm>
            <a:off x="5394960" y="4009644"/>
            <a:ext cx="6019495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네. 회의 시작 전에 참석자에게 녹음 동의를 받아 주세요. 그룹 녹음은 진행자와 참여자 모두의 기기에서 각각 발송됩니다.</a:t>
            </a:r>
            <a:endParaRPr lang="en-US" sz="1300" dirty="0"/>
          </a:p>
        </p:txBody>
      </p:sp>
      <p:sp>
        <p:nvSpPr>
          <p:cNvPr id="19" name="card-462"/>
          <p:cNvSpPr/>
          <p:nvPr/>
        </p:nvSpPr>
        <p:spPr>
          <a:xfrm>
            <a:off x="548640" y="5145786"/>
            <a:ext cx="11094415" cy="1026414"/>
          </a:xfrm>
          <a:prstGeom prst="roundRect">
            <a:avLst>
              <a:gd name="adj" fmla="val 10690"/>
            </a:avLst>
          </a:prstGeom>
          <a:solidFill>
            <a:schemeClr val="bg2"/>
          </a:solidFill>
          <a:ln/>
        </p:spPr>
      </p:sp>
      <p:sp>
        <p:nvSpPr>
          <p:cNvPr id="20" name="num-463"/>
          <p:cNvSpPr/>
          <p:nvPr/>
        </p:nvSpPr>
        <p:spPr>
          <a:xfrm>
            <a:off x="777240" y="5430393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-464"/>
          <p:cNvSpPr txBox="1"/>
          <p:nvPr/>
        </p:nvSpPr>
        <p:spPr>
          <a:xfrm>
            <a:off x="777240" y="543039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22" name="text-465"/>
          <p:cNvSpPr txBox="1"/>
          <p:nvPr/>
        </p:nvSpPr>
        <p:spPr>
          <a:xfrm>
            <a:off x="1463040" y="5145786"/>
            <a:ext cx="3749040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녹음 중 전화가 오면 어떻게 되나요?</a:t>
            </a:r>
            <a:endParaRPr lang="en-US" sz="1500" dirty="0"/>
          </a:p>
        </p:txBody>
      </p:sp>
      <p:sp>
        <p:nvSpPr>
          <p:cNvPr id="23" name="text-466"/>
          <p:cNvSpPr txBox="1"/>
          <p:nvPr/>
        </p:nvSpPr>
        <p:spPr>
          <a:xfrm>
            <a:off x="5394960" y="5145786"/>
            <a:ext cx="6019495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단독 녹음은 자동으로 일시정지되고, 통화가 끝나면 자동으로 다시 녹음됩니다(재개되지 않으면 녹음 버튼을 눌러 주세요). 그룹 녹음은 멈추지 않고 계속 녹음되며, 통화 중에는 해당 기기만 묵음으로 녹음됩니다.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자주 묻는 질문 · 그룹 녹음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조작 권한, 결과 화면, 회의록, 참여와 나가기</a:t>
            </a:r>
            <a:endParaRPr lang="en-US" sz="1600" dirty="0"/>
          </a:p>
        </p:txBody>
      </p:sp>
      <p:sp>
        <p:nvSpPr>
          <p:cNvPr id="4" name="card-467"/>
          <p:cNvSpPr/>
          <p:nvPr/>
        </p:nvSpPr>
        <p:spPr>
          <a:xfrm>
            <a:off x="548640" y="1737360"/>
            <a:ext cx="11094415" cy="799186"/>
          </a:xfrm>
          <a:prstGeom prst="roundRect">
            <a:avLst>
              <a:gd name="adj" fmla="val 13730"/>
            </a:avLst>
          </a:prstGeom>
          <a:solidFill>
            <a:schemeClr val="bg2"/>
          </a:solidFill>
          <a:ln/>
        </p:spPr>
      </p:sp>
      <p:sp>
        <p:nvSpPr>
          <p:cNvPr id="5" name="num-468"/>
          <p:cNvSpPr/>
          <p:nvPr/>
        </p:nvSpPr>
        <p:spPr>
          <a:xfrm>
            <a:off x="777240" y="1908353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469"/>
          <p:cNvSpPr txBox="1"/>
          <p:nvPr/>
        </p:nvSpPr>
        <p:spPr>
          <a:xfrm>
            <a:off x="777240" y="19083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7" name="text-470"/>
          <p:cNvSpPr txBox="1"/>
          <p:nvPr/>
        </p:nvSpPr>
        <p:spPr>
          <a:xfrm>
            <a:off x="1463040" y="1737360"/>
            <a:ext cx="374904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참여자가 녹음을 멈추거나 끝낼 수 있나요?</a:t>
            </a:r>
            <a:endParaRPr lang="en-US" sz="1500" dirty="0"/>
          </a:p>
        </p:txBody>
      </p:sp>
      <p:sp>
        <p:nvSpPr>
          <p:cNvPr id="8" name="text-471"/>
          <p:cNvSpPr txBox="1"/>
          <p:nvPr/>
        </p:nvSpPr>
        <p:spPr>
          <a:xfrm>
            <a:off x="5394960" y="1737360"/>
            <a:ext cx="6019495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아니요. 시작, 일시정지, 종료는 진행자만 할 수 있습니다. 참여자는 [취소] → [취소진행]으로 본인만 나갈 수 있으며, 이때 본인 녹음은 반영되지 않고 같은 그룹에 다시 참여할 수 없습니다.</a:t>
            </a:r>
            <a:endParaRPr lang="en-US" sz="1300" dirty="0"/>
          </a:p>
        </p:txBody>
      </p:sp>
      <p:sp>
        <p:nvSpPr>
          <p:cNvPr id="9" name="card-472"/>
          <p:cNvSpPr/>
          <p:nvPr/>
        </p:nvSpPr>
        <p:spPr>
          <a:xfrm>
            <a:off x="548640" y="2646274"/>
            <a:ext cx="11094415" cy="799186"/>
          </a:xfrm>
          <a:prstGeom prst="roundRect">
            <a:avLst>
              <a:gd name="adj" fmla="val 13730"/>
            </a:avLst>
          </a:prstGeom>
          <a:solidFill>
            <a:schemeClr val="bg2"/>
          </a:solidFill>
          <a:ln/>
        </p:spPr>
      </p:sp>
      <p:sp>
        <p:nvSpPr>
          <p:cNvPr id="10" name="num-473"/>
          <p:cNvSpPr/>
          <p:nvPr/>
        </p:nvSpPr>
        <p:spPr>
          <a:xfrm>
            <a:off x="777240" y="281726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-474"/>
          <p:cNvSpPr txBox="1"/>
          <p:nvPr/>
        </p:nvSpPr>
        <p:spPr>
          <a:xfrm>
            <a:off x="777240" y="28172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12" name="text-475"/>
          <p:cNvSpPr txBox="1"/>
          <p:nvPr/>
        </p:nvSpPr>
        <p:spPr>
          <a:xfrm>
            <a:off x="1463040" y="2646274"/>
            <a:ext cx="374904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녹음이 끝난 뒤 결과 화면에서 기다려야 하나요?</a:t>
            </a:r>
            <a:endParaRPr lang="en-US" sz="1500" dirty="0"/>
          </a:p>
        </p:txBody>
      </p:sp>
      <p:sp>
        <p:nvSpPr>
          <p:cNvPr id="13" name="text-476"/>
          <p:cNvSpPr txBox="1"/>
          <p:nvPr/>
        </p:nvSpPr>
        <p:spPr>
          <a:xfrm>
            <a:off x="5394960" y="2646274"/>
            <a:ext cx="6019495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아니요. [홈 화면 이동]을 누르면 홈으로 이동하고, 업로드와 회의록 생성은 백그라운드에서 계속됩니다.</a:t>
            </a:r>
            <a:endParaRPr lang="en-US" sz="1300" dirty="0"/>
          </a:p>
        </p:txBody>
      </p:sp>
      <p:sp>
        <p:nvSpPr>
          <p:cNvPr id="14" name="card-477"/>
          <p:cNvSpPr/>
          <p:nvPr/>
        </p:nvSpPr>
        <p:spPr>
          <a:xfrm>
            <a:off x="548640" y="3555187"/>
            <a:ext cx="11094415" cy="799186"/>
          </a:xfrm>
          <a:prstGeom prst="roundRect">
            <a:avLst>
              <a:gd name="adj" fmla="val 13730"/>
            </a:avLst>
          </a:prstGeom>
          <a:solidFill>
            <a:schemeClr val="bg2"/>
          </a:solidFill>
          <a:ln/>
        </p:spPr>
      </p:sp>
      <p:sp>
        <p:nvSpPr>
          <p:cNvPr id="15" name="num-478"/>
          <p:cNvSpPr/>
          <p:nvPr/>
        </p:nvSpPr>
        <p:spPr>
          <a:xfrm>
            <a:off x="777240" y="37261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-479"/>
          <p:cNvSpPr txBox="1"/>
          <p:nvPr/>
        </p:nvSpPr>
        <p:spPr>
          <a:xfrm>
            <a:off x="777240" y="3726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17" name="text-480"/>
          <p:cNvSpPr txBox="1"/>
          <p:nvPr/>
        </p:nvSpPr>
        <p:spPr>
          <a:xfrm>
            <a:off x="1463040" y="3555187"/>
            <a:ext cx="374904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그룹 녹음 회의록은 누가 받나요?</a:t>
            </a:r>
            <a:endParaRPr lang="en-US" sz="1500" dirty="0"/>
          </a:p>
        </p:txBody>
      </p:sp>
      <p:sp>
        <p:nvSpPr>
          <p:cNvPr id="18" name="text-481"/>
          <p:cNvSpPr txBox="1"/>
          <p:nvPr/>
        </p:nvSpPr>
        <p:spPr>
          <a:xfrm>
            <a:off x="5394960" y="3555187"/>
            <a:ext cx="6019495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모든 참여자의 음성을 합친 하나의 회의록이 진행자와 참여자 모두에게 각자의 회의록으로 생성됩니다. 요약 템플릿과 제목은 진행자가 고른 설정이 똑같이 적용됩니다.</a:t>
            </a:r>
            <a:endParaRPr lang="en-US" sz="1300" dirty="0"/>
          </a:p>
        </p:txBody>
      </p:sp>
      <p:sp>
        <p:nvSpPr>
          <p:cNvPr id="19" name="card-482"/>
          <p:cNvSpPr/>
          <p:nvPr/>
        </p:nvSpPr>
        <p:spPr>
          <a:xfrm>
            <a:off x="548640" y="4464101"/>
            <a:ext cx="11094415" cy="799186"/>
          </a:xfrm>
          <a:prstGeom prst="roundRect">
            <a:avLst>
              <a:gd name="adj" fmla="val 13730"/>
            </a:avLst>
          </a:prstGeom>
          <a:solidFill>
            <a:schemeClr val="bg2"/>
          </a:solidFill>
          <a:ln/>
        </p:spPr>
      </p:sp>
      <p:sp>
        <p:nvSpPr>
          <p:cNvPr id="20" name="num-483"/>
          <p:cNvSpPr/>
          <p:nvPr/>
        </p:nvSpPr>
        <p:spPr>
          <a:xfrm>
            <a:off x="777240" y="463509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-484"/>
          <p:cNvSpPr txBox="1"/>
          <p:nvPr/>
        </p:nvSpPr>
        <p:spPr>
          <a:xfrm>
            <a:off x="777240" y="46350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22" name="text-485"/>
          <p:cNvSpPr txBox="1"/>
          <p:nvPr/>
        </p:nvSpPr>
        <p:spPr>
          <a:xfrm>
            <a:off x="1463040" y="4464101"/>
            <a:ext cx="374904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녹음이 시작된 그룹에 늦게 참여할 수 있나요?</a:t>
            </a:r>
            <a:endParaRPr lang="en-US" sz="1500" dirty="0"/>
          </a:p>
        </p:txBody>
      </p:sp>
      <p:sp>
        <p:nvSpPr>
          <p:cNvPr id="23" name="text-486"/>
          <p:cNvSpPr txBox="1"/>
          <p:nvPr/>
        </p:nvSpPr>
        <p:spPr>
          <a:xfrm>
            <a:off x="5394960" y="4464101"/>
            <a:ext cx="6019495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아니요. 녹음이 시작된 뒤에는 참여할 수 없습니다.</a:t>
            </a:r>
            <a:endParaRPr lang="en-US" sz="1300" dirty="0"/>
          </a:p>
        </p:txBody>
      </p:sp>
      <p:sp>
        <p:nvSpPr>
          <p:cNvPr id="24" name="card-487"/>
          <p:cNvSpPr/>
          <p:nvPr/>
        </p:nvSpPr>
        <p:spPr>
          <a:xfrm>
            <a:off x="548640" y="5373014"/>
            <a:ext cx="11094415" cy="799186"/>
          </a:xfrm>
          <a:prstGeom prst="roundRect">
            <a:avLst>
              <a:gd name="adj" fmla="val 13730"/>
            </a:avLst>
          </a:prstGeom>
          <a:solidFill>
            <a:schemeClr val="bg2"/>
          </a:solidFill>
          <a:ln/>
        </p:spPr>
      </p:sp>
      <p:sp>
        <p:nvSpPr>
          <p:cNvPr id="25" name="num-488"/>
          <p:cNvSpPr/>
          <p:nvPr/>
        </p:nvSpPr>
        <p:spPr>
          <a:xfrm>
            <a:off x="777240" y="5544007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-489"/>
          <p:cNvSpPr txBox="1"/>
          <p:nvPr/>
        </p:nvSpPr>
        <p:spPr>
          <a:xfrm>
            <a:off x="777240" y="554400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27" name="text-490"/>
          <p:cNvSpPr txBox="1"/>
          <p:nvPr/>
        </p:nvSpPr>
        <p:spPr>
          <a:xfrm>
            <a:off x="1463040" y="5373014"/>
            <a:ext cx="374904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진행자가 실수로 나가면 어떻게 되나요?</a:t>
            </a:r>
            <a:endParaRPr lang="en-US" sz="1500" dirty="0"/>
          </a:p>
        </p:txBody>
      </p:sp>
      <p:sp>
        <p:nvSpPr>
          <p:cNvPr id="28" name="text-491"/>
          <p:cNvSpPr txBox="1"/>
          <p:nvPr/>
        </p:nvSpPr>
        <p:spPr>
          <a:xfrm>
            <a:off x="5394960" y="5373014"/>
            <a:ext cx="6019495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그룹 녹음 전체가 취소되고 모든 참여자의 녹음이 저장되지 않습니다. 진행자는 녹음이 끝날 때까지 화면을 나가지 않도록 주의해 주세요.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회의록은 PC에서 확인하세요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녹음은 모바일 앱  ·  알림은 앱 알림함  ·  회의록은 PC 웹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806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AI회의록 시스템   aimeeting.skhynix.com</a:t>
            </a:r>
            <a:endParaRPr lang="en-US" sz="1200" dirty="0"/>
          </a:p>
        </p:txBody>
      </p:sp>
      <p:sp>
        <p:nvSpPr>
          <p:cNvPr id="5" name="wave-492"/>
          <p:cNvSpPr/>
          <p:nvPr/>
        </p:nvSpPr>
        <p:spPr>
          <a:xfrm>
            <a:off x="7818120" y="3246120"/>
            <a:ext cx="109728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wave-493"/>
          <p:cNvSpPr/>
          <p:nvPr/>
        </p:nvSpPr>
        <p:spPr>
          <a:xfrm>
            <a:off x="8037576" y="3086100"/>
            <a:ext cx="109728" cy="685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wave-494"/>
          <p:cNvSpPr/>
          <p:nvPr/>
        </p:nvSpPr>
        <p:spPr>
          <a:xfrm>
            <a:off x="8257032" y="2880360"/>
            <a:ext cx="109728" cy="10972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wave-495"/>
          <p:cNvSpPr/>
          <p:nvPr/>
        </p:nvSpPr>
        <p:spPr>
          <a:xfrm>
            <a:off x="8476488" y="3017520"/>
            <a:ext cx="109728" cy="8229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9" name="wave-496"/>
          <p:cNvSpPr/>
          <p:nvPr/>
        </p:nvSpPr>
        <p:spPr>
          <a:xfrm>
            <a:off x="8695944" y="2674620"/>
            <a:ext cx="109728" cy="1508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wave-497"/>
          <p:cNvSpPr/>
          <p:nvPr/>
        </p:nvSpPr>
        <p:spPr>
          <a:xfrm>
            <a:off x="8915400" y="2377440"/>
            <a:ext cx="109728" cy="21031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wave-498"/>
          <p:cNvSpPr/>
          <p:nvPr/>
        </p:nvSpPr>
        <p:spPr>
          <a:xfrm>
            <a:off x="9134856" y="2766060"/>
            <a:ext cx="109728" cy="1325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wave-499"/>
          <p:cNvSpPr/>
          <p:nvPr/>
        </p:nvSpPr>
        <p:spPr>
          <a:xfrm>
            <a:off x="9354312" y="2994660"/>
            <a:ext cx="109728" cy="86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wave-500"/>
          <p:cNvSpPr/>
          <p:nvPr/>
        </p:nvSpPr>
        <p:spPr>
          <a:xfrm>
            <a:off x="9573768" y="2514600"/>
            <a:ext cx="109728" cy="1828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wave-501"/>
          <p:cNvSpPr/>
          <p:nvPr/>
        </p:nvSpPr>
        <p:spPr>
          <a:xfrm>
            <a:off x="9793224" y="2217420"/>
            <a:ext cx="109728" cy="24231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5" name="wave-502"/>
          <p:cNvSpPr/>
          <p:nvPr/>
        </p:nvSpPr>
        <p:spPr>
          <a:xfrm>
            <a:off x="10012680" y="2606040"/>
            <a:ext cx="109728" cy="16459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wave-503"/>
          <p:cNvSpPr/>
          <p:nvPr/>
        </p:nvSpPr>
        <p:spPr>
          <a:xfrm>
            <a:off x="10232136" y="2880360"/>
            <a:ext cx="109728" cy="10972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wave-504"/>
          <p:cNvSpPr/>
          <p:nvPr/>
        </p:nvSpPr>
        <p:spPr>
          <a:xfrm>
            <a:off x="10451592" y="2423160"/>
            <a:ext cx="109728" cy="20116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8" name="wave-505"/>
          <p:cNvSpPr/>
          <p:nvPr/>
        </p:nvSpPr>
        <p:spPr>
          <a:xfrm>
            <a:off x="10671048" y="2743200"/>
            <a:ext cx="109728" cy="137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wave-506"/>
          <p:cNvSpPr/>
          <p:nvPr/>
        </p:nvSpPr>
        <p:spPr>
          <a:xfrm>
            <a:off x="10890504" y="2994660"/>
            <a:ext cx="109728" cy="86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wave-507"/>
          <p:cNvSpPr/>
          <p:nvPr/>
        </p:nvSpPr>
        <p:spPr>
          <a:xfrm>
            <a:off x="11109960" y="2834640"/>
            <a:ext cx="109728" cy="11887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1" name="wave-508"/>
          <p:cNvSpPr/>
          <p:nvPr/>
        </p:nvSpPr>
        <p:spPr>
          <a:xfrm>
            <a:off x="11329416" y="3086100"/>
            <a:ext cx="109728" cy="685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wave-509"/>
          <p:cNvSpPr/>
          <p:nvPr/>
        </p:nvSpPr>
        <p:spPr>
          <a:xfrm>
            <a:off x="11548872" y="3246120"/>
            <a:ext cx="109728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Timbel AI Meeting">
  <a:themeElements>
    <a:clrScheme name="Timbel AI Meeting">
      <a:dk1>
        <a:srgbClr val="14213D"/>
      </a:dk1>
      <a:lt1>
        <a:srgbClr val="FFFFFF"/>
      </a:lt1>
      <a:dk2>
        <a:srgbClr val="475569"/>
      </a:dk2>
      <a:lt2>
        <a:srgbClr val="F1F5F9"/>
      </a:lt2>
      <a:accent1>
        <a:srgbClr val="2563EB"/>
      </a:accent1>
      <a:accent2>
        <a:srgbClr val="DBEAFE"/>
      </a:accent2>
      <a:accent3>
        <a:srgbClr val="94A3B8"/>
      </a:accent3>
      <a:accent4>
        <a:srgbClr val="D9480F"/>
      </a:accent4>
      <a:accent5>
        <a:srgbClr val="0F766E"/>
      </a:accent5>
      <a:accent6>
        <a:srgbClr val="FFEDD5"/>
      </a:accent6>
      <a:hlink>
        <a:srgbClr val="2563EB"/>
      </a:hlink>
      <a:folHlink>
        <a:srgbClr val="2563EB"/>
      </a:folHlink>
    </a:clrScheme>
    <a:fontScheme name="Timbel AI Meeting">
      <a:majorFont>
        <a:latin typeface="Malgun Gothic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Timbel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회의록 녹음 기능 안내서</dc:title>
  <dc:subject>PptxGenJS Presentation</dc:subject>
  <dc:creator>Timbel</dc:creator>
  <cp:lastModifiedBy>Timbel</cp:lastModifiedBy>
  <cp:revision>1</cp:revision>
  <dcterms:created xsi:type="dcterms:W3CDTF">2026-10-29T10:21:21Z</dcterms:created>
  <dcterms:modified xsi:type="dcterms:W3CDTF">2026-10-29T10:21:21Z</dcterms:modified>
</cp:coreProperties>
</file>