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안" id="{d730f1e7-19c5-3657-4d58-68669e8fae7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309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제목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309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부제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760720"/>
            <a:ext cx="6309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작성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제목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부제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Timbel  ·  회의 녹음 방식 사용 제안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회의 녹음,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언제 그룹녹음을 쓰나요?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회의실 크기별 녹음 방식과 휴대폰 수 안내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7607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Timbel   |   2026-10-29   |   권장 사용 방법 제안</a:t>
            </a:r>
            <a:endParaRPr lang="en-US" sz="1200" dirty="0"/>
          </a:p>
        </p:txBody>
      </p:sp>
      <p:sp>
        <p:nvSpPr>
          <p:cNvPr id="5" name="chip-1"/>
          <p:cNvSpPr/>
          <p:nvPr/>
        </p:nvSpPr>
        <p:spPr>
          <a:xfrm>
            <a:off x="7406640" y="1417320"/>
            <a:ext cx="11430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2"/>
          <p:cNvSpPr txBox="1"/>
          <p:nvPr/>
        </p:nvSpPr>
        <p:spPr>
          <a:xfrm>
            <a:off x="7406640" y="1417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일반녹음</a:t>
            </a:r>
            <a:endParaRPr lang="en-US" sz="1100" dirty="0"/>
          </a:p>
        </p:txBody>
      </p:sp>
      <p:sp>
        <p:nvSpPr>
          <p:cNvPr id="7" name="t-3"/>
          <p:cNvSpPr/>
          <p:nvPr/>
        </p:nvSpPr>
        <p:spPr>
          <a:xfrm>
            <a:off x="7406640" y="1874520"/>
            <a:ext cx="2377440" cy="1005840"/>
          </a:xfrm>
          <a:prstGeom prst="roundRect">
            <a:avLst>
              <a:gd name="adj" fmla="val 12727"/>
            </a:avLst>
          </a:prstGeom>
          <a:solidFill>
            <a:srgbClr val="22325A"/>
          </a:solidFill>
          <a:ln/>
        </p:spPr>
      </p:sp>
      <p:sp>
        <p:nvSpPr>
          <p:cNvPr id="8" name="iconbg-4"/>
          <p:cNvSpPr/>
          <p:nvPr/>
        </p:nvSpPr>
        <p:spPr>
          <a:xfrm>
            <a:off x="8293608" y="20756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4484" y="2226564"/>
            <a:ext cx="301752" cy="301752"/>
          </a:xfrm>
          <a:prstGeom prst="rect">
            <a:avLst/>
          </a:prstGeom>
        </p:spPr>
      </p:pic>
      <p:sp>
        <p:nvSpPr>
          <p:cNvPr id="10" name="text-6"/>
          <p:cNvSpPr txBox="1"/>
          <p:nvPr/>
        </p:nvSpPr>
        <p:spPr>
          <a:xfrm>
            <a:off x="992124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전용 마이크 우선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또는 휴대폰 1대</a:t>
            </a:r>
            <a:endParaRPr lang="en-US" sz="1400" dirty="0"/>
          </a:p>
        </p:txBody>
      </p:sp>
      <p:sp>
        <p:nvSpPr>
          <p:cNvPr id="11" name="chip-7"/>
          <p:cNvSpPr/>
          <p:nvPr/>
        </p:nvSpPr>
        <p:spPr>
          <a:xfrm>
            <a:off x="7406640" y="3429000"/>
            <a:ext cx="114300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2" name="text-8"/>
          <p:cNvSpPr txBox="1"/>
          <p:nvPr/>
        </p:nvSpPr>
        <p:spPr>
          <a:xfrm>
            <a:off x="7406640" y="34290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그룹녹음</a:t>
            </a:r>
            <a:endParaRPr lang="en-US" sz="1100" dirty="0"/>
          </a:p>
        </p:txBody>
      </p:sp>
      <p:sp>
        <p:nvSpPr>
          <p:cNvPr id="13" name="t-9"/>
          <p:cNvSpPr/>
          <p:nvPr/>
        </p:nvSpPr>
        <p:spPr>
          <a:xfrm>
            <a:off x="7406640" y="3886200"/>
            <a:ext cx="4206240" cy="1005840"/>
          </a:xfrm>
          <a:prstGeom prst="roundRect">
            <a:avLst>
              <a:gd name="adj" fmla="val 12727"/>
            </a:avLst>
          </a:prstGeom>
          <a:solidFill>
            <a:srgbClr val="22325A"/>
          </a:solidFill>
          <a:ln/>
        </p:spPr>
      </p:sp>
      <p:sp>
        <p:nvSpPr>
          <p:cNvPr id="14" name="iconbg-10"/>
          <p:cNvSpPr/>
          <p:nvPr/>
        </p:nvSpPr>
        <p:spPr>
          <a:xfrm>
            <a:off x="7637069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29" y="4251960"/>
            <a:ext cx="274320" cy="274320"/>
          </a:xfrm>
          <a:prstGeom prst="rect">
            <a:avLst/>
          </a:prstGeom>
        </p:spPr>
      </p:pic>
      <p:sp>
        <p:nvSpPr>
          <p:cNvPr id="16" name="iconbg-12"/>
          <p:cNvSpPr/>
          <p:nvPr/>
        </p:nvSpPr>
        <p:spPr>
          <a:xfrm>
            <a:off x="9235440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4251960"/>
            <a:ext cx="274320" cy="274320"/>
          </a:xfrm>
          <a:prstGeom prst="rect">
            <a:avLst/>
          </a:prstGeom>
        </p:spPr>
      </p:pic>
      <p:sp>
        <p:nvSpPr>
          <p:cNvPr id="18" name="iconbg-14"/>
          <p:cNvSpPr/>
          <p:nvPr/>
        </p:nvSpPr>
        <p:spPr>
          <a:xfrm>
            <a:off x="10833811" y="41148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icon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971" y="4251960"/>
            <a:ext cx="274320" cy="274320"/>
          </a:xfrm>
          <a:prstGeom prst="rect">
            <a:avLst/>
          </a:prstGeom>
        </p:spPr>
      </p:pic>
      <p:sp>
        <p:nvSpPr>
          <p:cNvPr id="20" name="text-16"/>
          <p:cNvSpPr txBox="1"/>
          <p:nvPr/>
        </p:nvSpPr>
        <p:spPr>
          <a:xfrm>
            <a:off x="740664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휴대폰 여러 대 (2m 이상 간격)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두 가지 녹음 방식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방식은 두 가지이고, 장단점이 다릅니다</a:t>
            </a:r>
            <a:endParaRPr lang="en-US" sz="1600" dirty="0"/>
          </a:p>
        </p:txBody>
      </p:sp>
      <p:sp>
        <p:nvSpPr>
          <p:cNvPr id="4" name="card-17"/>
          <p:cNvSpPr/>
          <p:nvPr/>
        </p:nvSpPr>
        <p:spPr>
          <a:xfrm>
            <a:off x="548640" y="1783080"/>
            <a:ext cx="5410048" cy="4389120"/>
          </a:xfrm>
          <a:prstGeom prst="roundRect">
            <a:avLst>
              <a:gd name="adj" fmla="val 2500"/>
            </a:avLst>
          </a:prstGeom>
          <a:solidFill>
            <a:schemeClr val="accent2"/>
          </a:solidFill>
          <a:ln/>
        </p:spPr>
      </p:sp>
      <p:sp>
        <p:nvSpPr>
          <p:cNvPr id="5" name="chip-18"/>
          <p:cNvSpPr/>
          <p:nvPr/>
        </p:nvSpPr>
        <p:spPr>
          <a:xfrm>
            <a:off x="868680" y="2057400"/>
            <a:ext cx="15544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-19"/>
          <p:cNvSpPr txBox="1"/>
          <p:nvPr/>
        </p:nvSpPr>
        <p:spPr>
          <a:xfrm>
            <a:off x="868680" y="2057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전용 마이크 우선</a:t>
            </a:r>
            <a:endParaRPr lang="en-US" sz="1100" dirty="0"/>
          </a:p>
        </p:txBody>
      </p:sp>
      <p:sp>
        <p:nvSpPr>
          <p:cNvPr id="7" name="chip-20"/>
          <p:cNvSpPr/>
          <p:nvPr/>
        </p:nvSpPr>
        <p:spPr>
          <a:xfrm>
            <a:off x="2560320" y="2057400"/>
            <a:ext cx="173736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-21"/>
          <p:cNvSpPr txBox="1"/>
          <p:nvPr/>
        </p:nvSpPr>
        <p:spPr>
          <a:xfrm>
            <a:off x="2560320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휴대폰 1대(앱)도 가능</a:t>
            </a:r>
            <a:endParaRPr lang="en-US" sz="1100" dirty="0"/>
          </a:p>
        </p:txBody>
      </p:sp>
      <p:sp>
        <p:nvSpPr>
          <p:cNvPr id="9" name="text-22"/>
          <p:cNvSpPr txBox="1"/>
          <p:nvPr/>
        </p:nvSpPr>
        <p:spPr>
          <a:xfrm>
            <a:off x="868680" y="2441448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일반녹음</a:t>
            </a:r>
            <a:endParaRPr lang="en-US" sz="2400" dirty="0"/>
          </a:p>
        </p:txBody>
      </p:sp>
      <p:sp>
        <p:nvSpPr>
          <p:cNvPr id="10" name="card-23"/>
          <p:cNvSpPr/>
          <p:nvPr/>
        </p:nvSpPr>
        <p:spPr>
          <a:xfrm>
            <a:off x="868680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11" name="icon-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273552"/>
            <a:ext cx="457200" cy="457200"/>
          </a:xfrm>
          <a:prstGeom prst="rect">
            <a:avLst/>
          </a:prstGeom>
        </p:spPr>
      </p:pic>
      <p:sp>
        <p:nvSpPr>
          <p:cNvPr id="12" name="text-25"/>
          <p:cNvSpPr txBox="1"/>
          <p:nvPr/>
        </p:nvSpPr>
        <p:spPr>
          <a:xfrm>
            <a:off x="941832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전용 마이크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(또는 휴대폰 1대)</a:t>
            </a:r>
            <a:endParaRPr lang="en-US" sz="1200" dirty="0"/>
          </a:p>
        </p:txBody>
      </p:sp>
      <p:sp>
        <p:nvSpPr>
          <p:cNvPr id="13" name="arrow-26"/>
          <p:cNvSpPr/>
          <p:nvPr/>
        </p:nvSpPr>
        <p:spPr>
          <a:xfrm>
            <a:off x="2295144" y="3721608"/>
            <a:ext cx="21785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card-27"/>
          <p:cNvSpPr/>
          <p:nvPr/>
        </p:nvSpPr>
        <p:spPr>
          <a:xfrm>
            <a:off x="2567864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15" name="icon-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064" y="3273552"/>
            <a:ext cx="457200" cy="457200"/>
          </a:xfrm>
          <a:prstGeom prst="rect">
            <a:avLst/>
          </a:prstGeom>
        </p:spPr>
      </p:pic>
      <p:sp>
        <p:nvSpPr>
          <p:cNvPr id="16" name="text-29"/>
          <p:cNvSpPr txBox="1"/>
          <p:nvPr/>
        </p:nvSpPr>
        <p:spPr>
          <a:xfrm>
            <a:off x="2641016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녹음 파일 1개</a:t>
            </a:r>
            <a:endParaRPr lang="en-US" sz="1200" dirty="0"/>
          </a:p>
        </p:txBody>
      </p:sp>
      <p:sp>
        <p:nvSpPr>
          <p:cNvPr id="17" name="arrow-30"/>
          <p:cNvSpPr/>
          <p:nvPr/>
        </p:nvSpPr>
        <p:spPr>
          <a:xfrm>
            <a:off x="3994328" y="3721608"/>
            <a:ext cx="21785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card-31"/>
          <p:cNvSpPr/>
          <p:nvPr/>
        </p:nvSpPr>
        <p:spPr>
          <a:xfrm>
            <a:off x="4267048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19" name="icon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8" y="3273552"/>
            <a:ext cx="457200" cy="457200"/>
          </a:xfrm>
          <a:prstGeom prst="rect">
            <a:avLst/>
          </a:prstGeom>
        </p:spPr>
      </p:pic>
      <p:sp>
        <p:nvSpPr>
          <p:cNvPr id="20" name="text-33"/>
          <p:cNvSpPr txBox="1"/>
          <p:nvPr/>
        </p:nvSpPr>
        <p:spPr>
          <a:xfrm>
            <a:off x="4340200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회의록</a:t>
            </a:r>
            <a:endParaRPr lang="en-US" sz="1200" dirty="0"/>
          </a:p>
        </p:txBody>
      </p:sp>
      <p:sp>
        <p:nvSpPr>
          <p:cNvPr id="21" name="text-34"/>
          <p:cNvSpPr txBox="1"/>
          <p:nvPr/>
        </p:nvSpPr>
        <p:spPr>
          <a:xfrm>
            <a:off x="868680" y="452628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강점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단순하고 안정적입니다. 소리가 겹치지 않습니다.</a:t>
            </a:r>
            <a:endParaRPr lang="en-US" sz="1400" dirty="0"/>
          </a:p>
        </p:txBody>
      </p:sp>
      <p:sp>
        <p:nvSpPr>
          <p:cNvPr id="22" name="text-35"/>
          <p:cNvSpPr txBox="1"/>
          <p:nvPr/>
        </p:nvSpPr>
        <p:spPr>
          <a:xfrm>
            <a:off x="868680" y="530352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약점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마이크에서 먼 사람은 소리가 작게 들어갈 수 있습니다.</a:t>
            </a:r>
            <a:endParaRPr lang="en-US" sz="1400" dirty="0"/>
          </a:p>
        </p:txBody>
      </p:sp>
      <p:sp>
        <p:nvSpPr>
          <p:cNvPr id="23" name="card-36"/>
          <p:cNvSpPr/>
          <p:nvPr/>
        </p:nvSpPr>
        <p:spPr>
          <a:xfrm>
            <a:off x="6233008" y="1783080"/>
            <a:ext cx="5410048" cy="4389120"/>
          </a:xfrm>
          <a:prstGeom prst="roundRect">
            <a:avLst>
              <a:gd name="adj" fmla="val 2500"/>
            </a:avLst>
          </a:prstGeom>
          <a:solidFill>
            <a:schemeClr val="accent6"/>
          </a:solidFill>
          <a:ln/>
        </p:spPr>
      </p:sp>
      <p:sp>
        <p:nvSpPr>
          <p:cNvPr id="24" name="chip-37"/>
          <p:cNvSpPr/>
          <p:nvPr/>
        </p:nvSpPr>
        <p:spPr>
          <a:xfrm>
            <a:off x="6553048" y="2057400"/>
            <a:ext cx="155448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5" name="text-38"/>
          <p:cNvSpPr txBox="1"/>
          <p:nvPr/>
        </p:nvSpPr>
        <p:spPr>
          <a:xfrm>
            <a:off x="6553048" y="2057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휴대폰 여러 대</a:t>
            </a:r>
            <a:endParaRPr lang="en-US" sz="1100" dirty="0"/>
          </a:p>
        </p:txBody>
      </p:sp>
      <p:sp>
        <p:nvSpPr>
          <p:cNvPr id="26" name="chip-39"/>
          <p:cNvSpPr/>
          <p:nvPr/>
        </p:nvSpPr>
        <p:spPr>
          <a:xfrm>
            <a:off x="8244688" y="2057400"/>
            <a:ext cx="173736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text-40"/>
          <p:cNvSpPr txBox="1"/>
          <p:nvPr/>
        </p:nvSpPr>
        <p:spPr>
          <a:xfrm>
            <a:off x="8244688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최대 5대 · 최대 1시간</a:t>
            </a:r>
            <a:endParaRPr lang="en-US" sz="1100" dirty="0"/>
          </a:p>
        </p:txBody>
      </p:sp>
      <p:sp>
        <p:nvSpPr>
          <p:cNvPr id="28" name="text-41"/>
          <p:cNvSpPr txBox="1"/>
          <p:nvPr/>
        </p:nvSpPr>
        <p:spPr>
          <a:xfrm>
            <a:off x="6553048" y="2441448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그룹녹음</a:t>
            </a:r>
            <a:endParaRPr lang="en-US" sz="2400" dirty="0"/>
          </a:p>
        </p:txBody>
      </p:sp>
      <p:sp>
        <p:nvSpPr>
          <p:cNvPr id="29" name="card-42"/>
          <p:cNvSpPr/>
          <p:nvPr/>
        </p:nvSpPr>
        <p:spPr>
          <a:xfrm>
            <a:off x="6553048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30" name="icon-4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48" y="3273552"/>
            <a:ext cx="457200" cy="457200"/>
          </a:xfrm>
          <a:prstGeom prst="rect">
            <a:avLst/>
          </a:prstGeom>
        </p:spPr>
      </p:pic>
      <p:sp>
        <p:nvSpPr>
          <p:cNvPr id="31" name="text-44"/>
          <p:cNvSpPr txBox="1"/>
          <p:nvPr/>
        </p:nvSpPr>
        <p:spPr>
          <a:xfrm>
            <a:off x="6626200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휴대폰 여러 대</a:t>
            </a:r>
            <a:endParaRPr lang="en-US" sz="1200" dirty="0"/>
          </a:p>
        </p:txBody>
      </p:sp>
      <p:sp>
        <p:nvSpPr>
          <p:cNvPr id="32" name="arrow-45"/>
          <p:cNvSpPr/>
          <p:nvPr/>
        </p:nvSpPr>
        <p:spPr>
          <a:xfrm>
            <a:off x="7979512" y="3721608"/>
            <a:ext cx="21785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card-46"/>
          <p:cNvSpPr/>
          <p:nvPr/>
        </p:nvSpPr>
        <p:spPr>
          <a:xfrm>
            <a:off x="8252231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34" name="icon-4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431" y="3273552"/>
            <a:ext cx="457200" cy="457200"/>
          </a:xfrm>
          <a:prstGeom prst="rect">
            <a:avLst/>
          </a:prstGeom>
        </p:spPr>
      </p:pic>
      <p:sp>
        <p:nvSpPr>
          <p:cNvPr id="35" name="text-48"/>
          <p:cNvSpPr txBox="1"/>
          <p:nvPr/>
        </p:nvSpPr>
        <p:spPr>
          <a:xfrm>
            <a:off x="8325383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서버에서 하나로 합치기</a:t>
            </a:r>
            <a:endParaRPr lang="en-US" sz="1200" dirty="0"/>
          </a:p>
        </p:txBody>
      </p:sp>
      <p:sp>
        <p:nvSpPr>
          <p:cNvPr id="36" name="arrow-49"/>
          <p:cNvSpPr/>
          <p:nvPr/>
        </p:nvSpPr>
        <p:spPr>
          <a:xfrm>
            <a:off x="9678695" y="3721608"/>
            <a:ext cx="21785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card-50"/>
          <p:cNvSpPr/>
          <p:nvPr/>
        </p:nvSpPr>
        <p:spPr>
          <a:xfrm>
            <a:off x="9951415" y="3108960"/>
            <a:ext cx="137160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pic>
        <p:nvPicPr>
          <p:cNvPr id="38" name="icon-5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8615" y="3273552"/>
            <a:ext cx="457200" cy="457200"/>
          </a:xfrm>
          <a:prstGeom prst="rect">
            <a:avLst/>
          </a:prstGeom>
        </p:spPr>
      </p:pic>
      <p:sp>
        <p:nvSpPr>
          <p:cNvPr id="39" name="text-52"/>
          <p:cNvSpPr txBox="1"/>
          <p:nvPr/>
        </p:nvSpPr>
        <p:spPr>
          <a:xfrm>
            <a:off x="10024567" y="37947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회의록</a:t>
            </a:r>
            <a:endParaRPr lang="en-US" sz="1200" dirty="0"/>
          </a:p>
        </p:txBody>
      </p:sp>
      <p:sp>
        <p:nvSpPr>
          <p:cNvPr id="40" name="text-53"/>
          <p:cNvSpPr txBox="1"/>
          <p:nvPr/>
        </p:nvSpPr>
        <p:spPr>
          <a:xfrm>
            <a:off x="6553048" y="452628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강점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서로 떨어진 사람들의 목소리를 각자 가까이에서 받을 수 있습니다.</a:t>
            </a:r>
            <a:endParaRPr lang="en-US" sz="1400" dirty="0"/>
          </a:p>
        </p:txBody>
      </p:sp>
      <p:sp>
        <p:nvSpPr>
          <p:cNvPr id="41" name="text-54"/>
          <p:cNvSpPr txBox="1"/>
          <p:nvPr/>
        </p:nvSpPr>
        <p:spPr>
          <a:xfrm>
            <a:off x="6553048" y="530352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약점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폰끼리 가까우면 같은 목소리가 여러 번 겹쳐 울립니다.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서버 보정으로 다 해결되지 않는 이유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서버는 울림을 줄여 줄 뿐, 녹음 환경이 맞지 않으면 없애지 못합니다</a:t>
            </a:r>
            <a:endParaRPr lang="en-US" sz="1600" dirty="0"/>
          </a:p>
        </p:txBody>
      </p:sp>
      <p:sp>
        <p:nvSpPr>
          <p:cNvPr id="4" name="text-55"/>
          <p:cNvSpPr txBox="1"/>
          <p:nvPr/>
        </p:nvSpPr>
        <p:spPr>
          <a:xfrm>
            <a:off x="5486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서버가 하는 일</a:t>
            </a:r>
            <a:endParaRPr lang="en-US" sz="1300" dirty="0"/>
          </a:p>
        </p:txBody>
      </p:sp>
      <p:sp>
        <p:nvSpPr>
          <p:cNvPr id="5" name="card-56"/>
          <p:cNvSpPr/>
          <p:nvPr/>
        </p:nvSpPr>
        <p:spPr>
          <a:xfrm>
            <a:off x="548640" y="2103120"/>
            <a:ext cx="6903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card-57"/>
          <p:cNvSpPr/>
          <p:nvPr/>
        </p:nvSpPr>
        <p:spPr>
          <a:xfrm>
            <a:off x="548640" y="3127248"/>
            <a:ext cx="6903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card-58"/>
          <p:cNvSpPr/>
          <p:nvPr/>
        </p:nvSpPr>
        <p:spPr>
          <a:xfrm>
            <a:off x="548640" y="4151376"/>
            <a:ext cx="69037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iconbg-59"/>
          <p:cNvSpPr/>
          <p:nvPr/>
        </p:nvSpPr>
        <p:spPr>
          <a:xfrm>
            <a:off x="749808" y="2304288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con-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32304"/>
            <a:ext cx="256032" cy="256032"/>
          </a:xfrm>
          <a:prstGeom prst="rect">
            <a:avLst/>
          </a:prstGeom>
        </p:spPr>
      </p:pic>
      <p:sp>
        <p:nvSpPr>
          <p:cNvPr id="10" name="text-61"/>
          <p:cNvSpPr txBox="1"/>
          <p:nvPr/>
        </p:nvSpPr>
        <p:spPr>
          <a:xfrm>
            <a:off x="1417320" y="217627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시작 신호음으로 맞추기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폰마다 녹음 시작 시각이 다른 문제</a:t>
            </a:r>
            <a:endParaRPr lang="en-US" sz="1400" dirty="0"/>
          </a:p>
        </p:txBody>
      </p:sp>
      <p:sp>
        <p:nvSpPr>
          <p:cNvPr id="11" name="text-62"/>
          <p:cNvSpPr txBox="1"/>
          <p:nvPr/>
        </p:nvSpPr>
        <p:spPr>
          <a:xfrm>
            <a:off x="4663440" y="217627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작은 방에서는 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시작은 맞아도 소리가 겹치는 건 그대로입니다</a:t>
            </a:r>
            <a:endParaRPr lang="en-US" sz="1400" dirty="0"/>
          </a:p>
        </p:txBody>
      </p:sp>
      <p:sp>
        <p:nvSpPr>
          <p:cNvPr id="12" name="iconbg-63"/>
          <p:cNvSpPr/>
          <p:nvPr/>
        </p:nvSpPr>
        <p:spPr>
          <a:xfrm>
            <a:off x="749808" y="3328416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-6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456432"/>
            <a:ext cx="256032" cy="256032"/>
          </a:xfrm>
          <a:prstGeom prst="rect">
            <a:avLst/>
          </a:prstGeom>
        </p:spPr>
      </p:pic>
      <p:sp>
        <p:nvSpPr>
          <p:cNvPr id="14" name="text-65"/>
          <p:cNvSpPr txBox="1"/>
          <p:nvPr/>
        </p:nvSpPr>
        <p:spPr>
          <a:xfrm>
            <a:off x="1417320" y="320040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녹음 길이 차이 보정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오래 녹음하면 폰마다 길이가 조금씩 달라지는 문제</a:t>
            </a:r>
            <a:endParaRPr lang="en-US" sz="1400" dirty="0"/>
          </a:p>
        </p:txBody>
      </p:sp>
      <p:sp>
        <p:nvSpPr>
          <p:cNvPr id="15" name="text-66"/>
          <p:cNvSpPr txBox="1"/>
          <p:nvPr/>
        </p:nvSpPr>
        <p:spPr>
          <a:xfrm>
            <a:off x="4663440" y="32004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작은 방에서는 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겹침 자체는 없애지 못합니다</a:t>
            </a:r>
            <a:endParaRPr lang="en-US" sz="1400" dirty="0"/>
          </a:p>
        </p:txBody>
      </p:sp>
      <p:sp>
        <p:nvSpPr>
          <p:cNvPr id="16" name="iconbg-67"/>
          <p:cNvSpPr/>
          <p:nvPr/>
        </p:nvSpPr>
        <p:spPr>
          <a:xfrm>
            <a:off x="749808" y="4352544"/>
            <a:ext cx="512064" cy="51206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-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480560"/>
            <a:ext cx="256032" cy="256032"/>
          </a:xfrm>
          <a:prstGeom prst="rect">
            <a:avLst/>
          </a:prstGeom>
        </p:spPr>
      </p:pic>
      <p:sp>
        <p:nvSpPr>
          <p:cNvPr id="18" name="text-69"/>
          <p:cNvSpPr txBox="1"/>
          <p:nvPr/>
        </p:nvSpPr>
        <p:spPr>
          <a:xfrm>
            <a:off x="1417320" y="422452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말하는 사람 폰만 살리기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말하는 사람에게 가장 가까운 폰만 살리고 나머지는 줄입니다</a:t>
            </a:r>
            <a:endParaRPr lang="en-US" sz="1400" dirty="0"/>
          </a:p>
        </p:txBody>
      </p:sp>
      <p:sp>
        <p:nvSpPr>
          <p:cNvPr id="19" name="text-70"/>
          <p:cNvSpPr txBox="1"/>
          <p:nvPr/>
        </p:nvSpPr>
        <p:spPr>
          <a:xfrm>
            <a:off x="4663440" y="422452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작은 방에서는 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폰끼리 소리 크기 차이가 커야 동작합니다</a:t>
            </a:r>
            <a:endParaRPr lang="en-US" sz="1400" dirty="0"/>
          </a:p>
        </p:txBody>
      </p:sp>
      <p:sp>
        <p:nvSpPr>
          <p:cNvPr id="20" name="text-71"/>
          <p:cNvSpPr txBox="1"/>
          <p:nvPr/>
        </p:nvSpPr>
        <p:spPr>
          <a:xfrm>
            <a:off x="7772400" y="173736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말하는 사람 폰만 살리기, 방 크기에 따라</a:t>
            </a:r>
            <a:endParaRPr lang="en-US" sz="1300" dirty="0"/>
          </a:p>
        </p:txBody>
      </p:sp>
      <p:sp>
        <p:nvSpPr>
          <p:cNvPr id="21" name="card-72"/>
          <p:cNvSpPr/>
          <p:nvPr/>
        </p:nvSpPr>
        <p:spPr>
          <a:xfrm>
            <a:off x="7772400" y="2103120"/>
            <a:ext cx="3870655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/>
        </p:spPr>
      </p:sp>
      <p:sp>
        <p:nvSpPr>
          <p:cNvPr id="22" name="iconbg-73"/>
          <p:cNvSpPr/>
          <p:nvPr/>
        </p:nvSpPr>
        <p:spPr>
          <a:xfrm>
            <a:off x="8001000" y="23317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3" name="icon-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446020"/>
            <a:ext cx="228600" cy="228600"/>
          </a:xfrm>
          <a:prstGeom prst="rect">
            <a:avLst/>
          </a:prstGeom>
        </p:spPr>
      </p:pic>
      <p:sp>
        <p:nvSpPr>
          <p:cNvPr id="24" name="lvl-75"/>
          <p:cNvSpPr/>
          <p:nvPr/>
        </p:nvSpPr>
        <p:spPr>
          <a:xfrm>
            <a:off x="10500055" y="2468880"/>
            <a:ext cx="292608" cy="7772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lvl-76"/>
          <p:cNvSpPr/>
          <p:nvPr/>
        </p:nvSpPr>
        <p:spPr>
          <a:xfrm>
            <a:off x="10957255" y="3044952"/>
            <a:ext cx="292608" cy="2011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text-77"/>
          <p:cNvSpPr txBox="1"/>
          <p:nvPr/>
        </p:nvSpPr>
        <p:spPr>
          <a:xfrm>
            <a:off x="10408615" y="3264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내 폰   옆 폰</a:t>
            </a:r>
            <a:endParaRPr lang="en-US" sz="900" dirty="0"/>
          </a:p>
        </p:txBody>
      </p:sp>
      <p:sp>
        <p:nvSpPr>
          <p:cNvPr id="27" name="text-78"/>
          <p:cNvSpPr txBox="1"/>
          <p:nvPr/>
        </p:nvSpPr>
        <p:spPr>
          <a:xfrm>
            <a:off x="8595360" y="2240280"/>
            <a:ext cx="1767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넓은 방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폰끼리 소리 크기 차이가 큼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→ 누가 말하는지 구분됩니다</a:t>
            </a:r>
            <a:endParaRPr lang="en-US" sz="1400" dirty="0"/>
          </a:p>
        </p:txBody>
      </p:sp>
      <p:sp>
        <p:nvSpPr>
          <p:cNvPr id="28" name="card-79"/>
          <p:cNvSpPr/>
          <p:nvPr/>
        </p:nvSpPr>
        <p:spPr>
          <a:xfrm>
            <a:off x="7772400" y="3657600"/>
            <a:ext cx="3870655" cy="1417320"/>
          </a:xfrm>
          <a:prstGeom prst="roundRect">
            <a:avLst>
              <a:gd name="adj" fmla="val 7742"/>
            </a:avLst>
          </a:prstGeom>
          <a:solidFill>
            <a:srgbClr val="FEE2E2"/>
          </a:solidFill>
          <a:ln/>
        </p:spPr>
      </p:sp>
      <p:sp>
        <p:nvSpPr>
          <p:cNvPr id="29" name="iconbg-80"/>
          <p:cNvSpPr/>
          <p:nvPr/>
        </p:nvSpPr>
        <p:spPr>
          <a:xfrm>
            <a:off x="8001000" y="38862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-8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4000500"/>
            <a:ext cx="228600" cy="228600"/>
          </a:xfrm>
          <a:prstGeom prst="rect">
            <a:avLst/>
          </a:prstGeom>
        </p:spPr>
      </p:pic>
      <p:sp>
        <p:nvSpPr>
          <p:cNvPr id="31" name="lvl-82"/>
          <p:cNvSpPr/>
          <p:nvPr/>
        </p:nvSpPr>
        <p:spPr>
          <a:xfrm>
            <a:off x="10500055" y="4023360"/>
            <a:ext cx="292608" cy="7772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lvl-83"/>
          <p:cNvSpPr/>
          <p:nvPr/>
        </p:nvSpPr>
        <p:spPr>
          <a:xfrm>
            <a:off x="10957255" y="4160520"/>
            <a:ext cx="292608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3" name="text-84"/>
          <p:cNvSpPr txBox="1"/>
          <p:nvPr/>
        </p:nvSpPr>
        <p:spPr>
          <a:xfrm>
            <a:off x="10408615" y="4818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내 폰   옆 폰</a:t>
            </a:r>
            <a:endParaRPr lang="en-US" sz="900" dirty="0"/>
          </a:p>
        </p:txBody>
      </p:sp>
      <p:sp>
        <p:nvSpPr>
          <p:cNvPr id="34" name="text-85"/>
          <p:cNvSpPr txBox="1"/>
          <p:nvPr/>
        </p:nvSpPr>
        <p:spPr>
          <a:xfrm>
            <a:off x="8595360" y="3794760"/>
            <a:ext cx="1767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작은 방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벽 반사로 차이가 작음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→ 누가 말하는지 구분하지 못합니다</a:t>
            </a:r>
            <a:endParaRPr lang="en-US" sz="1400" dirty="0"/>
          </a:p>
        </p:txBody>
      </p:sp>
      <p:sp>
        <p:nvSpPr>
          <p:cNvPr id="35" name="card-86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6" name="text-87"/>
          <p:cNvSpPr txBox="1"/>
          <p:nvPr/>
        </p:nvSpPr>
        <p:spPr>
          <a:xfrm>
            <a:off x="914400" y="53492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녹음 방식을 고르는 것이 먼저입니다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핵심 원칙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폰 수는 사람 수가 아니라 자리 간격으로 정하기를 권장합니다</a:t>
            </a:r>
            <a:endParaRPr lang="en-US" sz="1600" dirty="0"/>
          </a:p>
        </p:txBody>
      </p:sp>
      <p:sp>
        <p:nvSpPr>
          <p:cNvPr id="4" name="card-88"/>
          <p:cNvSpPr/>
          <p:nvPr/>
        </p:nvSpPr>
        <p:spPr>
          <a:xfrm>
            <a:off x="548640" y="1783080"/>
            <a:ext cx="690372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5" name="num-89"/>
          <p:cNvSpPr/>
          <p:nvPr/>
        </p:nvSpPr>
        <p:spPr>
          <a:xfrm>
            <a:off x="804672" y="20574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-90"/>
          <p:cNvSpPr txBox="1"/>
          <p:nvPr/>
        </p:nvSpPr>
        <p:spPr>
          <a:xfrm>
            <a:off x="80467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-91"/>
          <p:cNvSpPr txBox="1"/>
          <p:nvPr/>
        </p:nvSpPr>
        <p:spPr>
          <a:xfrm>
            <a:off x="1554480" y="19202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폰끼리 2m 이상 떨어뜨립니다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내 목소리가 옆 폰보다 내 폰에 훨씬 크게 들어가야 말하는 사람을 구분할 수 있습니다. 폰을 입에서 50cm에 두면 다음 폰은 최소 1.5m, 가능하면 2m 이상 떨어뜨려 주세요.</a:t>
            </a:r>
            <a:endParaRPr lang="en-US" sz="1400" dirty="0"/>
          </a:p>
        </p:txBody>
      </p:sp>
      <p:sp>
        <p:nvSpPr>
          <p:cNvPr id="8" name="card-92"/>
          <p:cNvSpPr/>
          <p:nvPr/>
        </p:nvSpPr>
        <p:spPr>
          <a:xfrm>
            <a:off x="548640" y="3310128"/>
            <a:ext cx="690372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9" name="num-93"/>
          <p:cNvSpPr/>
          <p:nvPr/>
        </p:nvSpPr>
        <p:spPr>
          <a:xfrm>
            <a:off x="804672" y="358444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xt-94"/>
          <p:cNvSpPr txBox="1"/>
          <p:nvPr/>
        </p:nvSpPr>
        <p:spPr>
          <a:xfrm>
            <a:off x="804672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-95"/>
          <p:cNvSpPr txBox="1"/>
          <p:nvPr/>
        </p:nvSpPr>
        <p:spPr>
          <a:xfrm>
            <a:off x="1554480" y="344728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폰은 사람마다가 아니라 자리마다 1대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같은 방에서는 2m 간격마다 1대를 둡니다. 2m 안에 붙어 앉은 사람끼리는 폰 1대를 함께 씁니다. 여러 장소에서 녹음할 때는 장소마다 1대라 자연스럽게 1인 1폰이 됩니다.</a:t>
            </a:r>
            <a:endParaRPr lang="en-US" sz="1400" dirty="0"/>
          </a:p>
        </p:txBody>
      </p:sp>
      <p:sp>
        <p:nvSpPr>
          <p:cNvPr id="12" name="card-96"/>
          <p:cNvSpPr/>
          <p:nvPr/>
        </p:nvSpPr>
        <p:spPr>
          <a:xfrm>
            <a:off x="548640" y="4837176"/>
            <a:ext cx="690372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3" name="num-97"/>
          <p:cNvSpPr/>
          <p:nvPr/>
        </p:nvSpPr>
        <p:spPr>
          <a:xfrm>
            <a:off x="804672" y="51114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98"/>
          <p:cNvSpPr txBox="1"/>
          <p:nvPr/>
        </p:nvSpPr>
        <p:spPr>
          <a:xfrm>
            <a:off x="804672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-99"/>
          <p:cNvSpPr txBox="1"/>
          <p:nvPr/>
        </p:nvSpPr>
        <p:spPr>
          <a:xfrm>
            <a:off x="1554480" y="4974336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같은 방이면 일반녹음 (전용 마이크 우선)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전용 마이크는 360도로 여러 사람을 고르게 잡고, 전화나 알림에도 끊기지 않습니다. 전용 마이크가 없으면 휴대폰 1대로 일반녹음해도 됩니다. 한 대로 감당하기 어려운 큰 회의실에서만 그룹녹음을 권장합니다.</a:t>
            </a:r>
            <a:endParaRPr lang="en-US" sz="1400" dirty="0"/>
          </a:p>
        </p:txBody>
      </p:sp>
      <p:sp>
        <p:nvSpPr>
          <p:cNvPr id="16" name="card-100"/>
          <p:cNvSpPr/>
          <p:nvPr/>
        </p:nvSpPr>
        <p:spPr>
          <a:xfrm>
            <a:off x="7772400" y="1783080"/>
            <a:ext cx="3870655" cy="4389120"/>
          </a:xfrm>
          <a:prstGeom prst="roundRect">
            <a:avLst>
              <a:gd name="adj" fmla="val 2835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chip-101"/>
          <p:cNvSpPr/>
          <p:nvPr/>
        </p:nvSpPr>
        <p:spPr>
          <a:xfrm>
            <a:off x="8046720" y="2011680"/>
            <a:ext cx="7315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8" name="text-102"/>
          <p:cNvSpPr txBox="1"/>
          <p:nvPr/>
        </p:nvSpPr>
        <p:spPr>
          <a:xfrm>
            <a:off x="8046720" y="2011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권장</a:t>
            </a:r>
            <a:endParaRPr lang="en-US" sz="1100" dirty="0"/>
          </a:p>
        </p:txBody>
      </p:sp>
      <p:sp>
        <p:nvSpPr>
          <p:cNvPr id="19" name="iconbg-103"/>
          <p:cNvSpPr/>
          <p:nvPr/>
        </p:nvSpPr>
        <p:spPr>
          <a:xfrm>
            <a:off x="8183880" y="269748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-1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2" y="2839212"/>
            <a:ext cx="283464" cy="283464"/>
          </a:xfrm>
          <a:prstGeom prst="rect">
            <a:avLst/>
          </a:prstGeom>
        </p:spPr>
      </p:pic>
      <p:sp>
        <p:nvSpPr>
          <p:cNvPr id="21" name="iconbg-105"/>
          <p:cNvSpPr/>
          <p:nvPr/>
        </p:nvSpPr>
        <p:spPr>
          <a:xfrm>
            <a:off x="10664647" y="269748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1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379" y="2839212"/>
            <a:ext cx="283464" cy="283464"/>
          </a:xfrm>
          <a:prstGeom prst="rect">
            <a:avLst/>
          </a:prstGeom>
        </p:spPr>
      </p:pic>
      <p:sp>
        <p:nvSpPr>
          <p:cNvPr id="23" name="ruler-107"/>
          <p:cNvSpPr/>
          <p:nvPr/>
        </p:nvSpPr>
        <p:spPr>
          <a:xfrm>
            <a:off x="8869680" y="2980944"/>
            <a:ext cx="1676095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24" name="text-108"/>
          <p:cNvSpPr txBox="1"/>
          <p:nvPr/>
        </p:nvSpPr>
        <p:spPr>
          <a:xfrm>
            <a:off x="8869680" y="2404872"/>
            <a:ext cx="1676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2m 이상</a:t>
            </a:r>
            <a:endParaRPr lang="en-US" sz="1600" dirty="0"/>
          </a:p>
        </p:txBody>
      </p:sp>
      <p:sp>
        <p:nvSpPr>
          <p:cNvPr id="25" name="text-109"/>
          <p:cNvSpPr txBox="1"/>
          <p:nvPr/>
        </p:nvSpPr>
        <p:spPr>
          <a:xfrm>
            <a:off x="8046720" y="338328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말하는 사람 구분 가능</a:t>
            </a:r>
            <a:endParaRPr lang="en-US" sz="1200" dirty="0"/>
          </a:p>
        </p:txBody>
      </p:sp>
      <p:sp>
        <p:nvSpPr>
          <p:cNvPr id="26" name="chip-110"/>
          <p:cNvSpPr/>
          <p:nvPr/>
        </p:nvSpPr>
        <p:spPr>
          <a:xfrm>
            <a:off x="8046720" y="4023360"/>
            <a:ext cx="82296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7" name="text-111"/>
          <p:cNvSpPr txBox="1"/>
          <p:nvPr/>
        </p:nvSpPr>
        <p:spPr>
          <a:xfrm>
            <a:off x="804672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피하기</a:t>
            </a:r>
            <a:endParaRPr lang="en-US" sz="1100" dirty="0"/>
          </a:p>
        </p:txBody>
      </p:sp>
      <p:sp>
        <p:nvSpPr>
          <p:cNvPr id="28" name="iconbg-112"/>
          <p:cNvSpPr/>
          <p:nvPr/>
        </p:nvSpPr>
        <p:spPr>
          <a:xfrm>
            <a:off x="9049360" y="46177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con-1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092" y="4759452"/>
            <a:ext cx="283464" cy="283464"/>
          </a:xfrm>
          <a:prstGeom prst="rect">
            <a:avLst/>
          </a:prstGeom>
        </p:spPr>
      </p:pic>
      <p:sp>
        <p:nvSpPr>
          <p:cNvPr id="30" name="iconbg-114"/>
          <p:cNvSpPr/>
          <p:nvPr/>
        </p:nvSpPr>
        <p:spPr>
          <a:xfrm>
            <a:off x="9799168" y="46177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icon-1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900" y="4759452"/>
            <a:ext cx="283464" cy="283464"/>
          </a:xfrm>
          <a:prstGeom prst="rect">
            <a:avLst/>
          </a:prstGeom>
        </p:spPr>
      </p:pic>
      <p:sp>
        <p:nvSpPr>
          <p:cNvPr id="32" name="text-116"/>
          <p:cNvSpPr txBox="1"/>
          <p:nvPr/>
        </p:nvSpPr>
        <p:spPr>
          <a:xfrm>
            <a:off x="8046720" y="527608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2m 안에 2대</a:t>
            </a:r>
            <a:endParaRPr lang="en-US" sz="1300" dirty="0"/>
          </a:p>
        </p:txBody>
      </p:sp>
      <p:sp>
        <p:nvSpPr>
          <p:cNvPr id="33" name="text-117"/>
          <p:cNvSpPr txBox="1"/>
          <p:nvPr/>
        </p:nvSpPr>
        <p:spPr>
          <a:xfrm>
            <a:off x="8046720" y="555040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같은 목소리가 겹쳐 울림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몇 대를 쓰면 되나요?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테이블 길이로 휴대폰 수를 정하기를 권장합니다</a:t>
            </a:r>
            <a:endParaRPr lang="en-US" sz="1600" dirty="0"/>
          </a:p>
        </p:txBody>
      </p:sp>
      <p:sp>
        <p:nvSpPr>
          <p:cNvPr id="4" name="card-118"/>
          <p:cNvSpPr/>
          <p:nvPr/>
        </p:nvSpPr>
        <p:spPr>
          <a:xfrm>
            <a:off x="548640" y="169164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5" name="text-119"/>
          <p:cNvSpPr txBox="1"/>
          <p:nvPr/>
        </p:nvSpPr>
        <p:spPr>
          <a:xfrm>
            <a:off x="914400" y="169164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폰 수 = 테이블 긴 쪽 길이(m) ÷ 2</a:t>
            </a:r>
            <a:endParaRPr lang="en-US" sz="1400" dirty="0"/>
          </a:p>
        </p:txBody>
      </p:sp>
      <p:sp>
        <p:nvSpPr>
          <p:cNvPr id="6" name="text-120"/>
          <p:cNvSpPr txBox="1"/>
          <p:nvPr/>
        </p:nvSpPr>
        <p:spPr>
          <a:xfrm>
            <a:off x="7315200" y="1737360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소수점은 버림 · 최대 5대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1대 → 일반녹음 (전용 마이크 우선, 또는 휴대폰 1대)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</a:rPr>
              <a:t>2대 이상 → 그룹녹음</a:t>
            </a:r>
            <a:endParaRPr lang="en-US" sz="1400" dirty="0"/>
          </a:p>
        </p:txBody>
      </p:sp>
      <p:sp>
        <p:nvSpPr>
          <p:cNvPr id="7" name="card-121"/>
          <p:cNvSpPr/>
          <p:nvPr/>
        </p:nvSpPr>
        <p:spPr>
          <a:xfrm>
            <a:off x="548640" y="2761488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8" name="text-122"/>
          <p:cNvSpPr txBox="1"/>
          <p:nvPr/>
        </p:nvSpPr>
        <p:spPr>
          <a:xfrm>
            <a:off x="777240" y="2761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소규모 회의</a:t>
            </a:r>
            <a:endParaRPr lang="en-US" sz="1300" dirty="0"/>
          </a:p>
        </p:txBody>
      </p:sp>
      <p:sp>
        <p:nvSpPr>
          <p:cNvPr id="9" name="table-top-123"/>
          <p:cNvSpPr/>
          <p:nvPr/>
        </p:nvSpPr>
        <p:spPr>
          <a:xfrm>
            <a:off x="2697480" y="2889504"/>
            <a:ext cx="28895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dev-124"/>
          <p:cNvSpPr/>
          <p:nvPr/>
        </p:nvSpPr>
        <p:spPr>
          <a:xfrm>
            <a:off x="2779593" y="2927726"/>
            <a:ext cx="124724" cy="12472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-125"/>
          <p:cNvSpPr txBox="1"/>
          <p:nvPr/>
        </p:nvSpPr>
        <p:spPr>
          <a:xfrm>
            <a:off x="4069080" y="2761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1~3명</a:t>
            </a:r>
            <a:endParaRPr lang="en-US" sz="1300" dirty="0"/>
          </a:p>
        </p:txBody>
      </p:sp>
      <p:sp>
        <p:nvSpPr>
          <p:cNvPr id="12" name="text-126"/>
          <p:cNvSpPr txBox="1"/>
          <p:nvPr/>
        </p:nvSpPr>
        <p:spPr>
          <a:xfrm>
            <a:off x="5074920" y="2761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—</a:t>
            </a:r>
            <a:endParaRPr lang="en-US" sz="1300" dirty="0"/>
          </a:p>
        </p:txBody>
      </p:sp>
      <p:sp>
        <p:nvSpPr>
          <p:cNvPr id="13" name="text-127"/>
          <p:cNvSpPr txBox="1"/>
          <p:nvPr/>
        </p:nvSpPr>
        <p:spPr>
          <a:xfrm>
            <a:off x="5943600" y="27614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1대</a:t>
            </a:r>
            <a:endParaRPr lang="en-US" sz="1500" dirty="0"/>
          </a:p>
        </p:txBody>
      </p:sp>
      <p:sp>
        <p:nvSpPr>
          <p:cNvPr id="14" name="text-128"/>
          <p:cNvSpPr txBox="1"/>
          <p:nvPr/>
        </p:nvSpPr>
        <p:spPr>
          <a:xfrm>
            <a:off x="6812280" y="2761488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일반녹음 · 휴대폰 1대(앱)로도 충분</a:t>
            </a:r>
            <a:endParaRPr lang="en-US" sz="1400" dirty="0"/>
          </a:p>
        </p:txBody>
      </p:sp>
      <p:sp>
        <p:nvSpPr>
          <p:cNvPr id="15" name="card-129"/>
          <p:cNvSpPr/>
          <p:nvPr/>
        </p:nvSpPr>
        <p:spPr>
          <a:xfrm>
            <a:off x="548640" y="3273552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16" name="text-130"/>
          <p:cNvSpPr txBox="1"/>
          <p:nvPr/>
        </p:nvSpPr>
        <p:spPr>
          <a:xfrm>
            <a:off x="777240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소형 사무실 · 소회의실</a:t>
            </a:r>
            <a:endParaRPr lang="en-US" sz="1300" dirty="0"/>
          </a:p>
        </p:txBody>
      </p:sp>
      <p:sp>
        <p:nvSpPr>
          <p:cNvPr id="17" name="table-top-131"/>
          <p:cNvSpPr/>
          <p:nvPr/>
        </p:nvSpPr>
        <p:spPr>
          <a:xfrm>
            <a:off x="2697480" y="3401568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dev-132"/>
          <p:cNvSpPr/>
          <p:nvPr/>
        </p:nvSpPr>
        <p:spPr>
          <a:xfrm>
            <a:off x="2845430" y="3439790"/>
            <a:ext cx="124724" cy="12472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-133"/>
          <p:cNvSpPr txBox="1"/>
          <p:nvPr/>
        </p:nvSpPr>
        <p:spPr>
          <a:xfrm>
            <a:off x="406908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2~6명</a:t>
            </a:r>
            <a:endParaRPr lang="en-US" sz="1300" dirty="0"/>
          </a:p>
        </p:txBody>
      </p:sp>
      <p:sp>
        <p:nvSpPr>
          <p:cNvPr id="20" name="text-134"/>
          <p:cNvSpPr txBox="1"/>
          <p:nvPr/>
        </p:nvSpPr>
        <p:spPr>
          <a:xfrm>
            <a:off x="5074920" y="32735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2~3m</a:t>
            </a:r>
            <a:endParaRPr lang="en-US" sz="1300" dirty="0"/>
          </a:p>
        </p:txBody>
      </p:sp>
      <p:sp>
        <p:nvSpPr>
          <p:cNvPr id="21" name="text-135"/>
          <p:cNvSpPr txBox="1"/>
          <p:nvPr/>
        </p:nvSpPr>
        <p:spPr>
          <a:xfrm>
            <a:off x="5943600" y="3273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1대</a:t>
            </a:r>
            <a:endParaRPr lang="en-US" sz="1500" dirty="0"/>
          </a:p>
        </p:txBody>
      </p:sp>
      <p:sp>
        <p:nvSpPr>
          <p:cNvPr id="22" name="text-136"/>
          <p:cNvSpPr txBox="1"/>
          <p:nvPr/>
        </p:nvSpPr>
        <p:spPr>
          <a:xfrm>
            <a:off x="6812280" y="3273552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일반녹음 · 전용 마이크 우선 (또는 휴대폰 1대)</a:t>
            </a:r>
            <a:endParaRPr lang="en-US" sz="1400" dirty="0"/>
          </a:p>
        </p:txBody>
      </p:sp>
      <p:sp>
        <p:nvSpPr>
          <p:cNvPr id="23" name="card-137"/>
          <p:cNvSpPr/>
          <p:nvPr/>
        </p:nvSpPr>
        <p:spPr>
          <a:xfrm>
            <a:off x="548640" y="3785616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sp>
        <p:nvSpPr>
          <p:cNvPr id="24" name="text-138"/>
          <p:cNvSpPr txBox="1"/>
          <p:nvPr/>
        </p:nvSpPr>
        <p:spPr>
          <a:xfrm>
            <a:off x="777240" y="37856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중회의실</a:t>
            </a:r>
            <a:endParaRPr lang="en-US" sz="1300" dirty="0"/>
          </a:p>
        </p:txBody>
      </p:sp>
      <p:sp>
        <p:nvSpPr>
          <p:cNvPr id="25" name="table-top-139"/>
          <p:cNvSpPr/>
          <p:nvPr/>
        </p:nvSpPr>
        <p:spPr>
          <a:xfrm>
            <a:off x="2697480" y="3913632"/>
            <a:ext cx="651053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dev-140"/>
          <p:cNvSpPr/>
          <p:nvPr/>
        </p:nvSpPr>
        <p:spPr>
          <a:xfrm>
            <a:off x="2700223" y="3951854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dev-141"/>
          <p:cNvSpPr/>
          <p:nvPr/>
        </p:nvSpPr>
        <p:spPr>
          <a:xfrm>
            <a:off x="3221065" y="3951854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-142"/>
          <p:cNvSpPr txBox="1"/>
          <p:nvPr/>
        </p:nvSpPr>
        <p:spPr>
          <a:xfrm>
            <a:off x="4069080" y="3785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6~10명</a:t>
            </a:r>
            <a:endParaRPr lang="en-US" sz="1300" dirty="0"/>
          </a:p>
        </p:txBody>
      </p:sp>
      <p:sp>
        <p:nvSpPr>
          <p:cNvPr id="29" name="text-143"/>
          <p:cNvSpPr txBox="1"/>
          <p:nvPr/>
        </p:nvSpPr>
        <p:spPr>
          <a:xfrm>
            <a:off x="5074920" y="378561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4~5m</a:t>
            </a:r>
            <a:endParaRPr lang="en-US" sz="1300" dirty="0"/>
          </a:p>
        </p:txBody>
      </p:sp>
      <p:sp>
        <p:nvSpPr>
          <p:cNvPr id="30" name="text-144"/>
          <p:cNvSpPr txBox="1"/>
          <p:nvPr/>
        </p:nvSpPr>
        <p:spPr>
          <a:xfrm>
            <a:off x="5943600" y="37856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2대</a:t>
            </a:r>
            <a:endParaRPr lang="en-US" sz="1500" dirty="0"/>
          </a:p>
        </p:txBody>
      </p:sp>
      <p:sp>
        <p:nvSpPr>
          <p:cNvPr id="31" name="text-145"/>
          <p:cNvSpPr txBox="1"/>
          <p:nvPr/>
        </p:nvSpPr>
        <p:spPr>
          <a:xfrm>
            <a:off x="6812280" y="3785616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그룹녹음 2대 · 테이블 양 끝</a:t>
            </a:r>
            <a:endParaRPr lang="en-US" sz="1400" dirty="0"/>
          </a:p>
        </p:txBody>
      </p:sp>
      <p:sp>
        <p:nvSpPr>
          <p:cNvPr id="32" name="card-146"/>
          <p:cNvSpPr/>
          <p:nvPr/>
        </p:nvSpPr>
        <p:spPr>
          <a:xfrm>
            <a:off x="548640" y="4297680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sp>
        <p:nvSpPr>
          <p:cNvPr id="33" name="text-147"/>
          <p:cNvSpPr txBox="1"/>
          <p:nvPr/>
        </p:nvSpPr>
        <p:spPr>
          <a:xfrm>
            <a:off x="77724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대회의실</a:t>
            </a:r>
            <a:endParaRPr lang="en-US" sz="1300" dirty="0"/>
          </a:p>
        </p:txBody>
      </p:sp>
      <p:sp>
        <p:nvSpPr>
          <p:cNvPr id="34" name="table-top-148"/>
          <p:cNvSpPr/>
          <p:nvPr/>
        </p:nvSpPr>
        <p:spPr>
          <a:xfrm>
            <a:off x="2697480" y="4425696"/>
            <a:ext cx="881482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dev-149"/>
          <p:cNvSpPr/>
          <p:nvPr/>
        </p:nvSpPr>
        <p:spPr>
          <a:xfrm>
            <a:off x="2705636" y="4463918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dev-150"/>
          <p:cNvSpPr/>
          <p:nvPr/>
        </p:nvSpPr>
        <p:spPr>
          <a:xfrm>
            <a:off x="3075859" y="4463918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dev-151"/>
          <p:cNvSpPr/>
          <p:nvPr/>
        </p:nvSpPr>
        <p:spPr>
          <a:xfrm>
            <a:off x="3446081" y="4463918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-152"/>
          <p:cNvSpPr txBox="1"/>
          <p:nvPr/>
        </p:nvSpPr>
        <p:spPr>
          <a:xfrm>
            <a:off x="40690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10~14명</a:t>
            </a:r>
            <a:endParaRPr lang="en-US" sz="1300" dirty="0"/>
          </a:p>
        </p:txBody>
      </p:sp>
      <p:sp>
        <p:nvSpPr>
          <p:cNvPr id="39" name="text-153"/>
          <p:cNvSpPr txBox="1"/>
          <p:nvPr/>
        </p:nvSpPr>
        <p:spPr>
          <a:xfrm>
            <a:off x="5074920" y="4297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6~7m</a:t>
            </a:r>
            <a:endParaRPr lang="en-US" sz="1300" dirty="0"/>
          </a:p>
        </p:txBody>
      </p:sp>
      <p:sp>
        <p:nvSpPr>
          <p:cNvPr id="40" name="text-154"/>
          <p:cNvSpPr txBox="1"/>
          <p:nvPr/>
        </p:nvSpPr>
        <p:spPr>
          <a:xfrm>
            <a:off x="594360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3대</a:t>
            </a:r>
            <a:endParaRPr lang="en-US" sz="1500" dirty="0"/>
          </a:p>
        </p:txBody>
      </p:sp>
      <p:sp>
        <p:nvSpPr>
          <p:cNvPr id="41" name="text-155"/>
          <p:cNvSpPr txBox="1"/>
          <p:nvPr/>
        </p:nvSpPr>
        <p:spPr>
          <a:xfrm>
            <a:off x="6812280" y="429768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그룹녹음 3대 · 양 끝 + 가운데</a:t>
            </a:r>
            <a:endParaRPr lang="en-US" sz="1400" dirty="0"/>
          </a:p>
        </p:txBody>
      </p:sp>
      <p:sp>
        <p:nvSpPr>
          <p:cNvPr id="42" name="card-156"/>
          <p:cNvSpPr/>
          <p:nvPr/>
        </p:nvSpPr>
        <p:spPr>
          <a:xfrm>
            <a:off x="548640" y="4809744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6"/>
          </a:solidFill>
          <a:ln/>
        </p:spPr>
      </p:sp>
      <p:sp>
        <p:nvSpPr>
          <p:cNvPr id="43" name="text-157"/>
          <p:cNvSpPr txBox="1"/>
          <p:nvPr/>
        </p:nvSpPr>
        <p:spPr>
          <a:xfrm>
            <a:off x="777240" y="48097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대형 · 임원 회의실</a:t>
            </a:r>
            <a:endParaRPr lang="en-US" sz="1300" dirty="0"/>
          </a:p>
        </p:txBody>
      </p:sp>
      <p:sp>
        <p:nvSpPr>
          <p:cNvPr id="44" name="table-top-158"/>
          <p:cNvSpPr/>
          <p:nvPr/>
        </p:nvSpPr>
        <p:spPr>
          <a:xfrm>
            <a:off x="2697480" y="4937760"/>
            <a:ext cx="111191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dev-159"/>
          <p:cNvSpPr/>
          <p:nvPr/>
        </p:nvSpPr>
        <p:spPr>
          <a:xfrm>
            <a:off x="2701833" y="4975982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dev-160"/>
          <p:cNvSpPr/>
          <p:nvPr/>
        </p:nvSpPr>
        <p:spPr>
          <a:xfrm>
            <a:off x="3024287" y="4975982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dev-161"/>
          <p:cNvSpPr/>
          <p:nvPr/>
        </p:nvSpPr>
        <p:spPr>
          <a:xfrm>
            <a:off x="3357860" y="4975982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dev-162"/>
          <p:cNvSpPr/>
          <p:nvPr/>
        </p:nvSpPr>
        <p:spPr>
          <a:xfrm>
            <a:off x="3680314" y="4975982"/>
            <a:ext cx="124724" cy="124724"/>
          </a:xfrm>
          <a:prstGeom prst="ellipse">
            <a:avLst/>
          </a:prstGeom>
          <a:solidFill>
            <a:schemeClr val="accent5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text-163"/>
          <p:cNvSpPr txBox="1"/>
          <p:nvPr/>
        </p:nvSpPr>
        <p:spPr>
          <a:xfrm>
            <a:off x="4069080" y="48097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14명 이상</a:t>
            </a:r>
            <a:endParaRPr lang="en-US" sz="1300" dirty="0"/>
          </a:p>
        </p:txBody>
      </p:sp>
      <p:sp>
        <p:nvSpPr>
          <p:cNvPr id="50" name="text-164"/>
          <p:cNvSpPr txBox="1"/>
          <p:nvPr/>
        </p:nvSpPr>
        <p:spPr>
          <a:xfrm>
            <a:off x="5074920" y="4809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8~10m</a:t>
            </a:r>
            <a:endParaRPr lang="en-US" sz="1300" dirty="0"/>
          </a:p>
        </p:txBody>
      </p:sp>
      <p:sp>
        <p:nvSpPr>
          <p:cNvPr id="51" name="text-165"/>
          <p:cNvSpPr txBox="1"/>
          <p:nvPr/>
        </p:nvSpPr>
        <p:spPr>
          <a:xfrm>
            <a:off x="5943600" y="48097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4~5대</a:t>
            </a:r>
            <a:endParaRPr lang="en-US" sz="1500" dirty="0"/>
          </a:p>
        </p:txBody>
      </p:sp>
      <p:sp>
        <p:nvSpPr>
          <p:cNvPr id="52" name="text-166"/>
          <p:cNvSpPr txBox="1"/>
          <p:nvPr/>
        </p:nvSpPr>
        <p:spPr>
          <a:xfrm>
            <a:off x="6812280" y="4809744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그룹녹음 4~5대 · 2m 이상 간격</a:t>
            </a:r>
            <a:endParaRPr lang="en-US" sz="1400" dirty="0"/>
          </a:p>
        </p:txBody>
      </p:sp>
      <p:sp>
        <p:nvSpPr>
          <p:cNvPr id="53" name="card-167"/>
          <p:cNvSpPr/>
          <p:nvPr/>
        </p:nvSpPr>
        <p:spPr>
          <a:xfrm>
            <a:off x="548640" y="5321808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</p:sp>
      <p:sp>
        <p:nvSpPr>
          <p:cNvPr id="54" name="text-168"/>
          <p:cNvSpPr txBox="1"/>
          <p:nvPr/>
        </p:nvSpPr>
        <p:spPr>
          <a:xfrm>
            <a:off x="777240" y="5321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강당 · 교육장 · 발표형</a:t>
            </a:r>
            <a:endParaRPr lang="en-US" sz="1300" dirty="0"/>
          </a:p>
        </p:txBody>
      </p:sp>
      <p:sp>
        <p:nvSpPr>
          <p:cNvPr id="55" name="table-top-169"/>
          <p:cNvSpPr/>
          <p:nvPr/>
        </p:nvSpPr>
        <p:spPr>
          <a:xfrm>
            <a:off x="2697480" y="5449824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6" name="dev-170"/>
          <p:cNvSpPr/>
          <p:nvPr/>
        </p:nvSpPr>
        <p:spPr>
          <a:xfrm>
            <a:off x="2685593" y="5488046"/>
            <a:ext cx="124724" cy="12472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-171"/>
          <p:cNvSpPr txBox="1"/>
          <p:nvPr/>
        </p:nvSpPr>
        <p:spPr>
          <a:xfrm>
            <a:off x="4069080" y="5321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상관없음</a:t>
            </a:r>
            <a:endParaRPr lang="en-US" sz="1300" dirty="0"/>
          </a:p>
        </p:txBody>
      </p:sp>
      <p:sp>
        <p:nvSpPr>
          <p:cNvPr id="58" name="text-172"/>
          <p:cNvSpPr txBox="1"/>
          <p:nvPr/>
        </p:nvSpPr>
        <p:spPr>
          <a:xfrm>
            <a:off x="5074920" y="5321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—</a:t>
            </a:r>
            <a:endParaRPr lang="en-US" sz="1300" dirty="0"/>
          </a:p>
        </p:txBody>
      </p:sp>
      <p:sp>
        <p:nvSpPr>
          <p:cNvPr id="59" name="text-173"/>
          <p:cNvSpPr txBox="1"/>
          <p:nvPr/>
        </p:nvSpPr>
        <p:spPr>
          <a:xfrm>
            <a:off x="5943600" y="5321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—</a:t>
            </a:r>
            <a:endParaRPr lang="en-US" sz="1500" dirty="0"/>
          </a:p>
        </p:txBody>
      </p:sp>
      <p:sp>
        <p:nvSpPr>
          <p:cNvPr id="60" name="text-174"/>
          <p:cNvSpPr txBox="1"/>
          <p:nvPr/>
        </p:nvSpPr>
        <p:spPr>
          <a:xfrm>
            <a:off x="6812280" y="5321808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일반녹음 · 전용 마이크를 발표자 근처에</a:t>
            </a:r>
            <a:endParaRPr lang="en-US" sz="1400" dirty="0"/>
          </a:p>
        </p:txBody>
      </p:sp>
      <p:sp>
        <p:nvSpPr>
          <p:cNvPr id="61" name="text-17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예시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작은 사무실 4명 → 테이블 2m → 1대 → 일반녹음 (전용 마이크 우선)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      ※ 그룹녹음은 최대 1시간입니다. 1시간이 넘는 회의는 일반녹음을 권장합니다.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그룹녹음 응용: 여러 장소 동시 녹음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떨어진 사람들끼리 쓸 때 그룹녹음이 가장 깨끗합니다</a:t>
            </a:r>
            <a:endParaRPr lang="en-US" sz="1600" dirty="0"/>
          </a:p>
        </p:txBody>
      </p:sp>
      <p:sp>
        <p:nvSpPr>
          <p:cNvPr id="4" name="card-176"/>
          <p:cNvSpPr/>
          <p:nvPr/>
        </p:nvSpPr>
        <p:spPr>
          <a:xfrm>
            <a:off x="548640" y="1783080"/>
            <a:ext cx="640080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card-177"/>
          <p:cNvSpPr/>
          <p:nvPr/>
        </p:nvSpPr>
        <p:spPr>
          <a:xfrm>
            <a:off x="822960" y="20574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6" name="text-178"/>
          <p:cNvSpPr txBox="1"/>
          <p:nvPr/>
        </p:nvSpPr>
        <p:spPr>
          <a:xfrm>
            <a:off x="9601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서울</a:t>
            </a:r>
            <a:endParaRPr lang="en-US" sz="1400" dirty="0"/>
          </a:p>
        </p:txBody>
      </p:sp>
      <p:pic>
        <p:nvPicPr>
          <p:cNvPr id="7" name="icon-1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40280"/>
            <a:ext cx="365760" cy="365760"/>
          </a:xfrm>
          <a:prstGeom prst="rect">
            <a:avLst/>
          </a:prstGeom>
        </p:spPr>
      </p:pic>
      <p:pic>
        <p:nvPicPr>
          <p:cNvPr id="8" name="icon-1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240280"/>
            <a:ext cx="365760" cy="365760"/>
          </a:xfrm>
          <a:prstGeom prst="rect">
            <a:avLst/>
          </a:prstGeom>
        </p:spPr>
      </p:pic>
      <p:sp>
        <p:nvSpPr>
          <p:cNvPr id="9" name="arrow-181"/>
          <p:cNvSpPr/>
          <p:nvPr/>
        </p:nvSpPr>
        <p:spPr>
          <a:xfrm>
            <a:off x="3200400" y="2423160"/>
            <a:ext cx="822960" cy="896112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card-182"/>
          <p:cNvSpPr/>
          <p:nvPr/>
        </p:nvSpPr>
        <p:spPr>
          <a:xfrm>
            <a:off x="822960" y="29718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11" name="text-183"/>
          <p:cNvSpPr txBox="1"/>
          <p:nvPr/>
        </p:nvSpPr>
        <p:spPr>
          <a:xfrm>
            <a:off x="96012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이천</a:t>
            </a:r>
            <a:endParaRPr lang="en-US" sz="1400" dirty="0"/>
          </a:p>
        </p:txBody>
      </p:sp>
      <p:pic>
        <p:nvPicPr>
          <p:cNvPr id="12" name="icon-1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154680"/>
            <a:ext cx="365760" cy="365760"/>
          </a:xfrm>
          <a:prstGeom prst="rect">
            <a:avLst/>
          </a:prstGeom>
        </p:spPr>
      </p:pic>
      <p:pic>
        <p:nvPicPr>
          <p:cNvPr id="13" name="icon-18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3154680"/>
            <a:ext cx="365760" cy="365760"/>
          </a:xfrm>
          <a:prstGeom prst="rect">
            <a:avLst/>
          </a:prstGeom>
        </p:spPr>
      </p:pic>
      <p:sp>
        <p:nvSpPr>
          <p:cNvPr id="14" name="arrow-186"/>
          <p:cNvSpPr/>
          <p:nvPr/>
        </p:nvSpPr>
        <p:spPr>
          <a:xfrm flipV="1">
            <a:off x="3200400" y="3319272"/>
            <a:ext cx="822960" cy="1828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card-187"/>
          <p:cNvSpPr/>
          <p:nvPr/>
        </p:nvSpPr>
        <p:spPr>
          <a:xfrm>
            <a:off x="822960" y="3886200"/>
            <a:ext cx="228600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16" name="text-188"/>
          <p:cNvSpPr txBox="1"/>
          <p:nvPr/>
        </p:nvSpPr>
        <p:spPr>
          <a:xfrm>
            <a:off x="96012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재택</a:t>
            </a:r>
            <a:endParaRPr lang="en-US" sz="1400" dirty="0"/>
          </a:p>
        </p:txBody>
      </p:sp>
      <p:pic>
        <p:nvPicPr>
          <p:cNvPr id="17" name="icon-18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4069080"/>
            <a:ext cx="365760" cy="365760"/>
          </a:xfrm>
          <a:prstGeom prst="rect">
            <a:avLst/>
          </a:prstGeom>
        </p:spPr>
      </p:pic>
      <p:pic>
        <p:nvPicPr>
          <p:cNvPr id="18" name="icon-1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069080"/>
            <a:ext cx="365760" cy="365760"/>
          </a:xfrm>
          <a:prstGeom prst="rect">
            <a:avLst/>
          </a:prstGeom>
        </p:spPr>
      </p:pic>
      <p:sp>
        <p:nvSpPr>
          <p:cNvPr id="19" name="arrow-191"/>
          <p:cNvSpPr/>
          <p:nvPr/>
        </p:nvSpPr>
        <p:spPr>
          <a:xfrm flipV="1">
            <a:off x="3200400" y="3319272"/>
            <a:ext cx="822960" cy="93268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card-192"/>
          <p:cNvSpPr/>
          <p:nvPr/>
        </p:nvSpPr>
        <p:spPr>
          <a:xfrm>
            <a:off x="4114800" y="2770632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pic>
        <p:nvPicPr>
          <p:cNvPr id="21" name="icon-19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2880360"/>
            <a:ext cx="365760" cy="365760"/>
          </a:xfrm>
          <a:prstGeom prst="rect">
            <a:avLst/>
          </a:prstGeom>
        </p:spPr>
      </p:pic>
      <p:sp>
        <p:nvSpPr>
          <p:cNvPr id="22" name="text-194"/>
          <p:cNvSpPr txBox="1"/>
          <p:nvPr/>
        </p:nvSpPr>
        <p:spPr>
          <a:xfrm>
            <a:off x="4160520" y="3264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서버에서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신호음 기준 합치기</a:t>
            </a:r>
            <a:endParaRPr lang="en-US" sz="1100" dirty="0"/>
          </a:p>
        </p:txBody>
      </p:sp>
      <p:sp>
        <p:nvSpPr>
          <p:cNvPr id="23" name="arrow-195"/>
          <p:cNvSpPr/>
          <p:nvPr/>
        </p:nvSpPr>
        <p:spPr>
          <a:xfrm>
            <a:off x="5623560" y="3319272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card-196"/>
          <p:cNvSpPr/>
          <p:nvPr/>
        </p:nvSpPr>
        <p:spPr>
          <a:xfrm>
            <a:off x="6035040" y="2862072"/>
            <a:ext cx="777240" cy="91440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pic>
        <p:nvPicPr>
          <p:cNvPr id="25" name="icon-19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971800"/>
            <a:ext cx="365760" cy="365760"/>
          </a:xfrm>
          <a:prstGeom prst="rect">
            <a:avLst/>
          </a:prstGeom>
        </p:spPr>
      </p:pic>
      <p:sp>
        <p:nvSpPr>
          <p:cNvPr id="26" name="text-198"/>
          <p:cNvSpPr txBox="1"/>
          <p:nvPr/>
        </p:nvSpPr>
        <p:spPr>
          <a:xfrm>
            <a:off x="603504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회의록</a:t>
            </a:r>
            <a:endParaRPr lang="en-US" sz="1100" dirty="0"/>
          </a:p>
        </p:txBody>
      </p:sp>
      <p:sp>
        <p:nvSpPr>
          <p:cNvPr id="27" name="num-199"/>
          <p:cNvSpPr/>
          <p:nvPr/>
        </p:nvSpPr>
        <p:spPr>
          <a:xfrm>
            <a:off x="548640" y="5029200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text-200"/>
          <p:cNvSpPr txBox="1"/>
          <p:nvPr/>
        </p:nvSpPr>
        <p:spPr>
          <a:xfrm>
            <a:off x="548640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-201"/>
          <p:cNvSpPr txBox="1"/>
          <p:nvPr/>
        </p:nvSpPr>
        <p:spPr>
          <a:xfrm>
            <a:off x="960120" y="49926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진행자(방장)가 녹음을 시작합니다</a:t>
            </a:r>
            <a:endParaRPr lang="en-US" sz="1300" dirty="0"/>
          </a:p>
        </p:txBody>
      </p:sp>
      <p:sp>
        <p:nvSpPr>
          <p:cNvPr id="30" name="num-202"/>
          <p:cNvSpPr/>
          <p:nvPr/>
        </p:nvSpPr>
        <p:spPr>
          <a:xfrm>
            <a:off x="548640" y="5413248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text-203"/>
          <p:cNvSpPr txBox="1"/>
          <p:nvPr/>
        </p:nvSpPr>
        <p:spPr>
          <a:xfrm>
            <a:off x="548640" y="5413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-204"/>
          <p:cNvSpPr txBox="1"/>
          <p:nvPr/>
        </p:nvSpPr>
        <p:spPr>
          <a:xfrm>
            <a:off x="960120" y="5376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각 폰이 자기 자리에서 시작 신호음을 울립니다</a:t>
            </a:r>
            <a:endParaRPr lang="en-US" sz="1300" dirty="0"/>
          </a:p>
        </p:txBody>
      </p:sp>
      <p:sp>
        <p:nvSpPr>
          <p:cNvPr id="33" name="num-205"/>
          <p:cNvSpPr/>
          <p:nvPr/>
        </p:nvSpPr>
        <p:spPr>
          <a:xfrm>
            <a:off x="548640" y="5797296"/>
            <a:ext cx="292608" cy="29260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ext-206"/>
          <p:cNvSpPr txBox="1"/>
          <p:nvPr/>
        </p:nvSpPr>
        <p:spPr>
          <a:xfrm>
            <a:off x="548640" y="5797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-207"/>
          <p:cNvSpPr txBox="1"/>
          <p:nvPr/>
        </p:nvSpPr>
        <p:spPr>
          <a:xfrm>
            <a:off x="960120" y="5760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서버가 신호음을 기준으로 맞춰 합칩니다</a:t>
            </a:r>
            <a:endParaRPr lang="en-US" sz="1300" dirty="0"/>
          </a:p>
        </p:txBody>
      </p:sp>
      <p:sp>
        <p:nvSpPr>
          <p:cNvPr id="36" name="card-208"/>
          <p:cNvSpPr/>
          <p:nvPr/>
        </p:nvSpPr>
        <p:spPr>
          <a:xfrm>
            <a:off x="7269480" y="1783080"/>
            <a:ext cx="4373575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/>
        </p:spPr>
      </p:sp>
      <p:sp>
        <p:nvSpPr>
          <p:cNvPr id="37" name="text-209"/>
          <p:cNvSpPr txBox="1"/>
          <p:nvPr/>
        </p:nvSpPr>
        <p:spPr>
          <a:xfrm>
            <a:off x="7543800" y="1965960"/>
            <a:ext cx="3824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이렇게 쓰면 좋은 점</a:t>
            </a:r>
            <a:endParaRPr lang="en-US" sz="1500" dirty="0"/>
          </a:p>
        </p:txBody>
      </p:sp>
      <p:sp>
        <p:nvSpPr>
          <p:cNvPr id="38" name="text-210"/>
          <p:cNvSpPr txBox="1"/>
          <p:nvPr/>
        </p:nvSpPr>
        <p:spPr>
          <a:xfrm>
            <a:off x="7543800" y="2331720"/>
            <a:ext cx="38249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소리가 겹치지 않습니다. 서울 폰에는 서울 목소리만 들어갑니다.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말하는 사람 구분이 정확합니다.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장소마다 1명이면 자연스럽게 1인 1폰이 됩니다.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한 장소에 여러 명이면 그 장소는 테이블 길이 공식을 따릅니다. 1대면 휴대폰 1대입니다.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모든 장소를 합쳐 최대 5대입니다.</a:t>
            </a:r>
            <a:endParaRPr lang="en-US" sz="1200" dirty="0"/>
          </a:p>
        </p:txBody>
      </p:sp>
      <p:sp>
        <p:nvSpPr>
          <p:cNvPr id="39" name="card-211"/>
          <p:cNvSpPr/>
          <p:nvPr/>
        </p:nvSpPr>
        <p:spPr>
          <a:xfrm>
            <a:off x="7269480" y="4069080"/>
            <a:ext cx="4373575" cy="2103120"/>
          </a:xfrm>
          <a:prstGeom prst="roundRect">
            <a:avLst>
              <a:gd name="adj" fmla="val 5217"/>
            </a:avLst>
          </a:prstGeom>
          <a:solidFill>
            <a:srgbClr val="FEE2E2"/>
          </a:solidFill>
          <a:ln/>
        </p:spPr>
      </p:sp>
      <p:sp>
        <p:nvSpPr>
          <p:cNvPr id="40" name="iconbg-212"/>
          <p:cNvSpPr/>
          <p:nvPr/>
        </p:nvSpPr>
        <p:spPr>
          <a:xfrm>
            <a:off x="7543800" y="4297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con-21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4411980"/>
            <a:ext cx="228600" cy="228600"/>
          </a:xfrm>
          <a:prstGeom prst="rect">
            <a:avLst/>
          </a:prstGeom>
        </p:spPr>
      </p:pic>
      <p:sp>
        <p:nvSpPr>
          <p:cNvPr id="42" name="text-214"/>
          <p:cNvSpPr txBox="1"/>
          <p:nvPr/>
        </p:nvSpPr>
        <p:spPr>
          <a:xfrm>
            <a:off x="8138160" y="4297680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원격 회의 소리는 이어폰으로</a:t>
            </a:r>
            <a:endParaRPr lang="en-US" sz="1500" dirty="0"/>
          </a:p>
        </p:txBody>
      </p:sp>
      <p:sp>
        <p:nvSpPr>
          <p:cNvPr id="43" name="text-215"/>
          <p:cNvSpPr txBox="1"/>
          <p:nvPr/>
        </p:nvSpPr>
        <p:spPr>
          <a:xfrm>
            <a:off x="7543800" y="4846320"/>
            <a:ext cx="38249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스피커로 들으면 그 소리가 다른 폰에 다시 녹음되어 겹칩니다.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녹음하는 휴대폰으로 원격 회의 통화를 하지 마세요. 통화 중에는 그 폰이 묵음으로 녹음됩니다. 회의 참여는 다른 기기로 해 주세요.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그룹녹음 전 체크리스트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시작 전에 7가지만 확인해 주세요</a:t>
            </a:r>
            <a:endParaRPr lang="en-US" sz="1600" dirty="0"/>
          </a:p>
        </p:txBody>
      </p:sp>
      <p:sp>
        <p:nvSpPr>
          <p:cNvPr id="4" name="card-216"/>
          <p:cNvSpPr/>
          <p:nvPr/>
        </p:nvSpPr>
        <p:spPr>
          <a:xfrm>
            <a:off x="548640" y="1783080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checkbox-217"/>
          <p:cNvSpPr/>
          <p:nvPr/>
        </p:nvSpPr>
        <p:spPr>
          <a:xfrm>
            <a:off x="777240" y="205740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6" name="text-218"/>
          <p:cNvSpPr txBox="1"/>
          <p:nvPr/>
        </p:nvSpPr>
        <p:spPr>
          <a:xfrm>
            <a:off x="1371600" y="1856232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폰끼리 2m 이상 떨어져 있나요?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2m 안에 있으면 한 대는 꺼 주세요.</a:t>
            </a:r>
            <a:endParaRPr lang="en-US" sz="1400" dirty="0"/>
          </a:p>
        </p:txBody>
      </p:sp>
      <p:pic>
        <p:nvPicPr>
          <p:cNvPr id="7" name="icon-2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2029968"/>
            <a:ext cx="411480" cy="411480"/>
          </a:xfrm>
          <a:prstGeom prst="rect">
            <a:avLst/>
          </a:prstGeom>
        </p:spPr>
      </p:pic>
      <p:sp>
        <p:nvSpPr>
          <p:cNvPr id="8" name="card-220"/>
          <p:cNvSpPr/>
          <p:nvPr/>
        </p:nvSpPr>
        <p:spPr>
          <a:xfrm>
            <a:off x="548640" y="2816352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checkbox-221"/>
          <p:cNvSpPr/>
          <p:nvPr/>
        </p:nvSpPr>
        <p:spPr>
          <a:xfrm>
            <a:off x="777240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0" name="text-222"/>
          <p:cNvSpPr txBox="1"/>
          <p:nvPr/>
        </p:nvSpPr>
        <p:spPr>
          <a:xfrm>
            <a:off x="1371600" y="2889504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전체 폰 수가 5대 이하인가요?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여러 장소를 합친 수입니다.</a:t>
            </a:r>
            <a:endParaRPr lang="en-US" sz="1400" dirty="0"/>
          </a:p>
        </p:txBody>
      </p:sp>
      <p:pic>
        <p:nvPicPr>
          <p:cNvPr id="11" name="icon-2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8" y="3063240"/>
            <a:ext cx="411480" cy="411480"/>
          </a:xfrm>
          <a:prstGeom prst="rect">
            <a:avLst/>
          </a:prstGeom>
        </p:spPr>
      </p:pic>
      <p:sp>
        <p:nvSpPr>
          <p:cNvPr id="12" name="card-224"/>
          <p:cNvSpPr/>
          <p:nvPr/>
        </p:nvSpPr>
        <p:spPr>
          <a:xfrm>
            <a:off x="548640" y="3849624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checkbox-225"/>
          <p:cNvSpPr/>
          <p:nvPr/>
        </p:nvSpPr>
        <p:spPr>
          <a:xfrm>
            <a:off x="777240" y="412394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-226"/>
          <p:cNvSpPr txBox="1"/>
          <p:nvPr/>
        </p:nvSpPr>
        <p:spPr>
          <a:xfrm>
            <a:off x="1371600" y="3922776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회의가 1시간 안에 끝나나요?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1시간이 넘으면 일반녹음을 권장합니다.</a:t>
            </a:r>
            <a:endParaRPr lang="en-US" sz="1400" dirty="0"/>
          </a:p>
        </p:txBody>
      </p:sp>
      <p:pic>
        <p:nvPicPr>
          <p:cNvPr id="15" name="icon-2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4096512"/>
            <a:ext cx="411480" cy="411480"/>
          </a:xfrm>
          <a:prstGeom prst="rect">
            <a:avLst/>
          </a:prstGeom>
        </p:spPr>
      </p:pic>
      <p:sp>
        <p:nvSpPr>
          <p:cNvPr id="16" name="card-228"/>
          <p:cNvSpPr/>
          <p:nvPr/>
        </p:nvSpPr>
        <p:spPr>
          <a:xfrm>
            <a:off x="548640" y="4882896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checkbox-229"/>
          <p:cNvSpPr/>
          <p:nvPr/>
        </p:nvSpPr>
        <p:spPr>
          <a:xfrm>
            <a:off x="777240" y="5157216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-230"/>
          <p:cNvSpPr txBox="1"/>
          <p:nvPr/>
        </p:nvSpPr>
        <p:spPr>
          <a:xfrm>
            <a:off x="1371600" y="4956048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참여자가 모두 대기실에 들어왔나요?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녹음이 시작되면 중간에 참여할 수 없습니다.</a:t>
            </a:r>
            <a:endParaRPr lang="en-US" sz="1400" dirty="0"/>
          </a:p>
        </p:txBody>
      </p:sp>
      <p:pic>
        <p:nvPicPr>
          <p:cNvPr id="19" name="icon-23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608" y="5129784"/>
            <a:ext cx="411480" cy="411480"/>
          </a:xfrm>
          <a:prstGeom prst="rect">
            <a:avLst/>
          </a:prstGeom>
        </p:spPr>
      </p:pic>
      <p:sp>
        <p:nvSpPr>
          <p:cNvPr id="20" name="card-232"/>
          <p:cNvSpPr/>
          <p:nvPr/>
        </p:nvSpPr>
        <p:spPr>
          <a:xfrm>
            <a:off x="6233008" y="1783080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checkbox-233"/>
          <p:cNvSpPr/>
          <p:nvPr/>
        </p:nvSpPr>
        <p:spPr>
          <a:xfrm>
            <a:off x="6461608" y="205740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22" name="text-234"/>
          <p:cNvSpPr txBox="1"/>
          <p:nvPr/>
        </p:nvSpPr>
        <p:spPr>
          <a:xfrm>
            <a:off x="7055968" y="1856232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충전은 충분하고 방해금지 모드가 켜져 있나요?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알림 소리와 중단을 줄여 줍니다.</a:t>
            </a:r>
            <a:endParaRPr lang="en-US" sz="1400" dirty="0"/>
          </a:p>
        </p:txBody>
      </p:sp>
      <p:pic>
        <p:nvPicPr>
          <p:cNvPr id="23" name="icon-2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029968"/>
            <a:ext cx="411480" cy="411480"/>
          </a:xfrm>
          <a:prstGeom prst="rect">
            <a:avLst/>
          </a:prstGeom>
        </p:spPr>
      </p:pic>
      <p:sp>
        <p:nvSpPr>
          <p:cNvPr id="24" name="card-236"/>
          <p:cNvSpPr/>
          <p:nvPr/>
        </p:nvSpPr>
        <p:spPr>
          <a:xfrm>
            <a:off x="6233008" y="2816352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checkbox-237"/>
          <p:cNvSpPr/>
          <p:nvPr/>
        </p:nvSpPr>
        <p:spPr>
          <a:xfrm>
            <a:off x="6461608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26" name="text-238"/>
          <p:cNvSpPr txBox="1"/>
          <p:nvPr/>
        </p:nvSpPr>
        <p:spPr>
          <a:xfrm>
            <a:off x="7055968" y="2889504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폰이 말하는 사람 쪽을 향하나요?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노트북 팬이나 프로젝터 옆은 피해 주세요.</a:t>
            </a:r>
            <a:endParaRPr lang="en-US" sz="1400" dirty="0"/>
          </a:p>
        </p:txBody>
      </p:sp>
      <p:pic>
        <p:nvPicPr>
          <p:cNvPr id="27" name="icon-23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2975" y="3063240"/>
            <a:ext cx="411480" cy="411480"/>
          </a:xfrm>
          <a:prstGeom prst="rect">
            <a:avLst/>
          </a:prstGeom>
        </p:spPr>
      </p:pic>
      <p:sp>
        <p:nvSpPr>
          <p:cNvPr id="28" name="card-240"/>
          <p:cNvSpPr/>
          <p:nvPr/>
        </p:nvSpPr>
        <p:spPr>
          <a:xfrm>
            <a:off x="6233008" y="3849624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9" name="checkbox-241"/>
          <p:cNvSpPr/>
          <p:nvPr/>
        </p:nvSpPr>
        <p:spPr>
          <a:xfrm>
            <a:off x="6461608" y="412394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30" name="text-242"/>
          <p:cNvSpPr txBox="1"/>
          <p:nvPr/>
        </p:nvSpPr>
        <p:spPr>
          <a:xfrm>
            <a:off x="7055968" y="3922776"/>
            <a:ext cx="3809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스피커로 나오는 소리가 없나요?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원격 회의는 이어폰으로, 통화는 다른 기기로.</a:t>
            </a:r>
            <a:endParaRPr lang="en-US" sz="1400" dirty="0"/>
          </a:p>
        </p:txBody>
      </p:sp>
      <p:pic>
        <p:nvPicPr>
          <p:cNvPr id="31" name="icon-24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2975" y="4096512"/>
            <a:ext cx="411480" cy="411480"/>
          </a:xfrm>
          <a:prstGeom prst="rect">
            <a:avLst/>
          </a:prstGeom>
        </p:spPr>
      </p:pic>
      <p:sp>
        <p:nvSpPr>
          <p:cNvPr id="32" name="card-244"/>
          <p:cNvSpPr/>
          <p:nvPr/>
        </p:nvSpPr>
        <p:spPr>
          <a:xfrm>
            <a:off x="6233008" y="4882896"/>
            <a:ext cx="5410048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33" name="text-245"/>
          <p:cNvSpPr txBox="1"/>
          <p:nvPr/>
        </p:nvSpPr>
        <p:spPr>
          <a:xfrm>
            <a:off x="6507328" y="4956048"/>
            <a:ext cx="4861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확정 전 시험 녹음 예정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중회의실·대회의실 각 1곳. 2m 간격과 ÷2 공식은 일반 휴대폰 기준 계산값입니다.</a:t>
            </a:r>
            <a:endParaRPr lang="en-US" sz="1400" dirty="0"/>
          </a:p>
        </p:txBody>
      </p:sp>
      <p:sp>
        <p:nvSpPr>
          <p:cNvPr id="34" name="text-246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본 자료는 권장 사용 방법 제안입니다. 실제 녹음 방식은 회의 환경에 맞게 선택해 주세요.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mbel Recording Guide">
  <a:themeElements>
    <a:clrScheme name="Timbel Recording Guide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DBEAFE"/>
      </a:accent2>
      <a:accent3>
        <a:srgbClr val="94A3B8"/>
      </a:accent3>
      <a:accent4>
        <a:srgbClr val="DC2626"/>
      </a:accent4>
      <a:accent5>
        <a:srgbClr val="15803D"/>
      </a:accent5>
      <a:accent6>
        <a:srgbClr val="DCFCE7"/>
      </a:accent6>
      <a:hlink>
        <a:srgbClr val="2563EB"/>
      </a:hlink>
      <a:folHlink>
        <a:srgbClr val="2563EB"/>
      </a:folHlink>
    </a:clrScheme>
    <a:fontScheme name="Timbel Recording Guide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Timbel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회의 녹음 방식 사용 제안</dc:title>
  <dc:subject>PptxGenJS Presentation</dc:subject>
  <dc:creator>Timbel</dc:creator>
  <cp:lastModifiedBy>Timbel</cp:lastModifiedBy>
  <cp:revision>1</cp:revision>
  <dcterms:created xsi:type="dcterms:W3CDTF">2026-10-29T11:01:24Z</dcterms:created>
  <dcterms:modified xsi:type="dcterms:W3CDTF">2026-10-29T11:01:24Z</dcterms:modified>
</cp:coreProperties>
</file>