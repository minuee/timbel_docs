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하기" id="{1ea1d43f-2050-712b-e1a3-bd641c7ff3e8}">
          <p14:sldIdLst>
            <p14:sldId id="256"/>
            <p14:sldId id="257"/>
            <p14:sldId id="258"/>
            <p14:sldId id="259"/>
          </p14:sldIdLst>
        </p14:section>
        <p14:section name="단독 녹음" id="{804bc740-8071-0c18-b8e3-25bf7a913230}">
          <p14:sldIdLst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그룹 녹음" id="{0c2f7f54-709f-7b3a-2aed-694a480e5814}">
          <p14:sldIdLst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</p14:sldIdLst>
        </p14:section>
        <p14:section name="예외 상황·FAQ" id="{7d5e2efa-743e-6010-5388-953ccdd610b3}">
          <p14:sldIdLst>
            <p14:sldId id="276"/>
            <p14:sldId id="277"/>
            <p14:sldId id="278"/>
            <p14:sldId id="279"/>
            <p14:sldId id="280"/>
            <p14:sldId id="28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514600"/>
            <a:ext cx="676656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제목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840480"/>
            <a:ext cx="676656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부제</a:t>
            </a:r>
            <a:endParaRPr lang="en-US" sz="1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5806440"/>
            <a:ext cx="676656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작성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148840"/>
            <a:ext cx="64008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r>
              <a:rPr lang="en-US" sz="2800" b="1" dirty="0">
                <a:solidFill>
                  <a:schemeClr val="accent3"/>
                </a:solidFill>
              </a:rPr>
              <a:t>01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743200"/>
            <a:ext cx="69494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섹션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794760"/>
            <a:ext cx="694944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설명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제목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97280"/>
            <a:ext cx="11094415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부제</a:t>
            </a:r>
            <a:endParaRPr lang="en-US" sz="1600" dirty="0"/>
          </a:p>
        </p:txBody>
      </p:sp>
      <p:sp>
        <p:nvSpPr>
          <p:cNvPr id="4" name="Text 0"/>
          <p:cNvSpPr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Timbel  ·  AI 회의록 녹음 기능 안내서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aimeeting.skhynix.com/" TargetMode="External"/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4" Type="http://schemas.openxmlformats.org/officeDocument/2006/relationships/image" Target="../media/image-2-3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aimeeting.skhynix.com/" TargetMode="External"/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4" Type="http://schemas.openxmlformats.org/officeDocument/2006/relationships/image" Target="../media/image-11-3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image" Target="../media/image-23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hyperlink" Target="https://aimeeting.skhynix.com/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514600"/>
            <a:ext cx="6766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AI 회의록 녹음 기능 안내서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84048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녹음 버튼부터 회의록 완성까지  ·  단독 녹음  ·  그룹 녹음</a:t>
            </a:r>
            <a:endParaRPr lang="en-US" sz="1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580644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Timbel   |   2026. 10</a:t>
            </a:r>
            <a:endParaRPr lang="en-US" sz="1200" dirty="0"/>
          </a:p>
        </p:txBody>
      </p:sp>
      <p:sp>
        <p:nvSpPr>
          <p:cNvPr id="5" name="wave-1"/>
          <p:cNvSpPr/>
          <p:nvPr/>
        </p:nvSpPr>
        <p:spPr>
          <a:xfrm>
            <a:off x="7818120" y="3246120"/>
            <a:ext cx="109728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6" name="wave-2"/>
          <p:cNvSpPr/>
          <p:nvPr/>
        </p:nvSpPr>
        <p:spPr>
          <a:xfrm>
            <a:off x="8037576" y="3086100"/>
            <a:ext cx="109728" cy="685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7" name="wave-3"/>
          <p:cNvSpPr/>
          <p:nvPr/>
        </p:nvSpPr>
        <p:spPr>
          <a:xfrm>
            <a:off x="8257032" y="2880360"/>
            <a:ext cx="109728" cy="109728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8" name="wave-4"/>
          <p:cNvSpPr/>
          <p:nvPr/>
        </p:nvSpPr>
        <p:spPr>
          <a:xfrm>
            <a:off x="8476488" y="3017520"/>
            <a:ext cx="109728" cy="8229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9" name="wave-5"/>
          <p:cNvSpPr/>
          <p:nvPr/>
        </p:nvSpPr>
        <p:spPr>
          <a:xfrm>
            <a:off x="8695944" y="2674620"/>
            <a:ext cx="109728" cy="1508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0" name="wave-6"/>
          <p:cNvSpPr/>
          <p:nvPr/>
        </p:nvSpPr>
        <p:spPr>
          <a:xfrm>
            <a:off x="8915400" y="2377440"/>
            <a:ext cx="109728" cy="210312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11" name="wave-7"/>
          <p:cNvSpPr/>
          <p:nvPr/>
        </p:nvSpPr>
        <p:spPr>
          <a:xfrm>
            <a:off x="9134856" y="2766060"/>
            <a:ext cx="109728" cy="132588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12" name="wave-8"/>
          <p:cNvSpPr/>
          <p:nvPr/>
        </p:nvSpPr>
        <p:spPr>
          <a:xfrm>
            <a:off x="9354312" y="2994660"/>
            <a:ext cx="109728" cy="86868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3" name="wave-9"/>
          <p:cNvSpPr/>
          <p:nvPr/>
        </p:nvSpPr>
        <p:spPr>
          <a:xfrm>
            <a:off x="9573768" y="2514600"/>
            <a:ext cx="109728" cy="1828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4" name="wave-10"/>
          <p:cNvSpPr/>
          <p:nvPr/>
        </p:nvSpPr>
        <p:spPr>
          <a:xfrm>
            <a:off x="9793224" y="2217420"/>
            <a:ext cx="109728" cy="24231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15" name="wave-11"/>
          <p:cNvSpPr/>
          <p:nvPr/>
        </p:nvSpPr>
        <p:spPr>
          <a:xfrm>
            <a:off x="10012680" y="2606040"/>
            <a:ext cx="109728" cy="16459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6" name="wave-12"/>
          <p:cNvSpPr/>
          <p:nvPr/>
        </p:nvSpPr>
        <p:spPr>
          <a:xfrm>
            <a:off x="10232136" y="2880360"/>
            <a:ext cx="109728" cy="109728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7" name="wave-13"/>
          <p:cNvSpPr/>
          <p:nvPr/>
        </p:nvSpPr>
        <p:spPr>
          <a:xfrm>
            <a:off x="10451592" y="2423160"/>
            <a:ext cx="109728" cy="201168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18" name="wave-14"/>
          <p:cNvSpPr/>
          <p:nvPr/>
        </p:nvSpPr>
        <p:spPr>
          <a:xfrm>
            <a:off x="10671048" y="2743200"/>
            <a:ext cx="109728" cy="1371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9" name="wave-15"/>
          <p:cNvSpPr/>
          <p:nvPr/>
        </p:nvSpPr>
        <p:spPr>
          <a:xfrm>
            <a:off x="10890504" y="2994660"/>
            <a:ext cx="109728" cy="86868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0" name="wave-16"/>
          <p:cNvSpPr/>
          <p:nvPr/>
        </p:nvSpPr>
        <p:spPr>
          <a:xfrm>
            <a:off x="11109960" y="2834640"/>
            <a:ext cx="109728" cy="118872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21" name="wave-17"/>
          <p:cNvSpPr/>
          <p:nvPr/>
        </p:nvSpPr>
        <p:spPr>
          <a:xfrm>
            <a:off x="11329416" y="3086100"/>
            <a:ext cx="109728" cy="685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2" name="wave-18"/>
          <p:cNvSpPr/>
          <p:nvPr/>
        </p:nvSpPr>
        <p:spPr>
          <a:xfrm>
            <a:off x="11548872" y="3246120"/>
            <a:ext cx="109728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3" name="chip-19"/>
          <p:cNvSpPr/>
          <p:nvPr/>
        </p:nvSpPr>
        <p:spPr>
          <a:xfrm>
            <a:off x="8961120" y="1691640"/>
            <a:ext cx="1554480" cy="38404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24" name="text-20"/>
          <p:cNvSpPr txBox="1"/>
          <p:nvPr/>
        </p:nvSpPr>
        <p:spPr>
          <a:xfrm>
            <a:off x="8961120" y="169164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● REC  00:12:34</a:t>
            </a:r>
            <a:endParaRPr lang="en-US" sz="1300" dirty="0"/>
          </a:p>
        </p:txBody>
      </p:sp>
      <p:sp>
        <p:nvSpPr>
          <p:cNvPr id="25" name="chip-21"/>
          <p:cNvSpPr/>
          <p:nvPr/>
        </p:nvSpPr>
        <p:spPr>
          <a:xfrm>
            <a:off x="10104120" y="4846320"/>
            <a:ext cx="1554480" cy="38404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26" name="text-22"/>
          <p:cNvSpPr txBox="1"/>
          <p:nvPr/>
        </p:nvSpPr>
        <p:spPr>
          <a:xfrm>
            <a:off x="10104120" y="484632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그룹 코드  A7K2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시작 전에 알아두세요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9728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녹음은 모바일 앱에서, 회의록 확인은 PC에서 합니다</a:t>
            </a:r>
            <a:endParaRPr lang="en-US" sz="1600" dirty="0"/>
          </a:p>
        </p:txBody>
      </p:sp>
      <p:sp>
        <p:nvSpPr>
          <p:cNvPr id="4" name="card-23"/>
          <p:cNvSpPr/>
          <p:nvPr/>
        </p:nvSpPr>
        <p:spPr>
          <a:xfrm>
            <a:off x="548640" y="1783080"/>
            <a:ext cx="3515258" cy="4343400"/>
          </a:xfrm>
          <a:prstGeom prst="roundRect">
            <a:avLst>
              <a:gd name="adj" fmla="val 3121"/>
            </a:avLst>
          </a:prstGeom>
          <a:solidFill>
            <a:schemeClr val="bg2"/>
          </a:solidFill>
          <a:ln/>
        </p:spPr>
      </p:sp>
      <p:sp>
        <p:nvSpPr>
          <p:cNvPr id="5" name="iconbg-24"/>
          <p:cNvSpPr/>
          <p:nvPr/>
        </p:nvSpPr>
        <p:spPr>
          <a:xfrm>
            <a:off x="914400" y="219456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con-25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140" y="2400300"/>
            <a:ext cx="411480" cy="411480"/>
          </a:xfrm>
          <a:prstGeom prst="rect">
            <a:avLst/>
          </a:prstGeom>
        </p:spPr>
      </p:pic>
      <p:sp>
        <p:nvSpPr>
          <p:cNvPr id="7" name="text-26"/>
          <p:cNvSpPr txBox="1"/>
          <p:nvPr/>
        </p:nvSpPr>
        <p:spPr>
          <a:xfrm>
            <a:off x="914400" y="3291840"/>
            <a:ext cx="27837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모바일 앱에서 녹음</a:t>
            </a:r>
            <a:endParaRPr lang="en-US" sz="2000" dirty="0"/>
          </a:p>
        </p:txBody>
      </p:sp>
      <p:sp>
        <p:nvSpPr>
          <p:cNvPr id="8" name="text-27"/>
          <p:cNvSpPr txBox="1"/>
          <p:nvPr/>
        </p:nvSpPr>
        <p:spPr>
          <a:xfrm>
            <a:off x="914400" y="3840480"/>
            <a:ext cx="278373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chemeClr val="tx2"/>
                </a:solidFill>
              </a:rPr>
              <a:t>앱에서 녹음과 업로드를 하고, 회의록이 완성되면 앱 알림함으로 알림을 받습니다.</a:t>
            </a:r>
            <a:endParaRPr lang="en-US" sz="1500" dirty="0"/>
          </a:p>
        </p:txBody>
      </p:sp>
      <p:sp>
        <p:nvSpPr>
          <p:cNvPr id="9" name="card-28"/>
          <p:cNvSpPr/>
          <p:nvPr/>
        </p:nvSpPr>
        <p:spPr>
          <a:xfrm>
            <a:off x="4338218" y="1783080"/>
            <a:ext cx="3515258" cy="4343400"/>
          </a:xfrm>
          <a:prstGeom prst="roundRect">
            <a:avLst>
              <a:gd name="adj" fmla="val 3121"/>
            </a:avLst>
          </a:prstGeom>
          <a:solidFill>
            <a:schemeClr val="bg2"/>
          </a:solidFill>
          <a:ln/>
        </p:spPr>
      </p:sp>
      <p:sp>
        <p:nvSpPr>
          <p:cNvPr id="10" name="iconbg-29"/>
          <p:cNvSpPr/>
          <p:nvPr/>
        </p:nvSpPr>
        <p:spPr>
          <a:xfrm>
            <a:off x="4703978" y="219456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-3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9718" y="2400300"/>
            <a:ext cx="411480" cy="411480"/>
          </a:xfrm>
          <a:prstGeom prst="rect">
            <a:avLst/>
          </a:prstGeom>
        </p:spPr>
      </p:pic>
      <p:sp>
        <p:nvSpPr>
          <p:cNvPr id="12" name="text-31"/>
          <p:cNvSpPr txBox="1"/>
          <p:nvPr/>
        </p:nvSpPr>
        <p:spPr>
          <a:xfrm>
            <a:off x="4703978" y="3291840"/>
            <a:ext cx="27837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PC에서 회의록 확인</a:t>
            </a:r>
            <a:endParaRPr lang="en-US" sz="2000" dirty="0"/>
          </a:p>
        </p:txBody>
      </p:sp>
      <p:sp>
        <p:nvSpPr>
          <p:cNvPr id="13" name="text-32"/>
          <p:cNvSpPr txBox="1"/>
          <p:nvPr/>
        </p:nvSpPr>
        <p:spPr>
          <a:xfrm>
            <a:off x="4703978" y="3840480"/>
            <a:ext cx="278373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chemeClr val="tx2"/>
                </a:solidFill>
              </a:rPr>
              <a:t>완성된 회의록은 PC에서 AI회의록 시스템에 접속해 확인합니다.</a:t>
            </a:r>
            <a:endParaRPr lang="en-US" sz="1500" dirty="0"/>
          </a:p>
        </p:txBody>
      </p:sp>
      <p:sp>
        <p:nvSpPr>
          <p:cNvPr id="14" name="chip-33"/>
          <p:cNvSpPr/>
          <p:nvPr/>
        </p:nvSpPr>
        <p:spPr>
          <a:xfrm>
            <a:off x="4703978" y="5212080"/>
            <a:ext cx="2783738" cy="5029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</p:sp>
      <p:sp>
        <p:nvSpPr>
          <p:cNvPr id="15" name="text-34"/>
          <p:cNvSpPr txBox="1"/>
          <p:nvPr/>
        </p:nvSpPr>
        <p:spPr>
          <a:xfrm>
            <a:off x="4703978" y="5212080"/>
            <a:ext cx="27837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16" name="text-35"/>
          <p:cNvSpPr txBox="1"/>
          <p:nvPr/>
        </p:nvSpPr>
        <p:spPr>
          <a:xfrm>
            <a:off x="4703978" y="5212080"/>
            <a:ext cx="27837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u="sng" dirty="0">
                <a:solidFill>
                  <a:schemeClr val="accent1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aimeeting.skhynix.com</a:t>
            </a:r>
            <a:endParaRPr lang="en-US" sz="1500" dirty="0"/>
          </a:p>
        </p:txBody>
      </p:sp>
      <p:sp>
        <p:nvSpPr>
          <p:cNvPr id="17" name="card-36"/>
          <p:cNvSpPr/>
          <p:nvPr/>
        </p:nvSpPr>
        <p:spPr>
          <a:xfrm>
            <a:off x="8127797" y="1783080"/>
            <a:ext cx="3515258" cy="4343400"/>
          </a:xfrm>
          <a:prstGeom prst="roundRect">
            <a:avLst>
              <a:gd name="adj" fmla="val 3121"/>
            </a:avLst>
          </a:prstGeom>
          <a:solidFill>
            <a:schemeClr val="accent6"/>
          </a:solidFill>
          <a:ln/>
        </p:spPr>
      </p:sp>
      <p:sp>
        <p:nvSpPr>
          <p:cNvPr id="18" name="iconbg-37"/>
          <p:cNvSpPr/>
          <p:nvPr/>
        </p:nvSpPr>
        <p:spPr>
          <a:xfrm>
            <a:off x="8493557" y="2194560"/>
            <a:ext cx="822960" cy="82296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9" name="icon-38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99297" y="2400300"/>
            <a:ext cx="411480" cy="411480"/>
          </a:xfrm>
          <a:prstGeom prst="rect">
            <a:avLst/>
          </a:prstGeom>
        </p:spPr>
      </p:pic>
      <p:sp>
        <p:nvSpPr>
          <p:cNvPr id="20" name="text-39"/>
          <p:cNvSpPr txBox="1"/>
          <p:nvPr/>
        </p:nvSpPr>
        <p:spPr>
          <a:xfrm>
            <a:off x="8493557" y="3291840"/>
            <a:ext cx="27837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관리자에게 메일 발송</a:t>
            </a:r>
            <a:endParaRPr lang="en-US" sz="2000" dirty="0"/>
          </a:p>
        </p:txBody>
      </p:sp>
      <p:sp>
        <p:nvSpPr>
          <p:cNvPr id="21" name="text-40"/>
          <p:cNvSpPr txBox="1"/>
          <p:nvPr/>
        </p:nvSpPr>
        <p:spPr>
          <a:xfrm>
            <a:off x="8493557" y="3840480"/>
            <a:ext cx="278373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chemeClr val="tx2"/>
                </a:solidFill>
              </a:rPr>
              <a:t>녹음을 시작하면 관리자에게 메일이 발송됩니다. 회의 시작 전, 참석자에게 녹음 동의를 받아 주세요.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녹음 방식은 두 가지입니다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9728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홈 화면 가운데 [녹음] 버튼을 누르면 녹음 방식을 고를 수 있습니다</a:t>
            </a:r>
            <a:endParaRPr lang="en-US" sz="1600" dirty="0"/>
          </a:p>
        </p:txBody>
      </p:sp>
      <p:sp>
        <p:nvSpPr>
          <p:cNvPr id="4" name="card-41"/>
          <p:cNvSpPr/>
          <p:nvPr/>
        </p:nvSpPr>
        <p:spPr>
          <a:xfrm>
            <a:off x="548640" y="1783080"/>
            <a:ext cx="4069080" cy="4343400"/>
          </a:xfrm>
          <a:prstGeom prst="roundRect">
            <a:avLst>
              <a:gd name="adj" fmla="val 2697"/>
            </a:avLst>
          </a:prstGeom>
          <a:solidFill>
            <a:schemeClr val="bg2"/>
          </a:solidFill>
          <a:ln/>
        </p:spPr>
      </p:sp>
      <p:sp>
        <p:nvSpPr>
          <p:cNvPr id="5" name="chip-42"/>
          <p:cNvSpPr/>
          <p:nvPr/>
        </p:nvSpPr>
        <p:spPr>
          <a:xfrm>
            <a:off x="868680" y="2057400"/>
            <a:ext cx="1463040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6" name="text-43"/>
          <p:cNvSpPr txBox="1"/>
          <p:nvPr/>
        </p:nvSpPr>
        <p:spPr>
          <a:xfrm>
            <a:off x="868680" y="20574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메뉴: 녹음</a:t>
            </a:r>
            <a:endParaRPr lang="en-US" sz="1100" dirty="0"/>
          </a:p>
        </p:txBody>
      </p:sp>
      <p:sp>
        <p:nvSpPr>
          <p:cNvPr id="7" name="text-44"/>
          <p:cNvSpPr txBox="1"/>
          <p:nvPr/>
        </p:nvSpPr>
        <p:spPr>
          <a:xfrm>
            <a:off x="868680" y="246888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단독 녹음</a:t>
            </a:r>
            <a:endParaRPr lang="en-US" sz="2200" dirty="0"/>
          </a:p>
        </p:txBody>
      </p:sp>
      <p:sp>
        <p:nvSpPr>
          <p:cNvPr id="8" name="text-45"/>
          <p:cNvSpPr txBox="1"/>
          <p:nvPr/>
        </p:nvSpPr>
        <p:spPr>
          <a:xfrm>
            <a:off x="868680" y="292608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휴대폰 1대로 회의를 녹음할 때</a:t>
            </a:r>
            <a:endParaRPr lang="en-US" sz="1300" dirty="0"/>
          </a:p>
        </p:txBody>
      </p:sp>
      <p:sp>
        <p:nvSpPr>
          <p:cNvPr id="9" name="text-46"/>
          <p:cNvSpPr txBox="1"/>
          <p:nvPr/>
        </p:nvSpPr>
        <p:spPr>
          <a:xfrm>
            <a:off x="868680" y="356616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1대</a:t>
            </a:r>
            <a:endParaRPr lang="en-US" sz="3000" dirty="0"/>
          </a:p>
        </p:txBody>
      </p:sp>
      <p:sp>
        <p:nvSpPr>
          <p:cNvPr id="10" name="text-47"/>
          <p:cNvSpPr txBox="1"/>
          <p:nvPr/>
        </p:nvSpPr>
        <p:spPr>
          <a:xfrm>
            <a:off x="868680" y="414223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참여 기기</a:t>
            </a:r>
            <a:endParaRPr lang="en-US" sz="1100" dirty="0"/>
          </a:p>
        </p:txBody>
      </p:sp>
      <p:sp>
        <p:nvSpPr>
          <p:cNvPr id="11" name="text-48"/>
          <p:cNvSpPr txBox="1"/>
          <p:nvPr/>
        </p:nvSpPr>
        <p:spPr>
          <a:xfrm>
            <a:off x="2697480" y="356616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3시간</a:t>
            </a:r>
            <a:endParaRPr lang="en-US" sz="3000" dirty="0"/>
          </a:p>
        </p:txBody>
      </p:sp>
      <p:sp>
        <p:nvSpPr>
          <p:cNvPr id="12" name="text-49"/>
          <p:cNvSpPr txBox="1"/>
          <p:nvPr/>
        </p:nvSpPr>
        <p:spPr>
          <a:xfrm>
            <a:off x="2697480" y="414223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최대 녹음 시간</a:t>
            </a:r>
            <a:endParaRPr lang="en-US" sz="1100" dirty="0"/>
          </a:p>
        </p:txBody>
      </p:sp>
      <p:sp>
        <p:nvSpPr>
          <p:cNvPr id="13" name="text-50"/>
          <p:cNvSpPr txBox="1"/>
          <p:nvPr/>
        </p:nvSpPr>
        <p:spPr>
          <a:xfrm>
            <a:off x="868680" y="4617720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녹음 조작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본인이 직접</a:t>
            </a:r>
            <a:endParaRPr lang="en-US" sz="1400" dirty="0"/>
          </a:p>
        </p:txBody>
      </p:sp>
      <p:sp>
        <p:nvSpPr>
          <p:cNvPr id="14" name="text-51"/>
          <p:cNvSpPr txBox="1"/>
          <p:nvPr/>
        </p:nvSpPr>
        <p:spPr>
          <a:xfrm>
            <a:off x="868680" y="530352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결과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내 회의록 1건</a:t>
            </a:r>
            <a:endParaRPr lang="en-US" sz="1400" dirty="0"/>
          </a:p>
        </p:txBody>
      </p:sp>
      <p:sp>
        <p:nvSpPr>
          <p:cNvPr id="15" name="card-52"/>
          <p:cNvSpPr/>
          <p:nvPr/>
        </p:nvSpPr>
        <p:spPr>
          <a:xfrm>
            <a:off x="4892040" y="1783080"/>
            <a:ext cx="4069080" cy="4343400"/>
          </a:xfrm>
          <a:prstGeom prst="roundRect">
            <a:avLst>
              <a:gd name="adj" fmla="val 2697"/>
            </a:avLst>
          </a:prstGeom>
          <a:solidFill>
            <a:schemeClr val="bg2"/>
          </a:solidFill>
          <a:ln/>
        </p:spPr>
      </p:sp>
      <p:sp>
        <p:nvSpPr>
          <p:cNvPr id="16" name="chip-53"/>
          <p:cNvSpPr/>
          <p:nvPr/>
        </p:nvSpPr>
        <p:spPr>
          <a:xfrm>
            <a:off x="5212080" y="2057400"/>
            <a:ext cx="1463040" cy="29260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</p:sp>
      <p:sp>
        <p:nvSpPr>
          <p:cNvPr id="17" name="text-54"/>
          <p:cNvSpPr txBox="1"/>
          <p:nvPr/>
        </p:nvSpPr>
        <p:spPr>
          <a:xfrm>
            <a:off x="5212080" y="20574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메뉴: 그룹 녹음</a:t>
            </a:r>
            <a:endParaRPr lang="en-US" sz="1100" dirty="0"/>
          </a:p>
        </p:txBody>
      </p:sp>
      <p:sp>
        <p:nvSpPr>
          <p:cNvPr id="18" name="text-55"/>
          <p:cNvSpPr txBox="1"/>
          <p:nvPr/>
        </p:nvSpPr>
        <p:spPr>
          <a:xfrm>
            <a:off x="5212080" y="246888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그룹 녹음</a:t>
            </a:r>
            <a:endParaRPr lang="en-US" sz="2200" dirty="0"/>
          </a:p>
        </p:txBody>
      </p:sp>
      <p:sp>
        <p:nvSpPr>
          <p:cNvPr id="19" name="text-56"/>
          <p:cNvSpPr txBox="1"/>
          <p:nvPr/>
        </p:nvSpPr>
        <p:spPr>
          <a:xfrm>
            <a:off x="5212080" y="292608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넓은 회의실 등에서 여러 대의 휴대폰을 자리마다 두고 함께 녹음할 때</a:t>
            </a:r>
            <a:endParaRPr lang="en-US" sz="1300" dirty="0"/>
          </a:p>
        </p:txBody>
      </p:sp>
      <p:sp>
        <p:nvSpPr>
          <p:cNvPr id="20" name="text-57"/>
          <p:cNvSpPr txBox="1"/>
          <p:nvPr/>
        </p:nvSpPr>
        <p:spPr>
          <a:xfrm>
            <a:off x="5212080" y="356616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최대 5대</a:t>
            </a:r>
            <a:endParaRPr lang="en-US" sz="3000" dirty="0"/>
          </a:p>
        </p:txBody>
      </p:sp>
      <p:sp>
        <p:nvSpPr>
          <p:cNvPr id="21" name="text-58"/>
          <p:cNvSpPr txBox="1"/>
          <p:nvPr/>
        </p:nvSpPr>
        <p:spPr>
          <a:xfrm>
            <a:off x="5212080" y="414223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참여 기기 (진행자 포함)</a:t>
            </a:r>
            <a:endParaRPr lang="en-US" sz="1100" dirty="0"/>
          </a:p>
        </p:txBody>
      </p:sp>
      <p:sp>
        <p:nvSpPr>
          <p:cNvPr id="22" name="text-59"/>
          <p:cNvSpPr txBox="1"/>
          <p:nvPr/>
        </p:nvSpPr>
        <p:spPr>
          <a:xfrm>
            <a:off x="7040880" y="356616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1시간</a:t>
            </a:r>
            <a:endParaRPr lang="en-US" sz="3000" dirty="0"/>
          </a:p>
        </p:txBody>
      </p:sp>
      <p:sp>
        <p:nvSpPr>
          <p:cNvPr id="23" name="text-60"/>
          <p:cNvSpPr txBox="1"/>
          <p:nvPr/>
        </p:nvSpPr>
        <p:spPr>
          <a:xfrm>
            <a:off x="7040880" y="414223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최대 녹음 시간</a:t>
            </a:r>
            <a:endParaRPr lang="en-US" sz="1100" dirty="0"/>
          </a:p>
        </p:txBody>
      </p:sp>
      <p:sp>
        <p:nvSpPr>
          <p:cNvPr id="24" name="text-61"/>
          <p:cNvSpPr txBox="1"/>
          <p:nvPr/>
        </p:nvSpPr>
        <p:spPr>
          <a:xfrm>
            <a:off x="5212080" y="4617720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녹음 조작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진행자(방장)가 시작, 일시정지, 종료를 모두 제어</a:t>
            </a:r>
            <a:endParaRPr lang="en-US" sz="1400" dirty="0"/>
          </a:p>
        </p:txBody>
      </p:sp>
      <p:sp>
        <p:nvSpPr>
          <p:cNvPr id="25" name="text-62"/>
          <p:cNvSpPr txBox="1"/>
          <p:nvPr/>
        </p:nvSpPr>
        <p:spPr>
          <a:xfrm>
            <a:off x="5212080" y="530352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결과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모든 기기의 음성을 합친 회의록이 참여자 각자의 회의록으로 생성</a:t>
            </a:r>
            <a:endParaRPr lang="en-US" sz="1400" dirty="0"/>
          </a:p>
        </p:txBody>
      </p:sp>
      <p:sp>
        <p:nvSpPr>
          <p:cNvPr id="26" name="phone-63"/>
          <p:cNvSpPr/>
          <p:nvPr/>
        </p:nvSpPr>
        <p:spPr>
          <a:xfrm>
            <a:off x="9508018" y="1719072"/>
            <a:ext cx="2135037" cy="4471416"/>
          </a:xfrm>
          <a:prstGeom prst="roundRect">
            <a:avLst>
              <a:gd name="adj" fmla="val 9422"/>
            </a:avLst>
          </a:prstGeom>
          <a:solidFill>
            <a:schemeClr val="tx1"/>
          </a:solidFill>
          <a:ln/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pic>
        <p:nvPicPr>
          <p:cNvPr id="27" name="screen-64" descr="녹음 방식 선택 메뉴 화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72026" y="1783080"/>
            <a:ext cx="2007021" cy="43434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녹음부터 회의록 완성까지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9728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단독 녹음 기준, 6단계로 진행됩니다</a:t>
            </a:r>
            <a:endParaRPr lang="en-US" sz="1600" dirty="0"/>
          </a:p>
        </p:txBody>
      </p:sp>
      <p:sp>
        <p:nvSpPr>
          <p:cNvPr id="4" name="chip-65"/>
          <p:cNvSpPr/>
          <p:nvPr/>
        </p:nvSpPr>
        <p:spPr>
          <a:xfrm>
            <a:off x="548640" y="1783080"/>
            <a:ext cx="1371600" cy="29260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</p:sp>
      <p:sp>
        <p:nvSpPr>
          <p:cNvPr id="5" name="text-66"/>
          <p:cNvSpPr txBox="1"/>
          <p:nvPr/>
        </p:nvSpPr>
        <p:spPr>
          <a:xfrm>
            <a:off x="548640" y="178308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내가 하는 일</a:t>
            </a:r>
            <a:endParaRPr lang="en-US" sz="1100" dirty="0"/>
          </a:p>
        </p:txBody>
      </p:sp>
      <p:sp>
        <p:nvSpPr>
          <p:cNvPr id="6" name="chip-67"/>
          <p:cNvSpPr/>
          <p:nvPr/>
        </p:nvSpPr>
        <p:spPr>
          <a:xfrm>
            <a:off x="6210148" y="1783080"/>
            <a:ext cx="1371600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7" name="text-68"/>
          <p:cNvSpPr txBox="1"/>
          <p:nvPr/>
        </p:nvSpPr>
        <p:spPr>
          <a:xfrm>
            <a:off x="6210148" y="178308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자동으로 진행</a:t>
            </a:r>
            <a:endParaRPr lang="en-US" sz="1100" dirty="0"/>
          </a:p>
        </p:txBody>
      </p:sp>
      <p:sp>
        <p:nvSpPr>
          <p:cNvPr id="8" name="card-69"/>
          <p:cNvSpPr/>
          <p:nvPr/>
        </p:nvSpPr>
        <p:spPr>
          <a:xfrm>
            <a:off x="548640" y="2240280"/>
            <a:ext cx="1658569" cy="2514600"/>
          </a:xfrm>
          <a:prstGeom prst="roundRect">
            <a:avLst>
              <a:gd name="adj" fmla="val 6616"/>
            </a:avLst>
          </a:prstGeom>
          <a:solidFill>
            <a:schemeClr val="bg2"/>
          </a:solidFill>
          <a:ln/>
        </p:spPr>
      </p:sp>
      <p:sp>
        <p:nvSpPr>
          <p:cNvPr id="9" name="num-70"/>
          <p:cNvSpPr/>
          <p:nvPr/>
        </p:nvSpPr>
        <p:spPr>
          <a:xfrm>
            <a:off x="777240" y="251460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0" name="text-71"/>
          <p:cNvSpPr txBox="1"/>
          <p:nvPr/>
        </p:nvSpPr>
        <p:spPr>
          <a:xfrm>
            <a:off x="77724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11" name="text-72"/>
          <p:cNvSpPr txBox="1"/>
          <p:nvPr/>
        </p:nvSpPr>
        <p:spPr>
          <a:xfrm>
            <a:off x="777240" y="3108960"/>
            <a:ext cx="12928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STEP 1</a:t>
            </a:r>
            <a:endParaRPr lang="en-US" sz="1100" dirty="0"/>
          </a:p>
        </p:txBody>
      </p:sp>
      <p:sp>
        <p:nvSpPr>
          <p:cNvPr id="12" name="text-73"/>
          <p:cNvSpPr txBox="1"/>
          <p:nvPr/>
        </p:nvSpPr>
        <p:spPr>
          <a:xfrm>
            <a:off x="777240" y="3383280"/>
            <a:ext cx="129280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녹음 시작</a:t>
            </a:r>
            <a:endParaRPr lang="en-US" sz="1700" dirty="0"/>
          </a:p>
        </p:txBody>
      </p:sp>
      <p:sp>
        <p:nvSpPr>
          <p:cNvPr id="13" name="text-74"/>
          <p:cNvSpPr txBox="1"/>
          <p:nvPr/>
        </p:nvSpPr>
        <p:spPr>
          <a:xfrm>
            <a:off x="777240" y="3840480"/>
            <a:ext cx="129280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관리자 메일 발송 확인 후 [확인]</a:t>
            </a:r>
            <a:endParaRPr lang="en-US" sz="1200" dirty="0"/>
          </a:p>
        </p:txBody>
      </p:sp>
      <p:sp>
        <p:nvSpPr>
          <p:cNvPr id="14" name="card-75"/>
          <p:cNvSpPr/>
          <p:nvPr/>
        </p:nvSpPr>
        <p:spPr>
          <a:xfrm>
            <a:off x="2435809" y="2240280"/>
            <a:ext cx="1658569" cy="2514600"/>
          </a:xfrm>
          <a:prstGeom prst="roundRect">
            <a:avLst>
              <a:gd name="adj" fmla="val 6616"/>
            </a:avLst>
          </a:prstGeom>
          <a:solidFill>
            <a:schemeClr val="bg2"/>
          </a:solidFill>
          <a:ln/>
        </p:spPr>
      </p:sp>
      <p:sp>
        <p:nvSpPr>
          <p:cNvPr id="15" name="num-76"/>
          <p:cNvSpPr/>
          <p:nvPr/>
        </p:nvSpPr>
        <p:spPr>
          <a:xfrm>
            <a:off x="2664409" y="251460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6" name="text-77"/>
          <p:cNvSpPr txBox="1"/>
          <p:nvPr/>
        </p:nvSpPr>
        <p:spPr>
          <a:xfrm>
            <a:off x="2664409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7" name="text-78"/>
          <p:cNvSpPr txBox="1"/>
          <p:nvPr/>
        </p:nvSpPr>
        <p:spPr>
          <a:xfrm>
            <a:off x="2664409" y="3108960"/>
            <a:ext cx="12928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STEP 2</a:t>
            </a:r>
            <a:endParaRPr lang="en-US" sz="1100" dirty="0"/>
          </a:p>
        </p:txBody>
      </p:sp>
      <p:sp>
        <p:nvSpPr>
          <p:cNvPr id="18" name="text-79"/>
          <p:cNvSpPr txBox="1"/>
          <p:nvPr/>
        </p:nvSpPr>
        <p:spPr>
          <a:xfrm>
            <a:off x="2664409" y="3383280"/>
            <a:ext cx="129280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녹음 중</a:t>
            </a:r>
            <a:endParaRPr lang="en-US" sz="1700" dirty="0"/>
          </a:p>
        </p:txBody>
      </p:sp>
      <p:sp>
        <p:nvSpPr>
          <p:cNvPr id="19" name="text-80"/>
          <p:cNvSpPr txBox="1"/>
          <p:nvPr/>
        </p:nvSpPr>
        <p:spPr>
          <a:xfrm>
            <a:off x="2664409" y="3840480"/>
            <a:ext cx="129280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일시정지·재개, 전화·알림은 자동 처리</a:t>
            </a:r>
            <a:endParaRPr lang="en-US" sz="1200" dirty="0"/>
          </a:p>
        </p:txBody>
      </p:sp>
      <p:sp>
        <p:nvSpPr>
          <p:cNvPr id="20" name="card-81"/>
          <p:cNvSpPr/>
          <p:nvPr/>
        </p:nvSpPr>
        <p:spPr>
          <a:xfrm>
            <a:off x="4322978" y="2240280"/>
            <a:ext cx="1658569" cy="2514600"/>
          </a:xfrm>
          <a:prstGeom prst="roundRect">
            <a:avLst>
              <a:gd name="adj" fmla="val 6616"/>
            </a:avLst>
          </a:prstGeom>
          <a:solidFill>
            <a:schemeClr val="bg2"/>
          </a:solidFill>
          <a:ln/>
        </p:spPr>
      </p:sp>
      <p:sp>
        <p:nvSpPr>
          <p:cNvPr id="21" name="num-82"/>
          <p:cNvSpPr/>
          <p:nvPr/>
        </p:nvSpPr>
        <p:spPr>
          <a:xfrm>
            <a:off x="4551578" y="251460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22" name="text-83"/>
          <p:cNvSpPr txBox="1"/>
          <p:nvPr/>
        </p:nvSpPr>
        <p:spPr>
          <a:xfrm>
            <a:off x="4551578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23" name="text-84"/>
          <p:cNvSpPr txBox="1"/>
          <p:nvPr/>
        </p:nvSpPr>
        <p:spPr>
          <a:xfrm>
            <a:off x="4551578" y="3108960"/>
            <a:ext cx="12928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STEP 3</a:t>
            </a:r>
            <a:endParaRPr lang="en-US" sz="1100" dirty="0"/>
          </a:p>
        </p:txBody>
      </p:sp>
      <p:sp>
        <p:nvSpPr>
          <p:cNvPr id="24" name="text-85"/>
          <p:cNvSpPr txBox="1"/>
          <p:nvPr/>
        </p:nvSpPr>
        <p:spPr>
          <a:xfrm>
            <a:off x="4551578" y="3383280"/>
            <a:ext cx="129280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종료·설정</a:t>
            </a:r>
            <a:endParaRPr lang="en-US" sz="1700" dirty="0"/>
          </a:p>
        </p:txBody>
      </p:sp>
      <p:sp>
        <p:nvSpPr>
          <p:cNvPr id="25" name="text-86"/>
          <p:cNvSpPr txBox="1"/>
          <p:nvPr/>
        </p:nvSpPr>
        <p:spPr>
          <a:xfrm>
            <a:off x="4551578" y="3840480"/>
            <a:ext cx="129280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참석자 수, 언어, 템플릿, 제목 입력 후 [확인]</a:t>
            </a:r>
            <a:endParaRPr lang="en-US" sz="1200" dirty="0"/>
          </a:p>
        </p:txBody>
      </p:sp>
      <p:sp>
        <p:nvSpPr>
          <p:cNvPr id="26" name="card-87"/>
          <p:cNvSpPr/>
          <p:nvPr/>
        </p:nvSpPr>
        <p:spPr>
          <a:xfrm>
            <a:off x="6210148" y="2240280"/>
            <a:ext cx="1658569" cy="2514600"/>
          </a:xfrm>
          <a:prstGeom prst="roundRect">
            <a:avLst>
              <a:gd name="adj" fmla="val 6616"/>
            </a:avLst>
          </a:prstGeom>
          <a:solidFill>
            <a:schemeClr val="accent2"/>
          </a:solidFill>
          <a:ln/>
        </p:spPr>
      </p:sp>
      <p:sp>
        <p:nvSpPr>
          <p:cNvPr id="27" name="num-88"/>
          <p:cNvSpPr/>
          <p:nvPr/>
        </p:nvSpPr>
        <p:spPr>
          <a:xfrm>
            <a:off x="6438748" y="25146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8" name="text-89"/>
          <p:cNvSpPr txBox="1"/>
          <p:nvPr/>
        </p:nvSpPr>
        <p:spPr>
          <a:xfrm>
            <a:off x="6438748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9" name="text-90"/>
          <p:cNvSpPr txBox="1"/>
          <p:nvPr/>
        </p:nvSpPr>
        <p:spPr>
          <a:xfrm>
            <a:off x="6438748" y="3108960"/>
            <a:ext cx="12928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STEP 4</a:t>
            </a:r>
            <a:endParaRPr lang="en-US" sz="1100" dirty="0"/>
          </a:p>
        </p:txBody>
      </p:sp>
      <p:sp>
        <p:nvSpPr>
          <p:cNvPr id="30" name="text-91"/>
          <p:cNvSpPr txBox="1"/>
          <p:nvPr/>
        </p:nvSpPr>
        <p:spPr>
          <a:xfrm>
            <a:off x="6438748" y="3383280"/>
            <a:ext cx="129280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파일 업로드</a:t>
            </a:r>
            <a:endParaRPr lang="en-US" sz="1700" dirty="0"/>
          </a:p>
        </p:txBody>
      </p:sp>
      <p:sp>
        <p:nvSpPr>
          <p:cNvPr id="31" name="text-92"/>
          <p:cNvSpPr txBox="1"/>
          <p:nvPr/>
        </p:nvSpPr>
        <p:spPr>
          <a:xfrm>
            <a:off x="6438748" y="3840480"/>
            <a:ext cx="129280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홈 하단 패널에서 진행률 확인</a:t>
            </a:r>
            <a:endParaRPr lang="en-US" sz="1200" dirty="0"/>
          </a:p>
        </p:txBody>
      </p:sp>
      <p:sp>
        <p:nvSpPr>
          <p:cNvPr id="32" name="card-93"/>
          <p:cNvSpPr/>
          <p:nvPr/>
        </p:nvSpPr>
        <p:spPr>
          <a:xfrm>
            <a:off x="8097317" y="2240280"/>
            <a:ext cx="1658569" cy="2514600"/>
          </a:xfrm>
          <a:prstGeom prst="roundRect">
            <a:avLst>
              <a:gd name="adj" fmla="val 6616"/>
            </a:avLst>
          </a:prstGeom>
          <a:solidFill>
            <a:schemeClr val="accent2"/>
          </a:solidFill>
          <a:ln/>
        </p:spPr>
      </p:sp>
      <p:sp>
        <p:nvSpPr>
          <p:cNvPr id="33" name="num-94"/>
          <p:cNvSpPr/>
          <p:nvPr/>
        </p:nvSpPr>
        <p:spPr>
          <a:xfrm>
            <a:off x="8325917" y="25146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4" name="text-95"/>
          <p:cNvSpPr txBox="1"/>
          <p:nvPr/>
        </p:nvSpPr>
        <p:spPr>
          <a:xfrm>
            <a:off x="8325917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35" name="text-96"/>
          <p:cNvSpPr txBox="1"/>
          <p:nvPr/>
        </p:nvSpPr>
        <p:spPr>
          <a:xfrm>
            <a:off x="8325917" y="3108960"/>
            <a:ext cx="12928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STEP 5</a:t>
            </a:r>
            <a:endParaRPr lang="en-US" sz="1100" dirty="0"/>
          </a:p>
        </p:txBody>
      </p:sp>
      <p:sp>
        <p:nvSpPr>
          <p:cNvPr id="36" name="text-97"/>
          <p:cNvSpPr txBox="1"/>
          <p:nvPr/>
        </p:nvSpPr>
        <p:spPr>
          <a:xfrm>
            <a:off x="8325917" y="3383280"/>
            <a:ext cx="129280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파일 변환</a:t>
            </a:r>
            <a:endParaRPr lang="en-US" sz="1700" dirty="0"/>
          </a:p>
        </p:txBody>
      </p:sp>
      <p:sp>
        <p:nvSpPr>
          <p:cNvPr id="37" name="text-98"/>
          <p:cNvSpPr txBox="1"/>
          <p:nvPr/>
        </p:nvSpPr>
        <p:spPr>
          <a:xfrm>
            <a:off x="8325917" y="3840480"/>
            <a:ext cx="129280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서버에서 음성 인식 → 요약</a:t>
            </a:r>
            <a:endParaRPr lang="en-US" sz="1200" dirty="0"/>
          </a:p>
        </p:txBody>
      </p:sp>
      <p:sp>
        <p:nvSpPr>
          <p:cNvPr id="38" name="card-99"/>
          <p:cNvSpPr/>
          <p:nvPr/>
        </p:nvSpPr>
        <p:spPr>
          <a:xfrm>
            <a:off x="9984486" y="2240280"/>
            <a:ext cx="1658569" cy="2514600"/>
          </a:xfrm>
          <a:prstGeom prst="roundRect">
            <a:avLst>
              <a:gd name="adj" fmla="val 6616"/>
            </a:avLst>
          </a:prstGeom>
          <a:solidFill>
            <a:schemeClr val="accent2"/>
          </a:solidFill>
          <a:ln/>
        </p:spPr>
      </p:sp>
      <p:sp>
        <p:nvSpPr>
          <p:cNvPr id="39" name="num-100"/>
          <p:cNvSpPr/>
          <p:nvPr/>
        </p:nvSpPr>
        <p:spPr>
          <a:xfrm>
            <a:off x="10213086" y="25146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0" name="text-101"/>
          <p:cNvSpPr txBox="1"/>
          <p:nvPr/>
        </p:nvSpPr>
        <p:spPr>
          <a:xfrm>
            <a:off x="10213086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41" name="text-102"/>
          <p:cNvSpPr txBox="1"/>
          <p:nvPr/>
        </p:nvSpPr>
        <p:spPr>
          <a:xfrm>
            <a:off x="10213086" y="3108960"/>
            <a:ext cx="12928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STEP 6</a:t>
            </a:r>
            <a:endParaRPr lang="en-US" sz="1100" dirty="0"/>
          </a:p>
        </p:txBody>
      </p:sp>
      <p:sp>
        <p:nvSpPr>
          <p:cNvPr id="42" name="text-103"/>
          <p:cNvSpPr txBox="1"/>
          <p:nvPr/>
        </p:nvSpPr>
        <p:spPr>
          <a:xfrm>
            <a:off x="10213086" y="3383280"/>
            <a:ext cx="129280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회의록 완성</a:t>
            </a:r>
            <a:endParaRPr lang="en-US" sz="1700" dirty="0"/>
          </a:p>
        </p:txBody>
      </p:sp>
      <p:sp>
        <p:nvSpPr>
          <p:cNvPr id="43" name="text-104"/>
          <p:cNvSpPr txBox="1"/>
          <p:nvPr/>
        </p:nvSpPr>
        <p:spPr>
          <a:xfrm>
            <a:off x="10213086" y="3840480"/>
            <a:ext cx="129280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알림함 알림 → PC 웹에서 확인</a:t>
            </a:r>
            <a:endParaRPr lang="en-US" sz="1200" dirty="0"/>
          </a:p>
        </p:txBody>
      </p:sp>
      <p:sp>
        <p:nvSpPr>
          <p:cNvPr id="44" name="card-105"/>
          <p:cNvSpPr/>
          <p:nvPr/>
        </p:nvSpPr>
        <p:spPr>
          <a:xfrm>
            <a:off x="548640" y="5074920"/>
            <a:ext cx="11094415" cy="1051560"/>
          </a:xfrm>
          <a:prstGeom prst="roundRect">
            <a:avLst>
              <a:gd name="adj" fmla="val 10435"/>
            </a:avLst>
          </a:prstGeom>
          <a:solidFill>
            <a:schemeClr val="accent2"/>
          </a:solidFill>
          <a:ln/>
        </p:spPr>
      </p:sp>
      <p:sp>
        <p:nvSpPr>
          <p:cNvPr id="45" name="iconbg-106"/>
          <p:cNvSpPr/>
          <p:nvPr/>
        </p:nvSpPr>
        <p:spPr>
          <a:xfrm>
            <a:off x="822960" y="53492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6" name="icon-107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8690" y="5474970"/>
            <a:ext cx="251460" cy="251460"/>
          </a:xfrm>
          <a:prstGeom prst="rect">
            <a:avLst/>
          </a:prstGeom>
        </p:spPr>
      </p:pic>
      <p:sp>
        <p:nvSpPr>
          <p:cNvPr id="47" name="text-108"/>
          <p:cNvSpPr txBox="1"/>
          <p:nvPr/>
        </p:nvSpPr>
        <p:spPr>
          <a:xfrm>
            <a:off x="1554480" y="5184648"/>
            <a:ext cx="9859975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STEP 3에서 [확인]을 누르면 바로 새 녹음을 시작할 수 있습니다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업로드가 끝날 때까지 기다리지 않아도 됩니다. 앞선 녹음은 순서대로 자동 업로드됩니다.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1488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3"/>
                </a:solidFill>
              </a:rPr>
              <a:t>01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74320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단독 녹음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79476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휴대폰 1대로 녹음하고 회의록을 만드는 과정</a:t>
            </a:r>
            <a:endParaRPr lang="en-US" sz="1800" dirty="0"/>
          </a:p>
        </p:txBody>
      </p:sp>
      <p:sp>
        <p:nvSpPr>
          <p:cNvPr id="5" name="wave-109"/>
          <p:cNvSpPr/>
          <p:nvPr/>
        </p:nvSpPr>
        <p:spPr>
          <a:xfrm>
            <a:off x="7818120" y="3136392"/>
            <a:ext cx="93269" cy="310896"/>
          </a:xfrm>
          <a:prstGeom prst="roundRect">
            <a:avLst>
              <a:gd name="adj" fmla="val 50000"/>
            </a:avLst>
          </a:prstGeom>
          <a:solidFill>
            <a:schemeClr val="accent3">
              <a:alpha val="55000"/>
            </a:schemeClr>
          </a:solidFill>
          <a:ln/>
        </p:spPr>
      </p:sp>
      <p:sp>
        <p:nvSpPr>
          <p:cNvPr id="6" name="wave-110"/>
          <p:cNvSpPr/>
          <p:nvPr/>
        </p:nvSpPr>
        <p:spPr>
          <a:xfrm>
            <a:off x="8004658" y="3000375"/>
            <a:ext cx="93269" cy="582930"/>
          </a:xfrm>
          <a:prstGeom prst="roundRect">
            <a:avLst>
              <a:gd name="adj" fmla="val 50000"/>
            </a:avLst>
          </a:prstGeom>
          <a:solidFill>
            <a:schemeClr val="accent1">
              <a:alpha val="55000"/>
            </a:schemeClr>
          </a:solidFill>
          <a:ln/>
        </p:spPr>
      </p:sp>
      <p:sp>
        <p:nvSpPr>
          <p:cNvPr id="7" name="wave-111"/>
          <p:cNvSpPr/>
          <p:nvPr/>
        </p:nvSpPr>
        <p:spPr>
          <a:xfrm>
            <a:off x="8191195" y="2825496"/>
            <a:ext cx="93269" cy="932688"/>
          </a:xfrm>
          <a:prstGeom prst="roundRect">
            <a:avLst>
              <a:gd name="adj" fmla="val 50000"/>
            </a:avLst>
          </a:prstGeom>
          <a:solidFill>
            <a:schemeClr val="accent1">
              <a:alpha val="55000"/>
            </a:schemeClr>
          </a:solidFill>
          <a:ln/>
        </p:spPr>
      </p:sp>
      <p:sp>
        <p:nvSpPr>
          <p:cNvPr id="8" name="wave-112"/>
          <p:cNvSpPr/>
          <p:nvPr/>
        </p:nvSpPr>
        <p:spPr>
          <a:xfrm>
            <a:off x="8377733" y="2942082"/>
            <a:ext cx="93269" cy="699516"/>
          </a:xfrm>
          <a:prstGeom prst="roundRect">
            <a:avLst>
              <a:gd name="adj" fmla="val 50000"/>
            </a:avLst>
          </a:prstGeom>
          <a:solidFill>
            <a:schemeClr val="accent3">
              <a:alpha val="55000"/>
            </a:schemeClr>
          </a:solidFill>
          <a:ln/>
        </p:spPr>
      </p:sp>
      <p:sp>
        <p:nvSpPr>
          <p:cNvPr id="9" name="wave-113"/>
          <p:cNvSpPr/>
          <p:nvPr/>
        </p:nvSpPr>
        <p:spPr>
          <a:xfrm>
            <a:off x="8564270" y="2650617"/>
            <a:ext cx="93269" cy="1282446"/>
          </a:xfrm>
          <a:prstGeom prst="roundRect">
            <a:avLst>
              <a:gd name="adj" fmla="val 50000"/>
            </a:avLst>
          </a:prstGeom>
          <a:solidFill>
            <a:schemeClr val="accent1">
              <a:alpha val="55000"/>
            </a:schemeClr>
          </a:solidFill>
          <a:ln/>
        </p:spPr>
      </p:sp>
      <p:sp>
        <p:nvSpPr>
          <p:cNvPr id="10" name="wave-114"/>
          <p:cNvSpPr/>
          <p:nvPr/>
        </p:nvSpPr>
        <p:spPr>
          <a:xfrm>
            <a:off x="8750808" y="2398014"/>
            <a:ext cx="93269" cy="1787652"/>
          </a:xfrm>
          <a:prstGeom prst="roundRect">
            <a:avLst>
              <a:gd name="adj" fmla="val 50000"/>
            </a:avLst>
          </a:prstGeom>
          <a:solidFill>
            <a:schemeClr val="accent4">
              <a:alpha val="55000"/>
            </a:schemeClr>
          </a:solidFill>
          <a:ln/>
        </p:spPr>
      </p:sp>
      <p:sp>
        <p:nvSpPr>
          <p:cNvPr id="11" name="wave-115"/>
          <p:cNvSpPr/>
          <p:nvPr/>
        </p:nvSpPr>
        <p:spPr>
          <a:xfrm>
            <a:off x="8937346" y="2728341"/>
            <a:ext cx="93269" cy="1126998"/>
          </a:xfrm>
          <a:prstGeom prst="roundRect">
            <a:avLst>
              <a:gd name="adj" fmla="val 50000"/>
            </a:avLst>
          </a:prstGeom>
          <a:solidFill>
            <a:schemeClr val="accent3">
              <a:alpha val="55000"/>
            </a:schemeClr>
          </a:solidFill>
          <a:ln/>
        </p:spPr>
      </p:sp>
      <p:sp>
        <p:nvSpPr>
          <p:cNvPr id="12" name="wave-116"/>
          <p:cNvSpPr/>
          <p:nvPr/>
        </p:nvSpPr>
        <p:spPr>
          <a:xfrm>
            <a:off x="9123883" y="2922651"/>
            <a:ext cx="93269" cy="738378"/>
          </a:xfrm>
          <a:prstGeom prst="roundRect">
            <a:avLst>
              <a:gd name="adj" fmla="val 50000"/>
            </a:avLst>
          </a:prstGeom>
          <a:solidFill>
            <a:schemeClr val="accent1">
              <a:alpha val="55000"/>
            </a:schemeClr>
          </a:solidFill>
          <a:ln/>
        </p:spPr>
      </p:sp>
      <p:sp>
        <p:nvSpPr>
          <p:cNvPr id="13" name="wave-117"/>
          <p:cNvSpPr/>
          <p:nvPr/>
        </p:nvSpPr>
        <p:spPr>
          <a:xfrm>
            <a:off x="9310421" y="2514600"/>
            <a:ext cx="93269" cy="1554480"/>
          </a:xfrm>
          <a:prstGeom prst="roundRect">
            <a:avLst>
              <a:gd name="adj" fmla="val 50000"/>
            </a:avLst>
          </a:prstGeom>
          <a:solidFill>
            <a:schemeClr val="accent1">
              <a:alpha val="55000"/>
            </a:schemeClr>
          </a:solidFill>
          <a:ln/>
        </p:spPr>
      </p:sp>
      <p:sp>
        <p:nvSpPr>
          <p:cNvPr id="14" name="wave-118"/>
          <p:cNvSpPr/>
          <p:nvPr/>
        </p:nvSpPr>
        <p:spPr>
          <a:xfrm>
            <a:off x="9496958" y="2261997"/>
            <a:ext cx="93269" cy="2059686"/>
          </a:xfrm>
          <a:prstGeom prst="roundRect">
            <a:avLst>
              <a:gd name="adj" fmla="val 50000"/>
            </a:avLst>
          </a:prstGeom>
          <a:solidFill>
            <a:schemeClr val="accent4">
              <a:alpha val="55000"/>
            </a:schemeClr>
          </a:solidFill>
          <a:ln/>
        </p:spPr>
      </p:sp>
      <p:sp>
        <p:nvSpPr>
          <p:cNvPr id="15" name="wave-119"/>
          <p:cNvSpPr/>
          <p:nvPr/>
        </p:nvSpPr>
        <p:spPr>
          <a:xfrm>
            <a:off x="9683496" y="2592324"/>
            <a:ext cx="93269" cy="1399032"/>
          </a:xfrm>
          <a:prstGeom prst="roundRect">
            <a:avLst>
              <a:gd name="adj" fmla="val 50000"/>
            </a:avLst>
          </a:prstGeom>
          <a:solidFill>
            <a:schemeClr val="accent1">
              <a:alpha val="55000"/>
            </a:schemeClr>
          </a:solidFill>
          <a:ln/>
        </p:spPr>
      </p:sp>
      <p:sp>
        <p:nvSpPr>
          <p:cNvPr id="16" name="wave-120"/>
          <p:cNvSpPr/>
          <p:nvPr/>
        </p:nvSpPr>
        <p:spPr>
          <a:xfrm>
            <a:off x="9870034" y="2825496"/>
            <a:ext cx="93269" cy="932688"/>
          </a:xfrm>
          <a:prstGeom prst="roundRect">
            <a:avLst>
              <a:gd name="adj" fmla="val 50000"/>
            </a:avLst>
          </a:prstGeom>
          <a:solidFill>
            <a:schemeClr val="accent1">
              <a:alpha val="55000"/>
            </a:schemeClr>
          </a:solidFill>
          <a:ln/>
        </p:spPr>
      </p:sp>
      <p:sp>
        <p:nvSpPr>
          <p:cNvPr id="17" name="wave-121"/>
          <p:cNvSpPr/>
          <p:nvPr/>
        </p:nvSpPr>
        <p:spPr>
          <a:xfrm>
            <a:off x="10056571" y="2436876"/>
            <a:ext cx="93269" cy="1709928"/>
          </a:xfrm>
          <a:prstGeom prst="roundRect">
            <a:avLst>
              <a:gd name="adj" fmla="val 50000"/>
            </a:avLst>
          </a:prstGeom>
          <a:solidFill>
            <a:schemeClr val="accent4">
              <a:alpha val="55000"/>
            </a:schemeClr>
          </a:solidFill>
          <a:ln/>
        </p:spPr>
      </p:sp>
      <p:sp>
        <p:nvSpPr>
          <p:cNvPr id="18" name="wave-122"/>
          <p:cNvSpPr/>
          <p:nvPr/>
        </p:nvSpPr>
        <p:spPr>
          <a:xfrm>
            <a:off x="10243109" y="2708910"/>
            <a:ext cx="93269" cy="1165860"/>
          </a:xfrm>
          <a:prstGeom prst="roundRect">
            <a:avLst>
              <a:gd name="adj" fmla="val 50000"/>
            </a:avLst>
          </a:prstGeom>
          <a:solidFill>
            <a:schemeClr val="accent1">
              <a:alpha val="55000"/>
            </a:schemeClr>
          </a:solidFill>
          <a:ln/>
        </p:spPr>
      </p:sp>
      <p:sp>
        <p:nvSpPr>
          <p:cNvPr id="19" name="wave-123"/>
          <p:cNvSpPr/>
          <p:nvPr/>
        </p:nvSpPr>
        <p:spPr>
          <a:xfrm>
            <a:off x="10429646" y="2922651"/>
            <a:ext cx="93269" cy="738378"/>
          </a:xfrm>
          <a:prstGeom prst="roundRect">
            <a:avLst>
              <a:gd name="adj" fmla="val 50000"/>
            </a:avLst>
          </a:prstGeom>
          <a:solidFill>
            <a:schemeClr val="accent1">
              <a:alpha val="55000"/>
            </a:schemeClr>
          </a:solidFill>
          <a:ln/>
        </p:spPr>
      </p:sp>
      <p:sp>
        <p:nvSpPr>
          <p:cNvPr id="20" name="wave-124"/>
          <p:cNvSpPr/>
          <p:nvPr/>
        </p:nvSpPr>
        <p:spPr>
          <a:xfrm>
            <a:off x="10616184" y="2786634"/>
            <a:ext cx="93269" cy="1010412"/>
          </a:xfrm>
          <a:prstGeom prst="roundRect">
            <a:avLst>
              <a:gd name="adj" fmla="val 50000"/>
            </a:avLst>
          </a:prstGeom>
          <a:solidFill>
            <a:schemeClr val="accent3">
              <a:alpha val="55000"/>
            </a:schemeClr>
          </a:solidFill>
          <a:ln/>
        </p:spPr>
      </p:sp>
      <p:sp>
        <p:nvSpPr>
          <p:cNvPr id="21" name="wave-125"/>
          <p:cNvSpPr/>
          <p:nvPr/>
        </p:nvSpPr>
        <p:spPr>
          <a:xfrm>
            <a:off x="10802722" y="3000375"/>
            <a:ext cx="93269" cy="582930"/>
          </a:xfrm>
          <a:prstGeom prst="roundRect">
            <a:avLst>
              <a:gd name="adj" fmla="val 50000"/>
            </a:avLst>
          </a:prstGeom>
          <a:solidFill>
            <a:schemeClr val="accent1">
              <a:alpha val="55000"/>
            </a:schemeClr>
          </a:solidFill>
          <a:ln/>
        </p:spPr>
      </p:sp>
      <p:sp>
        <p:nvSpPr>
          <p:cNvPr id="22" name="wave-126"/>
          <p:cNvSpPr/>
          <p:nvPr/>
        </p:nvSpPr>
        <p:spPr>
          <a:xfrm>
            <a:off x="10989259" y="3136392"/>
            <a:ext cx="93269" cy="310896"/>
          </a:xfrm>
          <a:prstGeom prst="roundRect">
            <a:avLst>
              <a:gd name="adj" fmla="val 50000"/>
            </a:avLst>
          </a:prstGeom>
          <a:solidFill>
            <a:schemeClr val="accent1">
              <a:alpha val="55000"/>
            </a:schemeClr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STEP 1  녹음 시작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9728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녹음 버튼을 누르고 확인 창에서 [확인]을 눌러야 녹음이 시작됩니다</a:t>
            </a:r>
            <a:endParaRPr lang="en-US" sz="1600" dirty="0"/>
          </a:p>
        </p:txBody>
      </p:sp>
      <p:sp>
        <p:nvSpPr>
          <p:cNvPr id="4" name="card-127"/>
          <p:cNvSpPr/>
          <p:nvPr/>
        </p:nvSpPr>
        <p:spPr>
          <a:xfrm>
            <a:off x="548640" y="1783080"/>
            <a:ext cx="626364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5" name="num-128"/>
          <p:cNvSpPr/>
          <p:nvPr/>
        </p:nvSpPr>
        <p:spPr>
          <a:xfrm>
            <a:off x="777240" y="20116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-129"/>
          <p:cNvSpPr txBox="1"/>
          <p:nvPr/>
        </p:nvSpPr>
        <p:spPr>
          <a:xfrm>
            <a:off x="77724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-130"/>
          <p:cNvSpPr txBox="1"/>
          <p:nvPr/>
        </p:nvSpPr>
        <p:spPr>
          <a:xfrm>
            <a:off x="1463040" y="187452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홈의 [녹음] 버튼 → 녹음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녹음 화면이 열립니다. 화면에 들어가기만 해서는 녹음이 시작되지 않습니다.</a:t>
            </a:r>
            <a:endParaRPr lang="en-US" sz="1400" dirty="0"/>
          </a:p>
        </p:txBody>
      </p:sp>
      <p:sp>
        <p:nvSpPr>
          <p:cNvPr id="8" name="card-131"/>
          <p:cNvSpPr/>
          <p:nvPr/>
        </p:nvSpPr>
        <p:spPr>
          <a:xfrm>
            <a:off x="548640" y="2834640"/>
            <a:ext cx="626364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9" name="num-132"/>
          <p:cNvSpPr/>
          <p:nvPr/>
        </p:nvSpPr>
        <p:spPr>
          <a:xfrm>
            <a:off x="777240" y="30632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-133"/>
          <p:cNvSpPr txBox="1"/>
          <p:nvPr/>
        </p:nvSpPr>
        <p:spPr>
          <a:xfrm>
            <a:off x="77724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-134"/>
          <p:cNvSpPr txBox="1"/>
          <p:nvPr/>
        </p:nvSpPr>
        <p:spPr>
          <a:xfrm>
            <a:off x="1463040" y="292608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가운데 녹음 버튼 누르기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"녹음을 시작할까요?" 확인 창이 나타납니다.</a:t>
            </a:r>
            <a:endParaRPr lang="en-US" sz="1400" dirty="0"/>
          </a:p>
        </p:txBody>
      </p:sp>
      <p:sp>
        <p:nvSpPr>
          <p:cNvPr id="12" name="card-135"/>
          <p:cNvSpPr/>
          <p:nvPr/>
        </p:nvSpPr>
        <p:spPr>
          <a:xfrm>
            <a:off x="548640" y="3886200"/>
            <a:ext cx="626364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13" name="num-136"/>
          <p:cNvSpPr/>
          <p:nvPr/>
        </p:nvSpPr>
        <p:spPr>
          <a:xfrm>
            <a:off x="777240" y="41148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text-137"/>
          <p:cNvSpPr txBox="1"/>
          <p:nvPr/>
        </p:nvSpPr>
        <p:spPr>
          <a:xfrm>
            <a:off x="77724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text-138"/>
          <p:cNvSpPr txBox="1"/>
          <p:nvPr/>
        </p:nvSpPr>
        <p:spPr>
          <a:xfrm>
            <a:off x="1463040" y="397764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[확인] 누르기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관리자에게 메일이 발송되고 녹음이 시작됩니다. 경과 시간과 음성 파형이 표시됩니다.</a:t>
            </a:r>
            <a:endParaRPr lang="en-US" sz="1400" dirty="0"/>
          </a:p>
        </p:txBody>
      </p:sp>
      <p:sp>
        <p:nvSpPr>
          <p:cNvPr id="16" name="card-139"/>
          <p:cNvSpPr/>
          <p:nvPr/>
        </p:nvSpPr>
        <p:spPr>
          <a:xfrm>
            <a:off x="548640" y="5029200"/>
            <a:ext cx="6263640" cy="1097280"/>
          </a:xfrm>
          <a:prstGeom prst="roundRect">
            <a:avLst>
              <a:gd name="adj" fmla="val 10000"/>
            </a:avLst>
          </a:prstGeom>
          <a:solidFill>
            <a:schemeClr val="accent6"/>
          </a:solidFill>
          <a:ln/>
        </p:spPr>
      </p:sp>
      <p:sp>
        <p:nvSpPr>
          <p:cNvPr id="17" name="iconbg-140"/>
          <p:cNvSpPr/>
          <p:nvPr/>
        </p:nvSpPr>
        <p:spPr>
          <a:xfrm>
            <a:off x="822960" y="5326380"/>
            <a:ext cx="502920" cy="5029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8" name="icon-14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8690" y="5452110"/>
            <a:ext cx="251460" cy="251460"/>
          </a:xfrm>
          <a:prstGeom prst="rect">
            <a:avLst/>
          </a:prstGeom>
        </p:spPr>
      </p:pic>
      <p:sp>
        <p:nvSpPr>
          <p:cNvPr id="19" name="text-142"/>
          <p:cNvSpPr txBox="1"/>
          <p:nvPr/>
        </p:nvSpPr>
        <p:spPr>
          <a:xfrm>
            <a:off x="1554480" y="5138928"/>
            <a:ext cx="50292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메일 발송에 실패하면 녹음이 시작되지 않습니다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"이메일 발송에 실패하였습니다." 안내가 나오면 네트워크 연결을 확인한 뒤 다시 시도해 주세요.</a:t>
            </a:r>
            <a:endParaRPr lang="en-US" sz="1400" dirty="0"/>
          </a:p>
        </p:txBody>
      </p:sp>
      <p:sp>
        <p:nvSpPr>
          <p:cNvPr id="20" name="phone-143"/>
          <p:cNvSpPr/>
          <p:nvPr/>
        </p:nvSpPr>
        <p:spPr>
          <a:xfrm>
            <a:off x="7297315" y="1719072"/>
            <a:ext cx="2008278" cy="4197096"/>
          </a:xfrm>
          <a:prstGeom prst="roundRect">
            <a:avLst>
              <a:gd name="adj" fmla="val 10017"/>
            </a:avLst>
          </a:prstGeom>
          <a:solidFill>
            <a:schemeClr val="tx1"/>
          </a:solidFill>
          <a:ln/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pic>
        <p:nvPicPr>
          <p:cNvPr id="21" name="screen-144" descr="녹음 시작 확인 창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1323" y="1783080"/>
            <a:ext cx="1880262" cy="4069080"/>
          </a:xfrm>
          <a:prstGeom prst="rect">
            <a:avLst/>
          </a:prstGeom>
        </p:spPr>
      </p:pic>
      <p:sp>
        <p:nvSpPr>
          <p:cNvPr id="22" name="phone-145"/>
          <p:cNvSpPr/>
          <p:nvPr/>
        </p:nvSpPr>
        <p:spPr>
          <a:xfrm>
            <a:off x="9634777" y="1719072"/>
            <a:ext cx="2008278" cy="4197096"/>
          </a:xfrm>
          <a:prstGeom prst="roundRect">
            <a:avLst>
              <a:gd name="adj" fmla="val 10017"/>
            </a:avLst>
          </a:prstGeom>
          <a:solidFill>
            <a:schemeClr val="tx1"/>
          </a:solidFill>
          <a:ln/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pic>
        <p:nvPicPr>
          <p:cNvPr id="23" name="screen-146" descr="단독 녹음 화면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8785" y="1783080"/>
            <a:ext cx="1880262" cy="4069080"/>
          </a:xfrm>
          <a:prstGeom prst="rect">
            <a:avLst/>
          </a:prstGeom>
        </p:spPr>
      </p:pic>
      <p:sp>
        <p:nvSpPr>
          <p:cNvPr id="24" name="text-147"/>
          <p:cNvSpPr txBox="1"/>
          <p:nvPr/>
        </p:nvSpPr>
        <p:spPr>
          <a:xfrm>
            <a:off x="7178443" y="5943600"/>
            <a:ext cx="224602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녹음 시작 확인 창</a:t>
            </a:r>
            <a:endParaRPr lang="en-US" sz="1200" dirty="0"/>
          </a:p>
        </p:txBody>
      </p:sp>
      <p:sp>
        <p:nvSpPr>
          <p:cNvPr id="25" name="text-148"/>
          <p:cNvSpPr txBox="1"/>
          <p:nvPr/>
        </p:nvSpPr>
        <p:spPr>
          <a:xfrm>
            <a:off x="9515905" y="5943600"/>
            <a:ext cx="224602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녹음 화면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STEP 2  녹음 중 조작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9728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버튼을 누르거나 화면을 이동할 때 녹음이 이렇게 동작합니다</a:t>
            </a:r>
            <a:endParaRPr lang="en-US" sz="1600" dirty="0"/>
          </a:p>
        </p:txBody>
      </p:sp>
      <p:sp>
        <p:nvSpPr>
          <p:cNvPr id="4" name="card-149"/>
          <p:cNvSpPr/>
          <p:nvPr/>
        </p:nvSpPr>
        <p:spPr>
          <a:xfrm>
            <a:off x="548640" y="1783080"/>
            <a:ext cx="5410048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5" name="iconbg-150"/>
          <p:cNvSpPr/>
          <p:nvPr/>
        </p:nvSpPr>
        <p:spPr>
          <a:xfrm>
            <a:off x="868680" y="210312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con-15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7270" y="2251710"/>
            <a:ext cx="297180" cy="297180"/>
          </a:xfrm>
          <a:prstGeom prst="rect">
            <a:avLst/>
          </a:prstGeom>
        </p:spPr>
      </p:pic>
      <p:sp>
        <p:nvSpPr>
          <p:cNvPr id="7" name="text-152"/>
          <p:cNvSpPr txBox="1"/>
          <p:nvPr/>
        </p:nvSpPr>
        <p:spPr>
          <a:xfrm>
            <a:off x="1691640" y="2103120"/>
            <a:ext cx="39470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일시정지</a:t>
            </a:r>
            <a:endParaRPr lang="en-US" sz="2000" dirty="0"/>
          </a:p>
        </p:txBody>
      </p:sp>
      <p:sp>
        <p:nvSpPr>
          <p:cNvPr id="8" name="text-153"/>
          <p:cNvSpPr txBox="1"/>
          <p:nvPr/>
        </p:nvSpPr>
        <p:spPr>
          <a:xfrm>
            <a:off x="868680" y="2880360"/>
            <a:ext cx="47699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녹음 버튼을 누르면 "녹음이 일시정지 되었습니다." 안내와 함께 녹음이 멈춥니다. 다시 누르면 이어서 녹음됩니다.</a:t>
            </a:r>
            <a:endParaRPr lang="en-US" sz="1400" dirty="0"/>
          </a:p>
        </p:txBody>
      </p:sp>
      <p:sp>
        <p:nvSpPr>
          <p:cNvPr id="9" name="card-154"/>
          <p:cNvSpPr/>
          <p:nvPr/>
        </p:nvSpPr>
        <p:spPr>
          <a:xfrm>
            <a:off x="6233008" y="1783080"/>
            <a:ext cx="5410048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10" name="iconbg-155"/>
          <p:cNvSpPr/>
          <p:nvPr/>
        </p:nvSpPr>
        <p:spPr>
          <a:xfrm>
            <a:off x="6553048" y="210312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-156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1638" y="2251710"/>
            <a:ext cx="297180" cy="297180"/>
          </a:xfrm>
          <a:prstGeom prst="rect">
            <a:avLst/>
          </a:prstGeom>
        </p:spPr>
      </p:pic>
      <p:sp>
        <p:nvSpPr>
          <p:cNvPr id="12" name="text-157"/>
          <p:cNvSpPr txBox="1"/>
          <p:nvPr/>
        </p:nvSpPr>
        <p:spPr>
          <a:xfrm>
            <a:off x="7376008" y="2103120"/>
            <a:ext cx="39470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뒤로 가기</a:t>
            </a:r>
            <a:endParaRPr lang="en-US" sz="2000" dirty="0"/>
          </a:p>
        </p:txBody>
      </p:sp>
      <p:sp>
        <p:nvSpPr>
          <p:cNvPr id="13" name="text-158"/>
          <p:cNvSpPr txBox="1"/>
          <p:nvPr/>
        </p:nvSpPr>
        <p:spPr>
          <a:xfrm>
            <a:off x="6553048" y="2880360"/>
            <a:ext cx="47699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녹음이 취소되지 않고 일시정지됩니다.</a:t>
            </a:r>
            <a:endParaRPr lang="en-US" sz="1400" dirty="0"/>
          </a:p>
        </p:txBody>
      </p:sp>
      <p:sp>
        <p:nvSpPr>
          <p:cNvPr id="14" name="card-159"/>
          <p:cNvSpPr/>
          <p:nvPr/>
        </p:nvSpPr>
        <p:spPr>
          <a:xfrm>
            <a:off x="548640" y="4160520"/>
            <a:ext cx="5410048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15" name="iconbg-160"/>
          <p:cNvSpPr/>
          <p:nvPr/>
        </p:nvSpPr>
        <p:spPr>
          <a:xfrm>
            <a:off x="868680" y="448056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icon-16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270" y="4629150"/>
            <a:ext cx="297180" cy="297180"/>
          </a:xfrm>
          <a:prstGeom prst="rect">
            <a:avLst/>
          </a:prstGeom>
        </p:spPr>
      </p:pic>
      <p:sp>
        <p:nvSpPr>
          <p:cNvPr id="17" name="text-162"/>
          <p:cNvSpPr txBox="1"/>
          <p:nvPr/>
        </p:nvSpPr>
        <p:spPr>
          <a:xfrm>
            <a:off x="1691640" y="4480560"/>
            <a:ext cx="39470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다른 앱으로 이동 / 화면 끔</a:t>
            </a:r>
            <a:endParaRPr lang="en-US" sz="2000" dirty="0"/>
          </a:p>
        </p:txBody>
      </p:sp>
      <p:sp>
        <p:nvSpPr>
          <p:cNvPr id="18" name="text-163"/>
          <p:cNvSpPr txBox="1"/>
          <p:nvPr/>
        </p:nvSpPr>
        <p:spPr>
          <a:xfrm>
            <a:off x="868680" y="5257800"/>
            <a:ext cx="47699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녹음이 계속됩니다. 녹음 중에는 화면이 자동으로 꺼지지 않습니다. 단, 다른 앱이 마이크를 쓰면 녹음이 정상적으로 되지 않을 수 있습니다.</a:t>
            </a:r>
            <a:endParaRPr lang="en-US" sz="1400" dirty="0"/>
          </a:p>
        </p:txBody>
      </p:sp>
      <p:sp>
        <p:nvSpPr>
          <p:cNvPr id="19" name="card-164"/>
          <p:cNvSpPr/>
          <p:nvPr/>
        </p:nvSpPr>
        <p:spPr>
          <a:xfrm>
            <a:off x="6233008" y="4160520"/>
            <a:ext cx="5410048" cy="2103120"/>
          </a:xfrm>
          <a:prstGeom prst="roundRect">
            <a:avLst>
              <a:gd name="adj" fmla="val 5217"/>
            </a:avLst>
          </a:prstGeom>
          <a:solidFill>
            <a:schemeClr val="accent6"/>
          </a:solidFill>
          <a:ln/>
        </p:spPr>
      </p:sp>
      <p:sp>
        <p:nvSpPr>
          <p:cNvPr id="20" name="iconbg-165"/>
          <p:cNvSpPr/>
          <p:nvPr/>
        </p:nvSpPr>
        <p:spPr>
          <a:xfrm>
            <a:off x="6553048" y="4480560"/>
            <a:ext cx="594360" cy="59436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1" name="icon-166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1638" y="4629150"/>
            <a:ext cx="297180" cy="297180"/>
          </a:xfrm>
          <a:prstGeom prst="rect">
            <a:avLst/>
          </a:prstGeom>
        </p:spPr>
      </p:pic>
      <p:sp>
        <p:nvSpPr>
          <p:cNvPr id="22" name="text-167"/>
          <p:cNvSpPr txBox="1"/>
          <p:nvPr/>
        </p:nvSpPr>
        <p:spPr>
          <a:xfrm>
            <a:off x="7376008" y="4480560"/>
            <a:ext cx="39470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[취소]</a:t>
            </a:r>
            <a:endParaRPr lang="en-US" sz="2000" dirty="0"/>
          </a:p>
        </p:txBody>
      </p:sp>
      <p:sp>
        <p:nvSpPr>
          <p:cNvPr id="23" name="text-168"/>
          <p:cNvSpPr txBox="1"/>
          <p:nvPr/>
        </p:nvSpPr>
        <p:spPr>
          <a:xfrm>
            <a:off x="6553048" y="5257800"/>
            <a:ext cx="47699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확인하면 지금까지의 녹음이 저장되지 않고 삭제됩니다. 삭제한 녹음은 복구할 수 없습니다.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STEP 2  녹음이 자동으로 멈출 때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9728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아래 상황에서는 앱이 녹음을 멈추거나 중지합니다</a:t>
            </a:r>
            <a:endParaRPr lang="en-US" sz="1600" dirty="0"/>
          </a:p>
        </p:txBody>
      </p:sp>
      <p:graphicFrame>
        <p:nvGraphicFramePr>
          <p:cNvPr id="9" name="table-16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2514600"/>
                <a:gridCol w="4297680"/>
                <a:gridCol w="4282135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상황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앱 동작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내가 할 일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전화 수신</a:t>
                      </a:r>
                      <a:endParaRPr lang="en-US" sz="1300" dirty="0"/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"통화로 인해 녹음이 일시정지 되었습니다." 안내와 함께 자동으로 일시정지</a:t>
                      </a:r>
                      <a:endParaRPr lang="en-US" sz="1300" dirty="0"/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통화가 끝나거나 거절하면 자동으로 다시 녹음됩니다. 재개되지 않으면 녹음 버튼을 누르세요.</a:t>
                      </a:r>
                      <a:endParaRPr lang="en-US" sz="1300" dirty="0"/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통화 중 녹음 시작·재개</a:t>
                      </a:r>
                      <a:endParaRPr lang="en-US" sz="1300" dirty="0"/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"녹음할 수 없습니다" 안내</a:t>
                      </a:r>
                      <a:endParaRPr lang="en-US" sz="1300" dirty="0"/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통화를 마친 뒤 녹음 버튼을 누르세요.</a:t>
                      </a:r>
                      <a:endParaRPr lang="en-US" sz="1300" dirty="0"/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알림음·알람·긴급재난문자</a:t>
                      </a:r>
                      <a:endParaRPr lang="en-US" sz="1300" dirty="0"/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녹음이 잠시 멈출 수 있습니다. iPhone은 알림이 끝나면 자동으로 다시 녹음됩니다.</a:t>
                      </a:r>
                      <a:endParaRPr lang="en-US" sz="1300" dirty="0"/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경과 시간이 계속 흐르는지 확인하고, 멈춰 있으면 녹음 버튼을 누르세요.</a:t>
                      </a:r>
                      <a:endParaRPr lang="en-US" sz="1300" dirty="0"/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최대 3시간 도달</a:t>
                      </a:r>
                      <a:endParaRPr lang="en-US" sz="1300" dirty="0"/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녹음이 자동으로 멈추고 완료 설정 창이 열립니다.</a:t>
                      </a:r>
                      <a:endParaRPr lang="en-US" sz="1300" dirty="0"/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설정을 확인하고 [확인]을 누르세요.</a:t>
                      </a:r>
                      <a:endParaRPr lang="en-US" sz="1300" dirty="0"/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저장공간 95% 초과</a:t>
                      </a:r>
                      <a:endParaRPr lang="en-US" sz="1300" dirty="0"/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"디스크 용량이 95%를 초과하여 녹음이 중지되었습니다." 안내와 함께 자동 중지</a:t>
                      </a:r>
                      <a:endParaRPr lang="en-US" sz="1300" dirty="0"/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휴대폰 저장공간을 확보하세요.</a:t>
                      </a:r>
                      <a:endParaRPr lang="en-US" sz="1300" dirty="0"/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-170"/>
          <p:cNvSpPr txBox="1"/>
          <p:nvPr/>
        </p:nvSpPr>
        <p:spPr>
          <a:xfrm>
            <a:off x="548640" y="59436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※ 전화 수신과 알림 관련 동작은 휴대폰 기종과 OS 버전에 따라 다를 수 있습니다.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STEP 3  녹음 종료와 완료 설정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9728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오른쪽 아래 [종료]를 누르면 녹음이 멈추고 녹음 완료 설정 창이 열립니다</a:t>
            </a:r>
            <a:endParaRPr lang="en-US" sz="1600" dirty="0"/>
          </a:p>
        </p:txBody>
      </p:sp>
      <p:sp>
        <p:nvSpPr>
          <p:cNvPr id="4" name="card-171"/>
          <p:cNvSpPr/>
          <p:nvPr/>
        </p:nvSpPr>
        <p:spPr>
          <a:xfrm>
            <a:off x="548640" y="1783080"/>
            <a:ext cx="411480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5" name="text-172"/>
          <p:cNvSpPr txBox="1"/>
          <p:nvPr/>
        </p:nvSpPr>
        <p:spPr>
          <a:xfrm>
            <a:off x="822960" y="1984248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참석자 수 (회의 규모)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1~2명 / 3~6명 / 7~10명 / 11명 이상. 실제로 발언한 사람 수를 기준으로 고르면 인식 정확도가 높아집니다.</a:t>
            </a:r>
            <a:endParaRPr lang="en-US" sz="1400" dirty="0"/>
          </a:p>
        </p:txBody>
      </p:sp>
      <p:sp>
        <p:nvSpPr>
          <p:cNvPr id="6" name="card-173"/>
          <p:cNvSpPr/>
          <p:nvPr/>
        </p:nvSpPr>
        <p:spPr>
          <a:xfrm>
            <a:off x="4937760" y="1783080"/>
            <a:ext cx="411480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7" name="text-174"/>
          <p:cNvSpPr txBox="1"/>
          <p:nvPr/>
        </p:nvSpPr>
        <p:spPr>
          <a:xfrm>
            <a:off x="5212080" y="1984248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인식 언어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한국어(기본), 영어, 일본어, 중국어</a:t>
            </a:r>
            <a:endParaRPr lang="en-US" sz="1400" dirty="0"/>
          </a:p>
        </p:txBody>
      </p:sp>
      <p:sp>
        <p:nvSpPr>
          <p:cNvPr id="8" name="card-175"/>
          <p:cNvSpPr/>
          <p:nvPr/>
        </p:nvSpPr>
        <p:spPr>
          <a:xfrm>
            <a:off x="548640" y="3474720"/>
            <a:ext cx="411480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9" name="text-176"/>
          <p:cNvSpPr txBox="1"/>
          <p:nvPr/>
        </p:nvSpPr>
        <p:spPr>
          <a:xfrm>
            <a:off x="822960" y="3675888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요약 템플릿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회의록 요약 형식을 고릅니다.</a:t>
            </a:r>
            <a:endParaRPr lang="en-US" sz="1400" dirty="0"/>
          </a:p>
        </p:txBody>
      </p:sp>
      <p:sp>
        <p:nvSpPr>
          <p:cNvPr id="10" name="card-177"/>
          <p:cNvSpPr/>
          <p:nvPr/>
        </p:nvSpPr>
        <p:spPr>
          <a:xfrm>
            <a:off x="4937760" y="3474720"/>
            <a:ext cx="411480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11" name="text-178"/>
          <p:cNvSpPr txBox="1"/>
          <p:nvPr/>
        </p:nvSpPr>
        <p:spPr>
          <a:xfrm>
            <a:off x="5212080" y="3675888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회의록 제목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회의록 제목을 입력합니다.</a:t>
            </a:r>
            <a:endParaRPr lang="en-US" sz="1400" dirty="0"/>
          </a:p>
        </p:txBody>
      </p:sp>
      <p:sp>
        <p:nvSpPr>
          <p:cNvPr id="12" name="card-179"/>
          <p:cNvSpPr/>
          <p:nvPr/>
        </p:nvSpPr>
        <p:spPr>
          <a:xfrm>
            <a:off x="548640" y="5120640"/>
            <a:ext cx="8503920" cy="1051560"/>
          </a:xfrm>
          <a:prstGeom prst="roundRect">
            <a:avLst>
              <a:gd name="adj" fmla="val 10435"/>
            </a:avLst>
          </a:prstGeom>
          <a:solidFill>
            <a:schemeClr val="accent2"/>
          </a:solidFill>
          <a:ln/>
        </p:spPr>
      </p:sp>
      <p:sp>
        <p:nvSpPr>
          <p:cNvPr id="13" name="iconbg-180"/>
          <p:cNvSpPr/>
          <p:nvPr/>
        </p:nvSpPr>
        <p:spPr>
          <a:xfrm>
            <a:off x="822960" y="53949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icon-18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8690" y="5520690"/>
            <a:ext cx="251460" cy="251460"/>
          </a:xfrm>
          <a:prstGeom prst="rect">
            <a:avLst/>
          </a:prstGeom>
        </p:spPr>
      </p:pic>
      <p:sp>
        <p:nvSpPr>
          <p:cNvPr id="15" name="text-182"/>
          <p:cNvSpPr txBox="1"/>
          <p:nvPr/>
        </p:nvSpPr>
        <p:spPr>
          <a:xfrm>
            <a:off x="1554480" y="5230368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[확인]을 누르면 바로 홈으로 이동하고 업로드가 자동으로 시작됩니다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업로드가 끝날 때까지 기다리지 않아도 됩니다. 바로 새 녹음을 시작해도 앞선 녹음은 순서대로 업로드됩니다.</a:t>
            </a:r>
            <a:endParaRPr lang="en-US" sz="1400" dirty="0"/>
          </a:p>
        </p:txBody>
      </p:sp>
      <p:sp>
        <p:nvSpPr>
          <p:cNvPr id="16" name="phone-183"/>
          <p:cNvSpPr/>
          <p:nvPr/>
        </p:nvSpPr>
        <p:spPr>
          <a:xfrm>
            <a:off x="9486891" y="1719072"/>
            <a:ext cx="2156164" cy="4517136"/>
          </a:xfrm>
          <a:prstGeom prst="roundRect">
            <a:avLst>
              <a:gd name="adj" fmla="val 9330"/>
            </a:avLst>
          </a:prstGeom>
          <a:solidFill>
            <a:schemeClr val="tx1"/>
          </a:solidFill>
          <a:ln/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pic>
        <p:nvPicPr>
          <p:cNvPr id="17" name="screen-184" descr="녹음 완료 설정 창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0899" y="1783080"/>
            <a:ext cx="2028148" cy="43891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STEP 4  파일 업로드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9728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홈 화면 하단에 "파일 업로드 N건 진행 중" 패널이 나타납니다</a:t>
            </a:r>
            <a:endParaRPr lang="en-US" sz="1600" dirty="0"/>
          </a:p>
        </p:txBody>
      </p:sp>
      <p:sp>
        <p:nvSpPr>
          <p:cNvPr id="4" name="card-185"/>
          <p:cNvSpPr/>
          <p:nvPr/>
        </p:nvSpPr>
        <p:spPr>
          <a:xfrm>
            <a:off x="548640" y="1783080"/>
            <a:ext cx="5577840" cy="438912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/>
        </p:spPr>
      </p:sp>
      <p:sp>
        <p:nvSpPr>
          <p:cNvPr id="5" name="panelbg-186"/>
          <p:cNvSpPr/>
          <p:nvPr/>
        </p:nvSpPr>
        <p:spPr>
          <a:xfrm>
            <a:off x="914400" y="2148840"/>
            <a:ext cx="4846320" cy="2950758"/>
          </a:xfrm>
          <a:prstGeom prst="roundRect">
            <a:avLst>
              <a:gd name="adj" fmla="val 3099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pic>
        <p:nvPicPr>
          <p:cNvPr id="6" name="panel-187" descr="파일 업로드 진행 패널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194560"/>
            <a:ext cx="4754880" cy="2859318"/>
          </a:xfrm>
          <a:prstGeom prst="rect">
            <a:avLst/>
          </a:prstGeom>
        </p:spPr>
      </p:pic>
      <p:sp>
        <p:nvSpPr>
          <p:cNvPr id="7" name="text-188"/>
          <p:cNvSpPr txBox="1"/>
          <p:nvPr/>
        </p:nvSpPr>
        <p:spPr>
          <a:xfrm>
            <a:off x="914400" y="525780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파일명, 진행률(%), 전송 속도, 남은 시간이 표시됩니다. 패널 제목을 누르면 접거나 펼칠 수 있습니다.</a:t>
            </a:r>
            <a:endParaRPr lang="en-US" sz="1300" dirty="0"/>
          </a:p>
        </p:txBody>
      </p:sp>
      <p:sp>
        <p:nvSpPr>
          <p:cNvPr id="8" name="card-189"/>
          <p:cNvSpPr/>
          <p:nvPr/>
        </p:nvSpPr>
        <p:spPr>
          <a:xfrm>
            <a:off x="6492240" y="1783080"/>
            <a:ext cx="5150815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9" name="iconbg-190"/>
          <p:cNvSpPr/>
          <p:nvPr/>
        </p:nvSpPr>
        <p:spPr>
          <a:xfrm>
            <a:off x="6766560" y="214884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con-19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5150" y="2297430"/>
            <a:ext cx="297180" cy="297180"/>
          </a:xfrm>
          <a:prstGeom prst="rect">
            <a:avLst/>
          </a:prstGeom>
        </p:spPr>
      </p:pic>
      <p:sp>
        <p:nvSpPr>
          <p:cNvPr id="11" name="text-192"/>
          <p:cNvSpPr txBox="1"/>
          <p:nvPr/>
        </p:nvSpPr>
        <p:spPr>
          <a:xfrm>
            <a:off x="7589520" y="1920240"/>
            <a:ext cx="382493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들어온 순서대로 한 건씩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녹음이 여러 건이면 순서대로 자동 업로드됩니다.</a:t>
            </a:r>
            <a:endParaRPr lang="en-US" sz="1400" dirty="0"/>
          </a:p>
        </p:txBody>
      </p:sp>
      <p:sp>
        <p:nvSpPr>
          <p:cNvPr id="12" name="card-193"/>
          <p:cNvSpPr/>
          <p:nvPr/>
        </p:nvSpPr>
        <p:spPr>
          <a:xfrm>
            <a:off x="6492240" y="3291840"/>
            <a:ext cx="5150815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13" name="iconbg-194"/>
          <p:cNvSpPr/>
          <p:nvPr/>
        </p:nvSpPr>
        <p:spPr>
          <a:xfrm>
            <a:off x="6766560" y="365760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icon-195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5150" y="3806190"/>
            <a:ext cx="297180" cy="297180"/>
          </a:xfrm>
          <a:prstGeom prst="rect">
            <a:avLst/>
          </a:prstGeom>
        </p:spPr>
      </p:pic>
      <p:sp>
        <p:nvSpPr>
          <p:cNvPr id="15" name="text-196"/>
          <p:cNvSpPr txBox="1"/>
          <p:nvPr/>
        </p:nvSpPr>
        <p:spPr>
          <a:xfrm>
            <a:off x="7589520" y="3429000"/>
            <a:ext cx="382493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다른 화면으로 가도 계속 진행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다른 화면으로 이동하거나 앱을 백그라운드로 보내도 업로드가 계속됩니다.</a:t>
            </a:r>
            <a:endParaRPr lang="en-US" sz="1400" dirty="0"/>
          </a:p>
        </p:txBody>
      </p:sp>
      <p:sp>
        <p:nvSpPr>
          <p:cNvPr id="16" name="card-197"/>
          <p:cNvSpPr/>
          <p:nvPr/>
        </p:nvSpPr>
        <p:spPr>
          <a:xfrm>
            <a:off x="6492240" y="4800600"/>
            <a:ext cx="5150815" cy="1325880"/>
          </a:xfrm>
          <a:prstGeom prst="roundRect">
            <a:avLst>
              <a:gd name="adj" fmla="val 8276"/>
            </a:avLst>
          </a:prstGeom>
          <a:solidFill>
            <a:schemeClr val="accent6"/>
          </a:solidFill>
          <a:ln/>
        </p:spPr>
      </p:sp>
      <p:sp>
        <p:nvSpPr>
          <p:cNvPr id="17" name="iconbg-198"/>
          <p:cNvSpPr/>
          <p:nvPr/>
        </p:nvSpPr>
        <p:spPr>
          <a:xfrm>
            <a:off x="6766560" y="5166360"/>
            <a:ext cx="594360" cy="59436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8" name="icon-199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5150" y="5314950"/>
            <a:ext cx="297180" cy="297180"/>
          </a:xfrm>
          <a:prstGeom prst="rect">
            <a:avLst/>
          </a:prstGeom>
        </p:spPr>
      </p:pic>
      <p:sp>
        <p:nvSpPr>
          <p:cNvPr id="19" name="text-200"/>
          <p:cNvSpPr txBox="1"/>
          <p:nvPr/>
        </p:nvSpPr>
        <p:spPr>
          <a:xfrm>
            <a:off x="7589520" y="4937760"/>
            <a:ext cx="382493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앱을 완전히 종료하지 마세요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업로드 중에 앱을 완전히 종료하면 업로드가 중단될 수 있습니다.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STEP 5–6  변환과 회의록 완성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9728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업로드가 끝나면 서버에서 회의록을 만들고, 완성되면 알림을 보냅니다</a:t>
            </a:r>
            <a:endParaRPr lang="en-US" sz="1600" dirty="0"/>
          </a:p>
        </p:txBody>
      </p:sp>
      <p:sp>
        <p:nvSpPr>
          <p:cNvPr id="4" name="card-201"/>
          <p:cNvSpPr/>
          <p:nvPr/>
        </p:nvSpPr>
        <p:spPr>
          <a:xfrm>
            <a:off x="548640" y="1783080"/>
            <a:ext cx="4114800" cy="438912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/>
        </p:spPr>
      </p:sp>
      <p:sp>
        <p:nvSpPr>
          <p:cNvPr id="5" name="chip-202"/>
          <p:cNvSpPr/>
          <p:nvPr/>
        </p:nvSpPr>
        <p:spPr>
          <a:xfrm>
            <a:off x="822960" y="2057400"/>
            <a:ext cx="868680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6" name="text-203"/>
          <p:cNvSpPr txBox="1"/>
          <p:nvPr/>
        </p:nvSpPr>
        <p:spPr>
          <a:xfrm>
            <a:off x="822960" y="205740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STEP 5</a:t>
            </a:r>
            <a:endParaRPr lang="en-US" sz="1100" dirty="0"/>
          </a:p>
        </p:txBody>
      </p:sp>
      <p:sp>
        <p:nvSpPr>
          <p:cNvPr id="7" name="text-204"/>
          <p:cNvSpPr txBox="1"/>
          <p:nvPr/>
        </p:nvSpPr>
        <p:spPr>
          <a:xfrm>
            <a:off x="822960" y="244144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녹음 파일 변환</a:t>
            </a:r>
            <a:endParaRPr lang="en-US" sz="2000" dirty="0"/>
          </a:p>
        </p:txBody>
      </p:sp>
      <p:sp>
        <p:nvSpPr>
          <p:cNvPr id="8" name="text-205"/>
          <p:cNvSpPr txBox="1"/>
          <p:nvPr/>
        </p:nvSpPr>
        <p:spPr>
          <a:xfrm>
            <a:off x="822960" y="28803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패널이 "녹음 파일 변환 N건 진행 중"으로 바뀝니다</a:t>
            </a:r>
            <a:endParaRPr lang="en-US" sz="1300" dirty="0"/>
          </a:p>
        </p:txBody>
      </p:sp>
      <p:sp>
        <p:nvSpPr>
          <p:cNvPr id="9" name="panelbg-206"/>
          <p:cNvSpPr/>
          <p:nvPr/>
        </p:nvSpPr>
        <p:spPr>
          <a:xfrm>
            <a:off x="822960" y="3429000"/>
            <a:ext cx="3566160" cy="1664518"/>
          </a:xfrm>
          <a:prstGeom prst="roundRect">
            <a:avLst>
              <a:gd name="adj" fmla="val 5493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pic>
        <p:nvPicPr>
          <p:cNvPr id="10" name="panel-207" descr="녹음 파일 변환 패널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3474720"/>
            <a:ext cx="3474720" cy="1573078"/>
          </a:xfrm>
          <a:prstGeom prst="rect">
            <a:avLst/>
          </a:prstGeom>
        </p:spPr>
      </p:pic>
      <p:sp>
        <p:nvSpPr>
          <p:cNvPr id="11" name="num-208"/>
          <p:cNvSpPr/>
          <p:nvPr/>
        </p:nvSpPr>
        <p:spPr>
          <a:xfrm>
            <a:off x="822960" y="5230368"/>
            <a:ext cx="237744" cy="23774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-209"/>
          <p:cNvSpPr txBox="1"/>
          <p:nvPr/>
        </p:nvSpPr>
        <p:spPr>
          <a:xfrm>
            <a:off x="822960" y="523036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1</a:t>
            </a:r>
            <a:endParaRPr lang="en-US" sz="1000" dirty="0"/>
          </a:p>
        </p:txBody>
      </p:sp>
      <p:sp>
        <p:nvSpPr>
          <p:cNvPr id="13" name="text-210"/>
          <p:cNvSpPr txBox="1"/>
          <p:nvPr/>
        </p:nvSpPr>
        <p:spPr>
          <a:xfrm>
            <a:off x="1188720" y="5212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음성 인식 중...</a:t>
            </a:r>
            <a:endParaRPr lang="en-US" sz="1300" dirty="0"/>
          </a:p>
        </p:txBody>
      </p:sp>
      <p:sp>
        <p:nvSpPr>
          <p:cNvPr id="14" name="num-211"/>
          <p:cNvSpPr/>
          <p:nvPr/>
        </p:nvSpPr>
        <p:spPr>
          <a:xfrm>
            <a:off x="822960" y="5532120"/>
            <a:ext cx="237744" cy="23774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-212"/>
          <p:cNvSpPr txBox="1"/>
          <p:nvPr/>
        </p:nvSpPr>
        <p:spPr>
          <a:xfrm>
            <a:off x="822960" y="553212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2</a:t>
            </a:r>
            <a:endParaRPr lang="en-US" sz="1000" dirty="0"/>
          </a:p>
        </p:txBody>
      </p:sp>
      <p:sp>
        <p:nvSpPr>
          <p:cNvPr id="16" name="text-213"/>
          <p:cNvSpPr txBox="1"/>
          <p:nvPr/>
        </p:nvSpPr>
        <p:spPr>
          <a:xfrm>
            <a:off x="1188720" y="55138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요약 진행 중...</a:t>
            </a:r>
            <a:endParaRPr lang="en-US" sz="1300" dirty="0"/>
          </a:p>
        </p:txBody>
      </p:sp>
      <p:sp>
        <p:nvSpPr>
          <p:cNvPr id="17" name="num-214"/>
          <p:cNvSpPr/>
          <p:nvPr/>
        </p:nvSpPr>
        <p:spPr>
          <a:xfrm>
            <a:off x="822960" y="5833872"/>
            <a:ext cx="237744" cy="23774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8" name="text-215"/>
          <p:cNvSpPr txBox="1"/>
          <p:nvPr/>
        </p:nvSpPr>
        <p:spPr>
          <a:xfrm>
            <a:off x="822960" y="58338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3</a:t>
            </a:r>
            <a:endParaRPr lang="en-US" sz="1000" dirty="0"/>
          </a:p>
        </p:txBody>
      </p:sp>
      <p:sp>
        <p:nvSpPr>
          <p:cNvPr id="19" name="text-216"/>
          <p:cNvSpPr txBox="1"/>
          <p:nvPr/>
        </p:nvSpPr>
        <p:spPr>
          <a:xfrm>
            <a:off x="1188720" y="581558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요약 진행 완료</a:t>
            </a:r>
            <a:endParaRPr lang="en-US" sz="1300" dirty="0"/>
          </a:p>
        </p:txBody>
      </p:sp>
      <p:sp>
        <p:nvSpPr>
          <p:cNvPr id="20" name="card-217"/>
          <p:cNvSpPr/>
          <p:nvPr/>
        </p:nvSpPr>
        <p:spPr>
          <a:xfrm>
            <a:off x="4937760" y="1783080"/>
            <a:ext cx="4114800" cy="4389120"/>
          </a:xfrm>
          <a:prstGeom prst="roundRect">
            <a:avLst>
              <a:gd name="adj" fmla="val 2667"/>
            </a:avLst>
          </a:prstGeom>
          <a:solidFill>
            <a:schemeClr val="accent2"/>
          </a:solidFill>
          <a:ln/>
        </p:spPr>
      </p:sp>
      <p:sp>
        <p:nvSpPr>
          <p:cNvPr id="21" name="chip-218"/>
          <p:cNvSpPr/>
          <p:nvPr/>
        </p:nvSpPr>
        <p:spPr>
          <a:xfrm>
            <a:off x="5212080" y="2057400"/>
            <a:ext cx="868680" cy="29260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</p:sp>
      <p:sp>
        <p:nvSpPr>
          <p:cNvPr id="22" name="text-219"/>
          <p:cNvSpPr txBox="1"/>
          <p:nvPr/>
        </p:nvSpPr>
        <p:spPr>
          <a:xfrm>
            <a:off x="5212080" y="205740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STEP 6</a:t>
            </a:r>
            <a:endParaRPr lang="en-US" sz="1100" dirty="0"/>
          </a:p>
        </p:txBody>
      </p:sp>
      <p:sp>
        <p:nvSpPr>
          <p:cNvPr id="23" name="text-220"/>
          <p:cNvSpPr txBox="1"/>
          <p:nvPr/>
        </p:nvSpPr>
        <p:spPr>
          <a:xfrm>
            <a:off x="5212080" y="244144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회의록 완성</a:t>
            </a:r>
            <a:endParaRPr lang="en-US" sz="2000" dirty="0"/>
          </a:p>
        </p:txBody>
      </p:sp>
      <p:sp>
        <p:nvSpPr>
          <p:cNvPr id="24" name="text-221"/>
          <p:cNvSpPr txBox="1"/>
          <p:nvPr/>
        </p:nvSpPr>
        <p:spPr>
          <a:xfrm>
            <a:off x="5212080" y="288036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변환이 끝나면 패널이 사라지고, 앱 알림함에 "회의록이 생성되었습니다." 알림이 표시됩니다.</a:t>
            </a:r>
            <a:endParaRPr lang="en-US" sz="1300" dirty="0"/>
          </a:p>
        </p:txBody>
      </p:sp>
      <p:sp>
        <p:nvSpPr>
          <p:cNvPr id="25" name="card-222"/>
          <p:cNvSpPr/>
          <p:nvPr/>
        </p:nvSpPr>
        <p:spPr>
          <a:xfrm>
            <a:off x="5212080" y="3931920"/>
            <a:ext cx="3566160" cy="1965960"/>
          </a:xfrm>
          <a:prstGeom prst="roundRect">
            <a:avLst>
              <a:gd name="adj" fmla="val 5581"/>
            </a:avLst>
          </a:prstGeom>
          <a:solidFill>
            <a:schemeClr val="bg1"/>
          </a:solidFill>
          <a:ln/>
        </p:spPr>
      </p:sp>
      <p:sp>
        <p:nvSpPr>
          <p:cNvPr id="26" name="iconbg-223"/>
          <p:cNvSpPr/>
          <p:nvPr/>
        </p:nvSpPr>
        <p:spPr>
          <a:xfrm>
            <a:off x="5440680" y="41605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7" name="icon-224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4297680"/>
            <a:ext cx="274320" cy="274320"/>
          </a:xfrm>
          <a:prstGeom prst="rect">
            <a:avLst/>
          </a:prstGeom>
        </p:spPr>
      </p:pic>
      <p:sp>
        <p:nvSpPr>
          <p:cNvPr id="28" name="text-225"/>
          <p:cNvSpPr txBox="1"/>
          <p:nvPr/>
        </p:nvSpPr>
        <p:spPr>
          <a:xfrm>
            <a:off x="6126480" y="41605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회의록은 PC에서 확인</a:t>
            </a:r>
            <a:endParaRPr lang="en-US" sz="1600" dirty="0"/>
          </a:p>
        </p:txBody>
      </p:sp>
      <p:sp>
        <p:nvSpPr>
          <p:cNvPr id="29" name="text-226"/>
          <p:cNvSpPr txBox="1"/>
          <p:nvPr/>
        </p:nvSpPr>
        <p:spPr>
          <a:xfrm>
            <a:off x="5440680" y="48463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PC에서 AI회의록 시스템에 접속해 완성된 회의록을 확인하세요.</a:t>
            </a:r>
            <a:endParaRPr lang="en-US" sz="1300" dirty="0"/>
          </a:p>
        </p:txBody>
      </p:sp>
      <p:sp>
        <p:nvSpPr>
          <p:cNvPr id="30" name="text-227"/>
          <p:cNvSpPr txBox="1"/>
          <p:nvPr/>
        </p:nvSpPr>
        <p:spPr>
          <a:xfrm>
            <a:off x="5440680" y="53949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u="sng" dirty="0">
                <a:solidFill>
                  <a:schemeClr val="accent1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aimeeting.skhynix.com</a:t>
            </a:r>
            <a:endParaRPr lang="en-US" sz="1600" dirty="0"/>
          </a:p>
        </p:txBody>
      </p:sp>
      <p:sp>
        <p:nvSpPr>
          <p:cNvPr id="31" name="phone-228"/>
          <p:cNvSpPr/>
          <p:nvPr/>
        </p:nvSpPr>
        <p:spPr>
          <a:xfrm>
            <a:off x="9486891" y="1719072"/>
            <a:ext cx="2156164" cy="4517136"/>
          </a:xfrm>
          <a:prstGeom prst="roundRect">
            <a:avLst>
              <a:gd name="adj" fmla="val 9330"/>
            </a:avLst>
          </a:prstGeom>
          <a:solidFill>
            <a:schemeClr val="tx1"/>
          </a:solidFill>
          <a:ln/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pic>
        <p:nvPicPr>
          <p:cNvPr id="32" name="screen-229" descr="알림함 - 회의록 생성 알림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0899" y="1783080"/>
            <a:ext cx="2028148" cy="43891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1488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3"/>
                </a:solidFill>
              </a:rPr>
              <a:t>02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74320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그룹 녹음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79476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여러 대의 휴대폰으로 함께 녹음하고 하나의 회의록을 만듭니다</a:t>
            </a:r>
            <a:endParaRPr lang="en-US" sz="1800" dirty="0"/>
          </a:p>
        </p:txBody>
      </p:sp>
      <p:sp>
        <p:nvSpPr>
          <p:cNvPr id="5" name="wave-230"/>
          <p:cNvSpPr/>
          <p:nvPr/>
        </p:nvSpPr>
        <p:spPr>
          <a:xfrm>
            <a:off x="7818120" y="3136392"/>
            <a:ext cx="93269" cy="310896"/>
          </a:xfrm>
          <a:prstGeom prst="roundRect">
            <a:avLst>
              <a:gd name="adj" fmla="val 50000"/>
            </a:avLst>
          </a:prstGeom>
          <a:solidFill>
            <a:schemeClr val="accent3">
              <a:alpha val="55000"/>
            </a:schemeClr>
          </a:solidFill>
          <a:ln/>
        </p:spPr>
      </p:sp>
      <p:sp>
        <p:nvSpPr>
          <p:cNvPr id="6" name="wave-231"/>
          <p:cNvSpPr/>
          <p:nvPr/>
        </p:nvSpPr>
        <p:spPr>
          <a:xfrm>
            <a:off x="8004658" y="3000375"/>
            <a:ext cx="93269" cy="582930"/>
          </a:xfrm>
          <a:prstGeom prst="roundRect">
            <a:avLst>
              <a:gd name="adj" fmla="val 50000"/>
            </a:avLst>
          </a:prstGeom>
          <a:solidFill>
            <a:schemeClr val="accent1">
              <a:alpha val="55000"/>
            </a:schemeClr>
          </a:solidFill>
          <a:ln/>
        </p:spPr>
      </p:sp>
      <p:sp>
        <p:nvSpPr>
          <p:cNvPr id="7" name="wave-232"/>
          <p:cNvSpPr/>
          <p:nvPr/>
        </p:nvSpPr>
        <p:spPr>
          <a:xfrm>
            <a:off x="8191195" y="2825496"/>
            <a:ext cx="93269" cy="932688"/>
          </a:xfrm>
          <a:prstGeom prst="roundRect">
            <a:avLst>
              <a:gd name="adj" fmla="val 50000"/>
            </a:avLst>
          </a:prstGeom>
          <a:solidFill>
            <a:schemeClr val="accent1">
              <a:alpha val="55000"/>
            </a:schemeClr>
          </a:solidFill>
          <a:ln/>
        </p:spPr>
      </p:sp>
      <p:sp>
        <p:nvSpPr>
          <p:cNvPr id="8" name="wave-233"/>
          <p:cNvSpPr/>
          <p:nvPr/>
        </p:nvSpPr>
        <p:spPr>
          <a:xfrm>
            <a:off x="8377733" y="2942082"/>
            <a:ext cx="93269" cy="699516"/>
          </a:xfrm>
          <a:prstGeom prst="roundRect">
            <a:avLst>
              <a:gd name="adj" fmla="val 50000"/>
            </a:avLst>
          </a:prstGeom>
          <a:solidFill>
            <a:schemeClr val="accent3">
              <a:alpha val="55000"/>
            </a:schemeClr>
          </a:solidFill>
          <a:ln/>
        </p:spPr>
      </p:sp>
      <p:sp>
        <p:nvSpPr>
          <p:cNvPr id="9" name="wave-234"/>
          <p:cNvSpPr/>
          <p:nvPr/>
        </p:nvSpPr>
        <p:spPr>
          <a:xfrm>
            <a:off x="8564270" y="2650617"/>
            <a:ext cx="93269" cy="1282446"/>
          </a:xfrm>
          <a:prstGeom prst="roundRect">
            <a:avLst>
              <a:gd name="adj" fmla="val 50000"/>
            </a:avLst>
          </a:prstGeom>
          <a:solidFill>
            <a:schemeClr val="accent1">
              <a:alpha val="55000"/>
            </a:schemeClr>
          </a:solidFill>
          <a:ln/>
        </p:spPr>
      </p:sp>
      <p:sp>
        <p:nvSpPr>
          <p:cNvPr id="10" name="wave-235"/>
          <p:cNvSpPr/>
          <p:nvPr/>
        </p:nvSpPr>
        <p:spPr>
          <a:xfrm>
            <a:off x="8750808" y="2398014"/>
            <a:ext cx="93269" cy="1787652"/>
          </a:xfrm>
          <a:prstGeom prst="roundRect">
            <a:avLst>
              <a:gd name="adj" fmla="val 50000"/>
            </a:avLst>
          </a:prstGeom>
          <a:solidFill>
            <a:schemeClr val="accent4">
              <a:alpha val="55000"/>
            </a:schemeClr>
          </a:solidFill>
          <a:ln/>
        </p:spPr>
      </p:sp>
      <p:sp>
        <p:nvSpPr>
          <p:cNvPr id="11" name="wave-236"/>
          <p:cNvSpPr/>
          <p:nvPr/>
        </p:nvSpPr>
        <p:spPr>
          <a:xfrm>
            <a:off x="8937346" y="2728341"/>
            <a:ext cx="93269" cy="1126998"/>
          </a:xfrm>
          <a:prstGeom prst="roundRect">
            <a:avLst>
              <a:gd name="adj" fmla="val 50000"/>
            </a:avLst>
          </a:prstGeom>
          <a:solidFill>
            <a:schemeClr val="accent3">
              <a:alpha val="55000"/>
            </a:schemeClr>
          </a:solidFill>
          <a:ln/>
        </p:spPr>
      </p:sp>
      <p:sp>
        <p:nvSpPr>
          <p:cNvPr id="12" name="wave-237"/>
          <p:cNvSpPr/>
          <p:nvPr/>
        </p:nvSpPr>
        <p:spPr>
          <a:xfrm>
            <a:off x="9123883" y="2922651"/>
            <a:ext cx="93269" cy="738378"/>
          </a:xfrm>
          <a:prstGeom prst="roundRect">
            <a:avLst>
              <a:gd name="adj" fmla="val 50000"/>
            </a:avLst>
          </a:prstGeom>
          <a:solidFill>
            <a:schemeClr val="accent1">
              <a:alpha val="55000"/>
            </a:schemeClr>
          </a:solidFill>
          <a:ln/>
        </p:spPr>
      </p:sp>
      <p:sp>
        <p:nvSpPr>
          <p:cNvPr id="13" name="wave-238"/>
          <p:cNvSpPr/>
          <p:nvPr/>
        </p:nvSpPr>
        <p:spPr>
          <a:xfrm>
            <a:off x="9310421" y="2514600"/>
            <a:ext cx="93269" cy="1554480"/>
          </a:xfrm>
          <a:prstGeom prst="roundRect">
            <a:avLst>
              <a:gd name="adj" fmla="val 50000"/>
            </a:avLst>
          </a:prstGeom>
          <a:solidFill>
            <a:schemeClr val="accent1">
              <a:alpha val="55000"/>
            </a:schemeClr>
          </a:solidFill>
          <a:ln/>
        </p:spPr>
      </p:sp>
      <p:sp>
        <p:nvSpPr>
          <p:cNvPr id="14" name="wave-239"/>
          <p:cNvSpPr/>
          <p:nvPr/>
        </p:nvSpPr>
        <p:spPr>
          <a:xfrm>
            <a:off x="9496958" y="2261997"/>
            <a:ext cx="93269" cy="2059686"/>
          </a:xfrm>
          <a:prstGeom prst="roundRect">
            <a:avLst>
              <a:gd name="adj" fmla="val 50000"/>
            </a:avLst>
          </a:prstGeom>
          <a:solidFill>
            <a:schemeClr val="accent4">
              <a:alpha val="55000"/>
            </a:schemeClr>
          </a:solidFill>
          <a:ln/>
        </p:spPr>
      </p:sp>
      <p:sp>
        <p:nvSpPr>
          <p:cNvPr id="15" name="wave-240"/>
          <p:cNvSpPr/>
          <p:nvPr/>
        </p:nvSpPr>
        <p:spPr>
          <a:xfrm>
            <a:off x="9683496" y="2592324"/>
            <a:ext cx="93269" cy="1399032"/>
          </a:xfrm>
          <a:prstGeom prst="roundRect">
            <a:avLst>
              <a:gd name="adj" fmla="val 50000"/>
            </a:avLst>
          </a:prstGeom>
          <a:solidFill>
            <a:schemeClr val="accent1">
              <a:alpha val="55000"/>
            </a:schemeClr>
          </a:solidFill>
          <a:ln/>
        </p:spPr>
      </p:sp>
      <p:sp>
        <p:nvSpPr>
          <p:cNvPr id="16" name="wave-241"/>
          <p:cNvSpPr/>
          <p:nvPr/>
        </p:nvSpPr>
        <p:spPr>
          <a:xfrm>
            <a:off x="9870034" y="2825496"/>
            <a:ext cx="93269" cy="932688"/>
          </a:xfrm>
          <a:prstGeom prst="roundRect">
            <a:avLst>
              <a:gd name="adj" fmla="val 50000"/>
            </a:avLst>
          </a:prstGeom>
          <a:solidFill>
            <a:schemeClr val="accent1">
              <a:alpha val="55000"/>
            </a:schemeClr>
          </a:solidFill>
          <a:ln/>
        </p:spPr>
      </p:sp>
      <p:sp>
        <p:nvSpPr>
          <p:cNvPr id="17" name="wave-242"/>
          <p:cNvSpPr/>
          <p:nvPr/>
        </p:nvSpPr>
        <p:spPr>
          <a:xfrm>
            <a:off x="10056571" y="2436876"/>
            <a:ext cx="93269" cy="1709928"/>
          </a:xfrm>
          <a:prstGeom prst="roundRect">
            <a:avLst>
              <a:gd name="adj" fmla="val 50000"/>
            </a:avLst>
          </a:prstGeom>
          <a:solidFill>
            <a:schemeClr val="accent4">
              <a:alpha val="55000"/>
            </a:schemeClr>
          </a:solidFill>
          <a:ln/>
        </p:spPr>
      </p:sp>
      <p:sp>
        <p:nvSpPr>
          <p:cNvPr id="18" name="wave-243"/>
          <p:cNvSpPr/>
          <p:nvPr/>
        </p:nvSpPr>
        <p:spPr>
          <a:xfrm>
            <a:off x="10243109" y="2708910"/>
            <a:ext cx="93269" cy="1165860"/>
          </a:xfrm>
          <a:prstGeom prst="roundRect">
            <a:avLst>
              <a:gd name="adj" fmla="val 50000"/>
            </a:avLst>
          </a:prstGeom>
          <a:solidFill>
            <a:schemeClr val="accent1">
              <a:alpha val="55000"/>
            </a:schemeClr>
          </a:solidFill>
          <a:ln/>
        </p:spPr>
      </p:sp>
      <p:sp>
        <p:nvSpPr>
          <p:cNvPr id="19" name="wave-244"/>
          <p:cNvSpPr/>
          <p:nvPr/>
        </p:nvSpPr>
        <p:spPr>
          <a:xfrm>
            <a:off x="10429646" y="2922651"/>
            <a:ext cx="93269" cy="738378"/>
          </a:xfrm>
          <a:prstGeom prst="roundRect">
            <a:avLst>
              <a:gd name="adj" fmla="val 50000"/>
            </a:avLst>
          </a:prstGeom>
          <a:solidFill>
            <a:schemeClr val="accent1">
              <a:alpha val="55000"/>
            </a:schemeClr>
          </a:solidFill>
          <a:ln/>
        </p:spPr>
      </p:sp>
      <p:sp>
        <p:nvSpPr>
          <p:cNvPr id="20" name="wave-245"/>
          <p:cNvSpPr/>
          <p:nvPr/>
        </p:nvSpPr>
        <p:spPr>
          <a:xfrm>
            <a:off x="10616184" y="2786634"/>
            <a:ext cx="93269" cy="1010412"/>
          </a:xfrm>
          <a:prstGeom prst="roundRect">
            <a:avLst>
              <a:gd name="adj" fmla="val 50000"/>
            </a:avLst>
          </a:prstGeom>
          <a:solidFill>
            <a:schemeClr val="accent3">
              <a:alpha val="55000"/>
            </a:schemeClr>
          </a:solidFill>
          <a:ln/>
        </p:spPr>
      </p:sp>
      <p:sp>
        <p:nvSpPr>
          <p:cNvPr id="21" name="wave-246"/>
          <p:cNvSpPr/>
          <p:nvPr/>
        </p:nvSpPr>
        <p:spPr>
          <a:xfrm>
            <a:off x="10802722" y="3000375"/>
            <a:ext cx="93269" cy="582930"/>
          </a:xfrm>
          <a:prstGeom prst="roundRect">
            <a:avLst>
              <a:gd name="adj" fmla="val 50000"/>
            </a:avLst>
          </a:prstGeom>
          <a:solidFill>
            <a:schemeClr val="accent1">
              <a:alpha val="55000"/>
            </a:schemeClr>
          </a:solidFill>
          <a:ln/>
        </p:spPr>
      </p:sp>
      <p:sp>
        <p:nvSpPr>
          <p:cNvPr id="22" name="wave-247"/>
          <p:cNvSpPr/>
          <p:nvPr/>
        </p:nvSpPr>
        <p:spPr>
          <a:xfrm>
            <a:off x="10989259" y="3136392"/>
            <a:ext cx="93269" cy="310896"/>
          </a:xfrm>
          <a:prstGeom prst="roundRect">
            <a:avLst>
              <a:gd name="adj" fmla="val 50000"/>
            </a:avLst>
          </a:prstGeom>
          <a:solidFill>
            <a:schemeClr val="accent1">
              <a:alpha val="55000"/>
            </a:schemeClr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그룹 녹음은 이렇게 동작합니다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9728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그룹을 만든 사람이 진행자(방장), 코드를 입력해 들어온 사람이 참여자가 됩니다</a:t>
            </a:r>
            <a:endParaRPr lang="en-US" sz="1600" dirty="0"/>
          </a:p>
        </p:txBody>
      </p:sp>
      <p:sp>
        <p:nvSpPr>
          <p:cNvPr id="4" name="card-248"/>
          <p:cNvSpPr/>
          <p:nvPr/>
        </p:nvSpPr>
        <p:spPr>
          <a:xfrm>
            <a:off x="548640" y="1783080"/>
            <a:ext cx="3515258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5" name="text-249"/>
          <p:cNvSpPr txBox="1"/>
          <p:nvPr/>
        </p:nvSpPr>
        <p:spPr>
          <a:xfrm>
            <a:off x="868680" y="1920240"/>
            <a:ext cx="28751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최대 5대</a:t>
            </a:r>
            <a:endParaRPr lang="en-US" sz="3600" dirty="0"/>
          </a:p>
        </p:txBody>
      </p:sp>
      <p:sp>
        <p:nvSpPr>
          <p:cNvPr id="6" name="text-250"/>
          <p:cNvSpPr txBox="1"/>
          <p:nvPr/>
        </p:nvSpPr>
        <p:spPr>
          <a:xfrm>
            <a:off x="868680" y="2633472"/>
            <a:ext cx="28751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진행자 포함 참여 기기</a:t>
            </a:r>
            <a:endParaRPr lang="en-US" sz="1400" dirty="0"/>
          </a:p>
        </p:txBody>
      </p:sp>
      <p:sp>
        <p:nvSpPr>
          <p:cNvPr id="7" name="card-251"/>
          <p:cNvSpPr/>
          <p:nvPr/>
        </p:nvSpPr>
        <p:spPr>
          <a:xfrm>
            <a:off x="4338218" y="1783080"/>
            <a:ext cx="3515258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8" name="text-252"/>
          <p:cNvSpPr txBox="1"/>
          <p:nvPr/>
        </p:nvSpPr>
        <p:spPr>
          <a:xfrm>
            <a:off x="4658258" y="1920240"/>
            <a:ext cx="28751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최대 1시간</a:t>
            </a:r>
            <a:endParaRPr lang="en-US" sz="3600" dirty="0"/>
          </a:p>
        </p:txBody>
      </p:sp>
      <p:sp>
        <p:nvSpPr>
          <p:cNvPr id="9" name="text-253"/>
          <p:cNvSpPr txBox="1"/>
          <p:nvPr/>
        </p:nvSpPr>
        <p:spPr>
          <a:xfrm>
            <a:off x="4658258" y="2633472"/>
            <a:ext cx="28751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녹음 시간</a:t>
            </a:r>
            <a:endParaRPr lang="en-US" sz="1400" dirty="0"/>
          </a:p>
        </p:txBody>
      </p:sp>
      <p:sp>
        <p:nvSpPr>
          <p:cNvPr id="10" name="card-254"/>
          <p:cNvSpPr/>
          <p:nvPr/>
        </p:nvSpPr>
        <p:spPr>
          <a:xfrm>
            <a:off x="8127797" y="1783080"/>
            <a:ext cx="3515258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11" name="text-255"/>
          <p:cNvSpPr txBox="1"/>
          <p:nvPr/>
        </p:nvSpPr>
        <p:spPr>
          <a:xfrm>
            <a:off x="8447837" y="1920240"/>
            <a:ext cx="28751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4자리</a:t>
            </a:r>
            <a:endParaRPr lang="en-US" sz="3600" dirty="0"/>
          </a:p>
        </p:txBody>
      </p:sp>
      <p:sp>
        <p:nvSpPr>
          <p:cNvPr id="12" name="text-256"/>
          <p:cNvSpPr txBox="1"/>
          <p:nvPr/>
        </p:nvSpPr>
        <p:spPr>
          <a:xfrm>
            <a:off x="8447837" y="2633472"/>
            <a:ext cx="28751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그룹 코드로 참여</a:t>
            </a:r>
            <a:endParaRPr lang="en-US" sz="1400" dirty="0"/>
          </a:p>
        </p:txBody>
      </p:sp>
      <p:sp>
        <p:nvSpPr>
          <p:cNvPr id="13" name="card-257"/>
          <p:cNvSpPr/>
          <p:nvPr/>
        </p:nvSpPr>
        <p:spPr>
          <a:xfrm>
            <a:off x="548640" y="3520440"/>
            <a:ext cx="11094415" cy="2606040"/>
          </a:xfrm>
          <a:prstGeom prst="roundRect">
            <a:avLst>
              <a:gd name="adj" fmla="val 4211"/>
            </a:avLst>
          </a:prstGeom>
          <a:solidFill>
            <a:schemeClr val="bg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iconbg-258"/>
          <p:cNvSpPr/>
          <p:nvPr/>
        </p:nvSpPr>
        <p:spPr>
          <a:xfrm>
            <a:off x="960120" y="418338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-259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8710" y="4331970"/>
            <a:ext cx="297180" cy="297180"/>
          </a:xfrm>
          <a:prstGeom prst="rect">
            <a:avLst/>
          </a:prstGeom>
        </p:spPr>
      </p:pic>
      <p:sp>
        <p:nvSpPr>
          <p:cNvPr id="16" name="iconbg-260"/>
          <p:cNvSpPr/>
          <p:nvPr/>
        </p:nvSpPr>
        <p:spPr>
          <a:xfrm>
            <a:off x="1691640" y="4183380"/>
            <a:ext cx="594360" cy="5943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7" name="icon-26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0230" y="4331970"/>
            <a:ext cx="297180" cy="297180"/>
          </a:xfrm>
          <a:prstGeom prst="rect">
            <a:avLst/>
          </a:prstGeom>
        </p:spPr>
      </p:pic>
      <p:sp>
        <p:nvSpPr>
          <p:cNvPr id="18" name="iconbg-262"/>
          <p:cNvSpPr/>
          <p:nvPr/>
        </p:nvSpPr>
        <p:spPr>
          <a:xfrm>
            <a:off x="2423160" y="4183380"/>
            <a:ext cx="594360" cy="5943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9" name="icon-26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1750" y="4331970"/>
            <a:ext cx="297180" cy="297180"/>
          </a:xfrm>
          <a:prstGeom prst="rect">
            <a:avLst/>
          </a:prstGeom>
        </p:spPr>
      </p:pic>
      <p:sp>
        <p:nvSpPr>
          <p:cNvPr id="20" name="iconbg-264"/>
          <p:cNvSpPr/>
          <p:nvPr/>
        </p:nvSpPr>
        <p:spPr>
          <a:xfrm>
            <a:off x="3154680" y="4183380"/>
            <a:ext cx="594360" cy="5943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1" name="icon-265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3270" y="4331970"/>
            <a:ext cx="297180" cy="297180"/>
          </a:xfrm>
          <a:prstGeom prst="rect">
            <a:avLst/>
          </a:prstGeom>
        </p:spPr>
      </p:pic>
      <p:sp>
        <p:nvSpPr>
          <p:cNvPr id="22" name="iconbg-266"/>
          <p:cNvSpPr/>
          <p:nvPr/>
        </p:nvSpPr>
        <p:spPr>
          <a:xfrm>
            <a:off x="3886200" y="4183380"/>
            <a:ext cx="594360" cy="5943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3" name="icon-267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34790" y="4331970"/>
            <a:ext cx="297180" cy="297180"/>
          </a:xfrm>
          <a:prstGeom prst="rect">
            <a:avLst/>
          </a:prstGeom>
        </p:spPr>
      </p:pic>
      <p:sp>
        <p:nvSpPr>
          <p:cNvPr id="24" name="text-268"/>
          <p:cNvSpPr txBox="1"/>
          <p:nvPr/>
        </p:nvSpPr>
        <p:spPr>
          <a:xfrm>
            <a:off x="777240" y="493776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진행자</a:t>
            </a:r>
            <a:endParaRPr lang="en-US" sz="1200" dirty="0"/>
          </a:p>
        </p:txBody>
      </p:sp>
      <p:sp>
        <p:nvSpPr>
          <p:cNvPr id="25" name="text-269"/>
          <p:cNvSpPr txBox="1"/>
          <p:nvPr/>
        </p:nvSpPr>
        <p:spPr>
          <a:xfrm>
            <a:off x="1691640" y="493776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참여자 (최대 4명)</a:t>
            </a:r>
            <a:endParaRPr lang="en-US" sz="1200" dirty="0"/>
          </a:p>
        </p:txBody>
      </p:sp>
      <p:sp>
        <p:nvSpPr>
          <p:cNvPr id="26" name="text-270"/>
          <p:cNvSpPr txBox="1"/>
          <p:nvPr/>
        </p:nvSpPr>
        <p:spPr>
          <a:xfrm>
            <a:off x="960120" y="534924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모든 기기가 동시에 녹음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시작·일시정지·종료는 진행자가 제어</a:t>
            </a:r>
            <a:endParaRPr lang="en-US" sz="1300" dirty="0"/>
          </a:p>
        </p:txBody>
      </p:sp>
      <p:sp>
        <p:nvSpPr>
          <p:cNvPr id="27" name="arrow-271"/>
          <p:cNvSpPr/>
          <p:nvPr/>
        </p:nvSpPr>
        <p:spPr>
          <a:xfrm>
            <a:off x="4617720" y="4727448"/>
            <a:ext cx="411480" cy="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28" name="card-272"/>
          <p:cNvSpPr/>
          <p:nvPr/>
        </p:nvSpPr>
        <p:spPr>
          <a:xfrm>
            <a:off x="5166360" y="3931920"/>
            <a:ext cx="283464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</p:spPr>
      </p:sp>
      <p:sp>
        <p:nvSpPr>
          <p:cNvPr id="29" name="iconbg-273"/>
          <p:cNvSpPr/>
          <p:nvPr/>
        </p:nvSpPr>
        <p:spPr>
          <a:xfrm>
            <a:off x="5394960" y="416052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30" name="icon-27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09260" y="4274820"/>
            <a:ext cx="228600" cy="228600"/>
          </a:xfrm>
          <a:prstGeom prst="rect">
            <a:avLst/>
          </a:prstGeom>
        </p:spPr>
      </p:pic>
      <p:sp>
        <p:nvSpPr>
          <p:cNvPr id="31" name="text-275"/>
          <p:cNvSpPr txBox="1"/>
          <p:nvPr/>
        </p:nvSpPr>
        <p:spPr>
          <a:xfrm>
            <a:off x="5394960" y="47091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서버에서 하나로 합침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모든 기기의 음성을 모아 회의록 1건 생성</a:t>
            </a:r>
            <a:endParaRPr lang="en-US" sz="1400" dirty="0"/>
          </a:p>
        </p:txBody>
      </p:sp>
      <p:sp>
        <p:nvSpPr>
          <p:cNvPr id="32" name="arrow-276"/>
          <p:cNvSpPr/>
          <p:nvPr/>
        </p:nvSpPr>
        <p:spPr>
          <a:xfrm>
            <a:off x="8138160" y="4727448"/>
            <a:ext cx="411480" cy="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33" name="card-277"/>
          <p:cNvSpPr/>
          <p:nvPr/>
        </p:nvSpPr>
        <p:spPr>
          <a:xfrm>
            <a:off x="8686800" y="3931920"/>
            <a:ext cx="2590495" cy="1600200"/>
          </a:xfrm>
          <a:prstGeom prst="roundRect">
            <a:avLst>
              <a:gd name="adj" fmla="val 6857"/>
            </a:avLst>
          </a:prstGeom>
          <a:solidFill>
            <a:schemeClr val="accent2"/>
          </a:solidFill>
          <a:ln/>
        </p:spPr>
      </p:sp>
      <p:sp>
        <p:nvSpPr>
          <p:cNvPr id="34" name="iconbg-278"/>
          <p:cNvSpPr/>
          <p:nvPr/>
        </p:nvSpPr>
        <p:spPr>
          <a:xfrm>
            <a:off x="8915400" y="41605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5" name="icon-279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29700" y="4274820"/>
            <a:ext cx="228600" cy="228600"/>
          </a:xfrm>
          <a:prstGeom prst="rect">
            <a:avLst/>
          </a:prstGeom>
        </p:spPr>
      </p:pic>
      <p:sp>
        <p:nvSpPr>
          <p:cNvPr id="36" name="text-280"/>
          <p:cNvSpPr txBox="1"/>
          <p:nvPr/>
        </p:nvSpPr>
        <p:spPr>
          <a:xfrm>
            <a:off x="8915400" y="4709160"/>
            <a:ext cx="2133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각자의 회의록으로 생성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진행자와 참여자 모두 같은 회의록을 받음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진행자와 참여자 · 녹음 전과 시작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9728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진행자가 녹음을 시작하면 참여자 기기는 자동으로 따라 시작합니다</a:t>
            </a:r>
            <a:endParaRPr lang="en-US" sz="1600" dirty="0"/>
          </a:p>
        </p:txBody>
      </p:sp>
      <p:graphicFrame>
        <p:nvGraphicFramePr>
          <p:cNvPr id="15" name="table-28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178808"/>
                <a:gridCol w="4172407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기능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진행자 (방장)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참여자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그룹 만들기</a:t>
                      </a:r>
                      <a:endParaRPr lang="en-US" sz="1400" dirty="0"/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4자리 그룹 코드 발급</a:t>
                      </a:r>
                      <a:endParaRPr lang="en-US" sz="1400" dirty="0"/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accent3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그룹 참여</a:t>
                      </a:r>
                      <a:endParaRPr lang="en-US" sz="1400" dirty="0"/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accent3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그룹 코드 입력</a:t>
                      </a:r>
                      <a:endParaRPr lang="en-US" sz="1400" dirty="0"/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그룹 코드 확인·복사</a:t>
                      </a:r>
                      <a:endParaRPr lang="en-US" sz="1400" dirty="0"/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가능</a:t>
                      </a:r>
                      <a:endParaRPr lang="en-US" sz="1400" dirty="0"/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가능</a:t>
                      </a:r>
                      <a:endParaRPr lang="en-US" sz="1400" dirty="0"/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참여 인원 확인</a:t>
                      </a:r>
                      <a:endParaRPr lang="en-US" sz="1400" dirty="0"/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가능</a:t>
                      </a:r>
                      <a:endParaRPr lang="en-US" sz="1400" dirty="0"/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가능</a:t>
                      </a:r>
                      <a:endParaRPr lang="en-US" sz="1400" dirty="0"/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녹음 시작</a:t>
                      </a:r>
                      <a:endParaRPr lang="en-US" sz="1400" dirty="0"/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[녹음 시작] 버튼 → 확인 창에서 [확인]</a:t>
                      </a:r>
                      <a:endParaRPr lang="en-US" sz="1400" dirty="0"/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진행자가 시작하면 자동으로 시작</a:t>
                      </a:r>
                      <a:endParaRPr lang="en-US" sz="1400" dirty="0"/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관리자 메일 발송</a:t>
                      </a:r>
                      <a:endParaRPr lang="en-US" sz="1400" dirty="0"/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녹음 시작 전 확인 창에서 [확인]을 누를 때 발송</a:t>
                      </a:r>
                      <a:endParaRPr lang="en-US" sz="1400" dirty="0"/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녹음이 시작될 때 자동 발송 ("관리자에게 메일이 발송되었습니다.")</a:t>
                      </a:r>
                      <a:endParaRPr lang="en-US" sz="1400" dirty="0"/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진행자와 참여자 · 녹음 중과 종료 후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9728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녹음 조작은 진행자만 할 수 있고, 결과 회의록은 모두가 받습니다</a:t>
            </a:r>
            <a:endParaRPr lang="en-US" sz="1600" dirty="0"/>
          </a:p>
        </p:txBody>
      </p:sp>
      <p:graphicFrame>
        <p:nvGraphicFramePr>
          <p:cNvPr id="16" name="table-28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178808"/>
                <a:gridCol w="4172407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기능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진행자 (방장)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참여자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일시정지 / 재개</a:t>
                      </a:r>
                      <a:endParaRPr lang="en-US" sz="1300" dirty="0"/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누르면 모든 기기에 함께 적용</a:t>
                      </a:r>
                      <a:endParaRPr lang="en-US" sz="1300" dirty="0"/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진행자를 따라 자동 적용, 안내 메시지 표시</a:t>
                      </a:r>
                      <a:endParaRPr lang="en-US" sz="1300" dirty="0"/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녹음 종료</a:t>
                      </a:r>
                      <a:endParaRPr lang="en-US" sz="1300" dirty="0"/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[종료] 버튼으로 모든 기기 함께 종료</a:t>
                      </a:r>
                      <a:endParaRPr lang="en-US" sz="1300" dirty="0"/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"진행자가 종료할 때까지 대기"</a:t>
                      </a:r>
                      <a:endParaRPr lang="en-US" sz="1300" dirty="0"/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완료 설정</a:t>
                      </a:r>
                      <a:endParaRPr lang="en-US" sz="1300" dirty="0"/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참석자 수·언어·템플릿·제목을 진행자가 고름</a:t>
                      </a:r>
                      <a:endParaRPr lang="en-US" sz="1300" dirty="0"/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진행자 설정이 그대로 적용</a:t>
                      </a:r>
                      <a:endParaRPr lang="en-US" sz="1300" dirty="0"/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중간에 나가기</a:t>
                      </a:r>
                      <a:endParaRPr lang="en-US" sz="1300" dirty="0"/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4"/>
                          </a:solidFill>
                        </a:rPr>
                        <a:t>그룹 녹음 전체가 취소되어 모든 참여자의 녹음이 저장되지 않음</a:t>
                      </a:r>
                      <a:endParaRPr lang="en-US" sz="1300" dirty="0"/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본인 녹음만 반영되지 않고 다른 사람은 계속 녹음. 나간 뒤에는 같은 그룹에 다시 참여할 수 없음</a:t>
                      </a:r>
                      <a:endParaRPr lang="en-US" sz="1300" dirty="0"/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업로드 진행 현황</a:t>
                      </a:r>
                      <a:endParaRPr lang="en-US" sz="1300" dirty="0"/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내 휴대폰에서 각자 확인</a:t>
                      </a:r>
                      <a:endParaRPr lang="en-US" sz="1300" dirty="0"/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내 휴대폰에서 각자 확인</a:t>
                      </a:r>
                      <a:endParaRPr lang="en-US" sz="1300" dirty="0"/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결과 회의록</a:t>
                      </a:r>
                      <a:endParaRPr lang="en-US" sz="1300" dirty="0"/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합쳐진 회의록이 내 회의록으로 생성</a:t>
                      </a:r>
                      <a:endParaRPr lang="en-US" sz="1300" dirty="0"/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진행자와 같은 회의록이 내 회의록으로 생성</a:t>
                      </a:r>
                      <a:endParaRPr lang="en-US" sz="1300" dirty="0"/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-283"/>
          <p:cNvSpPr txBox="1"/>
          <p:nvPr/>
        </p:nvSpPr>
        <p:spPr>
          <a:xfrm>
            <a:off x="548640" y="59436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회의록은 진행자와 참여자 모두 PC 웹(AI회의록 시스템)에서 확인합니다.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그룹 녹음 화면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9728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그룹을 만들고 참여해 녹음하기까지 진행자와 참여자의 화면입니다</a:t>
            </a:r>
            <a:endParaRPr lang="en-US" sz="1600" dirty="0"/>
          </a:p>
        </p:txBody>
      </p:sp>
      <p:sp>
        <p:nvSpPr>
          <p:cNvPr id="4" name="chip-284"/>
          <p:cNvSpPr/>
          <p:nvPr/>
        </p:nvSpPr>
        <p:spPr>
          <a:xfrm>
            <a:off x="1478242" y="1737360"/>
            <a:ext cx="914400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5" name="text-285"/>
          <p:cNvSpPr txBox="1"/>
          <p:nvPr/>
        </p:nvSpPr>
        <p:spPr>
          <a:xfrm>
            <a:off x="1478242" y="173736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진행자</a:t>
            </a:r>
            <a:endParaRPr lang="en-US" sz="1100" dirty="0"/>
          </a:p>
        </p:txBody>
      </p:sp>
      <p:sp>
        <p:nvSpPr>
          <p:cNvPr id="6" name="phone-286"/>
          <p:cNvSpPr/>
          <p:nvPr/>
        </p:nvSpPr>
        <p:spPr>
          <a:xfrm>
            <a:off x="1036936" y="2130552"/>
            <a:ext cx="1797013" cy="3739896"/>
          </a:xfrm>
          <a:prstGeom prst="roundRect">
            <a:avLst>
              <a:gd name="adj" fmla="val 11195"/>
            </a:avLst>
          </a:prstGeom>
          <a:solidFill>
            <a:schemeClr val="tx1"/>
          </a:solidFill>
          <a:ln/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pic>
        <p:nvPicPr>
          <p:cNvPr id="7" name="screen-287" descr="진행자 화면: ① 그룹 생성 · 코드 공유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0944" y="2194560"/>
            <a:ext cx="1668997" cy="3611880"/>
          </a:xfrm>
          <a:prstGeom prst="rect">
            <a:avLst/>
          </a:prstGeom>
        </p:spPr>
      </p:pic>
      <p:sp>
        <p:nvSpPr>
          <p:cNvPr id="8" name="text-288"/>
          <p:cNvSpPr txBox="1"/>
          <p:nvPr/>
        </p:nvSpPr>
        <p:spPr>
          <a:xfrm>
            <a:off x="640080" y="5897880"/>
            <a:ext cx="25907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① 그룹 생성 · 코드 공유</a:t>
            </a:r>
            <a:endParaRPr lang="en-US" sz="1400" dirty="0"/>
          </a:p>
        </p:txBody>
      </p:sp>
      <p:sp>
        <p:nvSpPr>
          <p:cNvPr id="9" name="chip-289"/>
          <p:cNvSpPr/>
          <p:nvPr/>
        </p:nvSpPr>
        <p:spPr>
          <a:xfrm>
            <a:off x="4251846" y="1737360"/>
            <a:ext cx="914400" cy="29260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10" name="text-290"/>
          <p:cNvSpPr txBox="1"/>
          <p:nvPr/>
        </p:nvSpPr>
        <p:spPr>
          <a:xfrm>
            <a:off x="4251846" y="173736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참여자</a:t>
            </a:r>
            <a:endParaRPr lang="en-US" sz="1100" dirty="0"/>
          </a:p>
        </p:txBody>
      </p:sp>
      <p:sp>
        <p:nvSpPr>
          <p:cNvPr id="11" name="phone-291"/>
          <p:cNvSpPr/>
          <p:nvPr/>
        </p:nvSpPr>
        <p:spPr>
          <a:xfrm>
            <a:off x="3810539" y="2130552"/>
            <a:ext cx="1797013" cy="3739896"/>
          </a:xfrm>
          <a:prstGeom prst="roundRect">
            <a:avLst>
              <a:gd name="adj" fmla="val 11195"/>
            </a:avLst>
          </a:prstGeom>
          <a:solidFill>
            <a:schemeClr val="tx1"/>
          </a:solidFill>
          <a:ln/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pic>
        <p:nvPicPr>
          <p:cNvPr id="12" name="screen-292" descr="참여자 화면: ② 4자리 코드 입력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4547" y="2194560"/>
            <a:ext cx="1668997" cy="3611880"/>
          </a:xfrm>
          <a:prstGeom prst="rect">
            <a:avLst/>
          </a:prstGeom>
        </p:spPr>
      </p:pic>
      <p:sp>
        <p:nvSpPr>
          <p:cNvPr id="13" name="text-293"/>
          <p:cNvSpPr txBox="1"/>
          <p:nvPr/>
        </p:nvSpPr>
        <p:spPr>
          <a:xfrm>
            <a:off x="3413684" y="5897880"/>
            <a:ext cx="25907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② 4자리 코드 입력</a:t>
            </a:r>
            <a:endParaRPr lang="en-US" sz="1400" dirty="0"/>
          </a:p>
        </p:txBody>
      </p:sp>
      <p:sp>
        <p:nvSpPr>
          <p:cNvPr id="14" name="chip-294"/>
          <p:cNvSpPr/>
          <p:nvPr/>
        </p:nvSpPr>
        <p:spPr>
          <a:xfrm>
            <a:off x="7025450" y="1737360"/>
            <a:ext cx="914400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5" name="text-295"/>
          <p:cNvSpPr txBox="1"/>
          <p:nvPr/>
        </p:nvSpPr>
        <p:spPr>
          <a:xfrm>
            <a:off x="7025450" y="173736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진행자</a:t>
            </a:r>
            <a:endParaRPr lang="en-US" sz="1100" dirty="0"/>
          </a:p>
        </p:txBody>
      </p:sp>
      <p:sp>
        <p:nvSpPr>
          <p:cNvPr id="16" name="phone-296"/>
          <p:cNvSpPr/>
          <p:nvPr/>
        </p:nvSpPr>
        <p:spPr>
          <a:xfrm>
            <a:off x="6584143" y="2130552"/>
            <a:ext cx="1797013" cy="3739896"/>
          </a:xfrm>
          <a:prstGeom prst="roundRect">
            <a:avLst>
              <a:gd name="adj" fmla="val 11195"/>
            </a:avLst>
          </a:prstGeom>
          <a:solidFill>
            <a:schemeClr val="tx1"/>
          </a:solidFill>
          <a:ln/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pic>
        <p:nvPicPr>
          <p:cNvPr id="17" name="screen-297" descr="진행자 화면: ③ [녹음 시작] · 전체 제어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151" y="2194560"/>
            <a:ext cx="1668997" cy="3611880"/>
          </a:xfrm>
          <a:prstGeom prst="rect">
            <a:avLst/>
          </a:prstGeom>
        </p:spPr>
      </p:pic>
      <p:sp>
        <p:nvSpPr>
          <p:cNvPr id="18" name="text-298"/>
          <p:cNvSpPr txBox="1"/>
          <p:nvPr/>
        </p:nvSpPr>
        <p:spPr>
          <a:xfrm>
            <a:off x="6187288" y="5897880"/>
            <a:ext cx="25907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③ [녹음 시작] · 전체 제어</a:t>
            </a:r>
            <a:endParaRPr lang="en-US" sz="1400" dirty="0"/>
          </a:p>
        </p:txBody>
      </p:sp>
      <p:sp>
        <p:nvSpPr>
          <p:cNvPr id="19" name="chip-299"/>
          <p:cNvSpPr/>
          <p:nvPr/>
        </p:nvSpPr>
        <p:spPr>
          <a:xfrm>
            <a:off x="9799053" y="1737360"/>
            <a:ext cx="914400" cy="29260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20" name="text-300"/>
          <p:cNvSpPr txBox="1"/>
          <p:nvPr/>
        </p:nvSpPr>
        <p:spPr>
          <a:xfrm>
            <a:off x="9799053" y="173736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참여자</a:t>
            </a:r>
            <a:endParaRPr lang="en-US" sz="1100" dirty="0"/>
          </a:p>
        </p:txBody>
      </p:sp>
      <p:sp>
        <p:nvSpPr>
          <p:cNvPr id="21" name="phone-301"/>
          <p:cNvSpPr/>
          <p:nvPr/>
        </p:nvSpPr>
        <p:spPr>
          <a:xfrm>
            <a:off x="9357747" y="2130552"/>
            <a:ext cx="1797013" cy="3739896"/>
          </a:xfrm>
          <a:prstGeom prst="roundRect">
            <a:avLst>
              <a:gd name="adj" fmla="val 11195"/>
            </a:avLst>
          </a:prstGeom>
          <a:solidFill>
            <a:schemeClr val="tx1"/>
          </a:solidFill>
          <a:ln/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pic>
        <p:nvPicPr>
          <p:cNvPr id="22" name="screen-302" descr="참여자 화면: ④ 진행자를 따라 자동 진행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1755" y="2194560"/>
            <a:ext cx="1668997" cy="3611880"/>
          </a:xfrm>
          <a:prstGeom prst="rect">
            <a:avLst/>
          </a:prstGeom>
        </p:spPr>
      </p:pic>
      <p:sp>
        <p:nvSpPr>
          <p:cNvPr id="23" name="text-303"/>
          <p:cNvSpPr txBox="1"/>
          <p:nvPr/>
        </p:nvSpPr>
        <p:spPr>
          <a:xfrm>
            <a:off x="8960891" y="5897880"/>
            <a:ext cx="25907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④ 진행자를 따라 자동 진행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그룹 녹음 진행 순서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9728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단독 녹음과 다른 점을 중심으로 정리했습니다</a:t>
            </a:r>
            <a:endParaRPr lang="en-US" sz="1600" dirty="0"/>
          </a:p>
        </p:txBody>
      </p:sp>
      <p:graphicFrame>
        <p:nvGraphicFramePr>
          <p:cNvPr id="18" name="table-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2240280"/>
                <a:gridCol w="4425696"/>
                <a:gridCol w="4428439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단계</a:t>
                      </a:r>
                      <a:endParaRPr lang="en-US" sz="1200" dirty="0"/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진행자</a:t>
                      </a:r>
                      <a:endParaRPr lang="en-US" sz="1200" dirty="0"/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참여자</a:t>
                      </a:r>
                      <a:endParaRPr lang="en-US" sz="1200" dirty="0"/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준비</a:t>
                      </a:r>
                      <a:endParaRPr lang="en-US" sz="120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[녹음] → 그룹 녹음 → 그룹 생성 → 대기실에 표시된 4자리 코드를 참여자에게 공유</a:t>
                      </a:r>
                      <a:endParaRPr lang="en-US" sz="120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[녹음] → 그룹 녹음 → 그룹 참여 → 4자리 코드 입력 → 대기실에서 대기</a:t>
                      </a:r>
                      <a:endParaRPr lang="en-US" sz="120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STEP 1  시작</a:t>
                      </a:r>
                      <a:endParaRPr lang="en-US" sz="120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참여 인원 확인 → [녹음 시작] → 확인 창에서 [확인] (관리자 메일 발송)</a:t>
                      </a:r>
                      <a:endParaRPr lang="en-US" sz="120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자동으로 녹음 시작, 관리자 메일 자동 발송</a:t>
                      </a:r>
                      <a:endParaRPr lang="en-US" sz="120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시작 신호음</a:t>
                      </a:r>
                      <a:endParaRPr lang="en-US" sz="120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모든 휴대폰에서 안내 음성과 신호음이 울립니다</a:t>
                      </a:r>
                      <a:endParaRPr lang="en-US" sz="120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STEP 2  녹음 중</a:t>
                      </a:r>
                      <a:endParaRPr lang="en-US" sz="120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가운데 버튼으로 전체 일시정지 / 재개</a:t>
                      </a:r>
                      <a:endParaRPr lang="en-US" sz="120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진행자를 따라 자동으로 일시정지 / 재개 ("진행자가 녹음을 일시정지했습니다.")</a:t>
                      </a:r>
                      <a:endParaRPr lang="en-US" sz="120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STEP 3  종료</a:t>
                      </a:r>
                      <a:endParaRPr lang="en-US" sz="120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[종료] → 완료 설정 → [확인]</a:t>
                      </a:r>
                      <a:endParaRPr lang="en-US" sz="120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자동으로 종료</a:t>
                      </a:r>
                      <a:endParaRPr lang="en-US" sz="120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종료 신호음</a:t>
                      </a:r>
                      <a:endParaRPr lang="en-US" sz="120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신호음이 울린 뒤 약 5초 후 모든 기기의 녹음이 종료됩니다 ("녹음을 종료하는 중입니다...")</a:t>
                      </a:r>
                      <a:endParaRPr lang="en-US" sz="120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STEP 4–5  업로드·변환</a:t>
                      </a:r>
                      <a:endParaRPr lang="en-US" sz="120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녹음 결과 화면에서 진행 상황 확인 → [다른 녹음 진행]으로 홈 이동, 업로드는 백그라운드에서 계속</a:t>
                      </a:r>
                      <a:endParaRPr lang="en-US" sz="120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STEP 6  완성</a:t>
                      </a:r>
                      <a:endParaRPr lang="en-US" sz="120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알림함에 회의록 생성 알림 → PC 웹에서 합쳐진 회의록 확인</a:t>
                      </a:r>
                      <a:endParaRPr lang="en-US" sz="120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참여자가 녹음을 취소할 때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9728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참여자가 녹음 중 [취소]를 누르면 확인 창이 나타납니다</a:t>
            </a:r>
            <a:endParaRPr lang="en-US" sz="1600" dirty="0"/>
          </a:p>
        </p:txBody>
      </p:sp>
      <p:sp>
        <p:nvSpPr>
          <p:cNvPr id="4" name="phone-305"/>
          <p:cNvSpPr/>
          <p:nvPr/>
        </p:nvSpPr>
        <p:spPr>
          <a:xfrm>
            <a:off x="896112" y="1719072"/>
            <a:ext cx="2156164" cy="4517136"/>
          </a:xfrm>
          <a:prstGeom prst="roundRect">
            <a:avLst>
              <a:gd name="adj" fmla="val 9330"/>
            </a:avLst>
          </a:prstGeom>
          <a:solidFill>
            <a:schemeClr val="tx1"/>
          </a:solidFill>
          <a:ln/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pic>
        <p:nvPicPr>
          <p:cNvPr id="5" name="screen-306" descr="참여자 녹음 취소 확인 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783080"/>
            <a:ext cx="2028148" cy="4389120"/>
          </a:xfrm>
          <a:prstGeom prst="rect">
            <a:avLst/>
          </a:prstGeom>
        </p:spPr>
      </p:pic>
      <p:sp>
        <p:nvSpPr>
          <p:cNvPr id="6" name="card-307"/>
          <p:cNvSpPr/>
          <p:nvPr/>
        </p:nvSpPr>
        <p:spPr>
          <a:xfrm>
            <a:off x="3719788" y="1783080"/>
            <a:ext cx="7923267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7" name="text-308"/>
          <p:cNvSpPr txBox="1"/>
          <p:nvPr/>
        </p:nvSpPr>
        <p:spPr>
          <a:xfrm>
            <a:off x="3994108" y="1783080"/>
            <a:ext cx="7374627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"녹음 취소 시 지금까지 녹음된 내용은 반영되지 않으며 그룹 재참여 불가합니다"</a:t>
            </a:r>
            <a:endParaRPr lang="en-US" sz="1500" dirty="0"/>
          </a:p>
        </p:txBody>
      </p:sp>
      <p:sp>
        <p:nvSpPr>
          <p:cNvPr id="8" name="card-309"/>
          <p:cNvSpPr/>
          <p:nvPr/>
        </p:nvSpPr>
        <p:spPr>
          <a:xfrm>
            <a:off x="3719788" y="2834640"/>
            <a:ext cx="3824474" cy="1874520"/>
          </a:xfrm>
          <a:prstGeom prst="roundRect">
            <a:avLst>
              <a:gd name="adj" fmla="val 5854"/>
            </a:avLst>
          </a:prstGeom>
          <a:solidFill>
            <a:schemeClr val="accent6"/>
          </a:solidFill>
          <a:ln/>
        </p:spPr>
      </p:sp>
      <p:sp>
        <p:nvSpPr>
          <p:cNvPr id="9" name="chip-310"/>
          <p:cNvSpPr/>
          <p:nvPr/>
        </p:nvSpPr>
        <p:spPr>
          <a:xfrm>
            <a:off x="3994108" y="3108960"/>
            <a:ext cx="1188720" cy="29260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10" name="text-311"/>
          <p:cNvSpPr txBox="1"/>
          <p:nvPr/>
        </p:nvSpPr>
        <p:spPr>
          <a:xfrm>
            <a:off x="3994108" y="310896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[취소진행]</a:t>
            </a:r>
            <a:endParaRPr lang="en-US" sz="1100" dirty="0"/>
          </a:p>
        </p:txBody>
      </p:sp>
      <p:sp>
        <p:nvSpPr>
          <p:cNvPr id="11" name="text-312"/>
          <p:cNvSpPr txBox="1"/>
          <p:nvPr/>
        </p:nvSpPr>
        <p:spPr>
          <a:xfrm>
            <a:off x="3994108" y="3520440"/>
            <a:ext cx="336727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그룹에서 나가 홈으로 이동합니다.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내 녹음은 회의록에 반영되지 않음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같은 그룹에 다시 참여할 수 없음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다른 참여자의 녹음은 계속됨</a:t>
            </a:r>
            <a:endParaRPr lang="en-US" sz="1400" dirty="0"/>
          </a:p>
        </p:txBody>
      </p:sp>
      <p:sp>
        <p:nvSpPr>
          <p:cNvPr id="12" name="card-313"/>
          <p:cNvSpPr/>
          <p:nvPr/>
        </p:nvSpPr>
        <p:spPr>
          <a:xfrm>
            <a:off x="7818582" y="2834640"/>
            <a:ext cx="3824474" cy="1874520"/>
          </a:xfrm>
          <a:prstGeom prst="roundRect">
            <a:avLst>
              <a:gd name="adj" fmla="val 5854"/>
            </a:avLst>
          </a:prstGeom>
          <a:solidFill>
            <a:schemeClr val="accent2"/>
          </a:solidFill>
          <a:ln/>
        </p:spPr>
      </p:sp>
      <p:sp>
        <p:nvSpPr>
          <p:cNvPr id="13" name="chip-314"/>
          <p:cNvSpPr/>
          <p:nvPr/>
        </p:nvSpPr>
        <p:spPr>
          <a:xfrm>
            <a:off x="8092902" y="3108960"/>
            <a:ext cx="1188720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4" name="text-315"/>
          <p:cNvSpPr txBox="1"/>
          <p:nvPr/>
        </p:nvSpPr>
        <p:spPr>
          <a:xfrm>
            <a:off x="8092902" y="310896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[계속녹음]</a:t>
            </a:r>
            <a:endParaRPr lang="en-US" sz="1100" dirty="0"/>
          </a:p>
        </p:txBody>
      </p:sp>
      <p:sp>
        <p:nvSpPr>
          <p:cNvPr id="15" name="text-316"/>
          <p:cNvSpPr txBox="1"/>
          <p:nvPr/>
        </p:nvSpPr>
        <p:spPr>
          <a:xfrm>
            <a:off x="8092902" y="3520440"/>
            <a:ext cx="33672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창을 닫고 녹음을 계속합니다.</a:t>
            </a:r>
            <a:endParaRPr lang="en-US" sz="1400" dirty="0"/>
          </a:p>
        </p:txBody>
      </p:sp>
      <p:sp>
        <p:nvSpPr>
          <p:cNvPr id="16" name="card-317"/>
          <p:cNvSpPr/>
          <p:nvPr/>
        </p:nvSpPr>
        <p:spPr>
          <a:xfrm>
            <a:off x="3719788" y="4937760"/>
            <a:ext cx="7923267" cy="1234440"/>
          </a:xfrm>
          <a:prstGeom prst="roundRect">
            <a:avLst>
              <a:gd name="adj" fmla="val 8889"/>
            </a:avLst>
          </a:prstGeom>
          <a:solidFill>
            <a:schemeClr val="accent6"/>
          </a:solidFill>
          <a:ln/>
        </p:spPr>
      </p:sp>
      <p:sp>
        <p:nvSpPr>
          <p:cNvPr id="17" name="iconbg-318"/>
          <p:cNvSpPr/>
          <p:nvPr/>
        </p:nvSpPr>
        <p:spPr>
          <a:xfrm>
            <a:off x="3994108" y="5303520"/>
            <a:ext cx="502920" cy="5029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8" name="icon-319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9838" y="5429250"/>
            <a:ext cx="251460" cy="251460"/>
          </a:xfrm>
          <a:prstGeom prst="rect">
            <a:avLst/>
          </a:prstGeom>
        </p:spPr>
      </p:pic>
      <p:sp>
        <p:nvSpPr>
          <p:cNvPr id="19" name="text-320"/>
          <p:cNvSpPr txBox="1"/>
          <p:nvPr/>
        </p:nvSpPr>
        <p:spPr>
          <a:xfrm>
            <a:off x="4725628" y="5047488"/>
            <a:ext cx="6688827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진행자가 나가면 그룹 녹음 전체가 취소됩니다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모든 참여자의 녹음이 저장되지 않고 "방장이 그룹 녹음을 취소했습니다." 안내가 나타납니다. 진행자는 녹음이 끝날 때까지 화면을 나가지 마세요.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참여할 수 없는 경우와 신호음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9728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그룹에 들어가지 못할 때의 원인과, 시작·종료 신호음 사용 시 주의할 점입니다</a:t>
            </a:r>
            <a:endParaRPr lang="en-US" sz="1600" dirty="0"/>
          </a:p>
        </p:txBody>
      </p:sp>
      <p:sp>
        <p:nvSpPr>
          <p:cNvPr id="4" name="text-321"/>
          <p:cNvSpPr txBox="1"/>
          <p:nvPr/>
        </p:nvSpPr>
        <p:spPr>
          <a:xfrm>
            <a:off x="548640" y="1783080"/>
            <a:ext cx="5364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그룹에 참여할 수 없을 때</a:t>
            </a:r>
            <a:endParaRPr lang="en-US" sz="2000" dirty="0"/>
          </a:p>
        </p:txBody>
      </p:sp>
      <p:sp>
        <p:nvSpPr>
          <p:cNvPr id="5" name="card-322"/>
          <p:cNvSpPr/>
          <p:nvPr/>
        </p:nvSpPr>
        <p:spPr>
          <a:xfrm>
            <a:off x="548640" y="2377440"/>
            <a:ext cx="5364328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6" name="iconbg-323"/>
          <p:cNvSpPr/>
          <p:nvPr/>
        </p:nvSpPr>
        <p:spPr>
          <a:xfrm>
            <a:off x="822960" y="2679192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7" name="icon-324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816352"/>
            <a:ext cx="274320" cy="274320"/>
          </a:xfrm>
          <a:prstGeom prst="rect">
            <a:avLst/>
          </a:prstGeom>
        </p:spPr>
      </p:pic>
      <p:sp>
        <p:nvSpPr>
          <p:cNvPr id="8" name="text-325"/>
          <p:cNvSpPr txBox="1"/>
          <p:nvPr/>
        </p:nvSpPr>
        <p:spPr>
          <a:xfrm>
            <a:off x="1600200" y="2487168"/>
            <a:ext cx="4084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존재하지 않거나 만료된 그룹 코드입니다.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코드가 틀렸거나, 진행자가 그룹을 나갔습니다.</a:t>
            </a:r>
            <a:endParaRPr lang="en-US" sz="1400" dirty="0"/>
          </a:p>
        </p:txBody>
      </p:sp>
      <p:sp>
        <p:nvSpPr>
          <p:cNvPr id="9" name="card-326"/>
          <p:cNvSpPr/>
          <p:nvPr/>
        </p:nvSpPr>
        <p:spPr>
          <a:xfrm>
            <a:off x="548640" y="3657600"/>
            <a:ext cx="5364328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0" name="iconbg-327"/>
          <p:cNvSpPr/>
          <p:nvPr/>
        </p:nvSpPr>
        <p:spPr>
          <a:xfrm>
            <a:off x="822960" y="3959352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1" name="icon-328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4096512"/>
            <a:ext cx="274320" cy="274320"/>
          </a:xfrm>
          <a:prstGeom prst="rect">
            <a:avLst/>
          </a:prstGeom>
        </p:spPr>
      </p:pic>
      <p:sp>
        <p:nvSpPr>
          <p:cNvPr id="12" name="text-329"/>
          <p:cNvSpPr txBox="1"/>
          <p:nvPr/>
        </p:nvSpPr>
        <p:spPr>
          <a:xfrm>
            <a:off x="1600200" y="3767328"/>
            <a:ext cx="4084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그룹 정원(최대 5명)이 가득 찼습니다.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진행자를 포함해 5명이 이미 참여했습니다.</a:t>
            </a:r>
            <a:endParaRPr lang="en-US" sz="1400" dirty="0"/>
          </a:p>
        </p:txBody>
      </p:sp>
      <p:sp>
        <p:nvSpPr>
          <p:cNvPr id="13" name="card-330"/>
          <p:cNvSpPr/>
          <p:nvPr/>
        </p:nvSpPr>
        <p:spPr>
          <a:xfrm>
            <a:off x="548640" y="4937760"/>
            <a:ext cx="5364328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4" name="iconbg-331"/>
          <p:cNvSpPr/>
          <p:nvPr/>
        </p:nvSpPr>
        <p:spPr>
          <a:xfrm>
            <a:off x="822960" y="5239512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5" name="icon-33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5376672"/>
            <a:ext cx="274320" cy="274320"/>
          </a:xfrm>
          <a:prstGeom prst="rect">
            <a:avLst/>
          </a:prstGeom>
        </p:spPr>
      </p:pic>
      <p:sp>
        <p:nvSpPr>
          <p:cNvPr id="16" name="text-333"/>
          <p:cNvSpPr txBox="1"/>
          <p:nvPr/>
        </p:nvSpPr>
        <p:spPr>
          <a:xfrm>
            <a:off x="1600200" y="5047488"/>
            <a:ext cx="4084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이미 녹음이 시작되어 참여할 수 없습니다.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녹음이 시작된 뒤에는 중간에 참여할 수 없습니다.</a:t>
            </a:r>
            <a:endParaRPr lang="en-US" sz="1400" dirty="0"/>
          </a:p>
        </p:txBody>
      </p:sp>
      <p:sp>
        <p:nvSpPr>
          <p:cNvPr id="17" name="text-334"/>
          <p:cNvSpPr txBox="1"/>
          <p:nvPr/>
        </p:nvSpPr>
        <p:spPr>
          <a:xfrm>
            <a:off x="6278728" y="1783080"/>
            <a:ext cx="5364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시작·종료 신호음</a:t>
            </a:r>
            <a:endParaRPr lang="en-US" sz="2000" dirty="0"/>
          </a:p>
        </p:txBody>
      </p:sp>
      <p:sp>
        <p:nvSpPr>
          <p:cNvPr id="18" name="card-335"/>
          <p:cNvSpPr/>
          <p:nvPr/>
        </p:nvSpPr>
        <p:spPr>
          <a:xfrm>
            <a:off x="6278728" y="2377440"/>
            <a:ext cx="5364328" cy="3703320"/>
          </a:xfrm>
          <a:prstGeom prst="roundRect">
            <a:avLst>
              <a:gd name="adj" fmla="val 2963"/>
            </a:avLst>
          </a:prstGeom>
          <a:solidFill>
            <a:schemeClr val="accent2"/>
          </a:solidFill>
          <a:ln/>
        </p:spPr>
      </p:sp>
      <p:sp>
        <p:nvSpPr>
          <p:cNvPr id="19" name="iconbg-336"/>
          <p:cNvSpPr/>
          <p:nvPr/>
        </p:nvSpPr>
        <p:spPr>
          <a:xfrm>
            <a:off x="6598768" y="265176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icon-337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7358" y="2800350"/>
            <a:ext cx="297180" cy="297180"/>
          </a:xfrm>
          <a:prstGeom prst="rect">
            <a:avLst/>
          </a:prstGeom>
        </p:spPr>
      </p:pic>
      <p:sp>
        <p:nvSpPr>
          <p:cNvPr id="21" name="text-338"/>
          <p:cNvSpPr txBox="1"/>
          <p:nvPr/>
        </p:nvSpPr>
        <p:spPr>
          <a:xfrm>
            <a:off x="7376008" y="2606040"/>
            <a:ext cx="39927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그룹 녹음을 시작할 때와 끝낼 때 모든 휴대폰에서 안내 음성과 신호음이 납니다. 서버는 이 소리로 여러 기기의 녹음 시점을 맞춥니다.</a:t>
            </a:r>
            <a:endParaRPr lang="en-US" sz="1300" dirty="0"/>
          </a:p>
        </p:txBody>
      </p:sp>
      <p:sp>
        <p:nvSpPr>
          <p:cNvPr id="22" name="text-339"/>
          <p:cNvSpPr txBox="1"/>
          <p:nvPr/>
        </p:nvSpPr>
        <p:spPr>
          <a:xfrm>
            <a:off x="6598768" y="3657600"/>
            <a:ext cx="472424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휴대폰 음량을 충분히 높여 주세요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iPhone: 음량이 낮으면 "기기 음량을 높여주세요" 안내가 나타나고, 진행자는 음량을 높일 때까지 녹음을 시작할 수 없습니다.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Android: 신호음이 나는 동안 음량이 자동으로 조정됩니다.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안내 음성과 신호음은 완성된 회의록에 포함되지 않습니다.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녹음 결과 화면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9728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그룹 녹음이 끝나면 각자의 휴대폰에서 업로드와 회의록 생성 진행을 확인합니다</a:t>
            </a:r>
            <a:endParaRPr lang="en-US" sz="1600" dirty="0"/>
          </a:p>
        </p:txBody>
      </p:sp>
      <p:sp>
        <p:nvSpPr>
          <p:cNvPr id="4" name="card-340"/>
          <p:cNvSpPr/>
          <p:nvPr/>
        </p:nvSpPr>
        <p:spPr>
          <a:xfrm>
            <a:off x="548640" y="1783080"/>
            <a:ext cx="4114800" cy="438912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/>
        </p:spPr>
      </p:sp>
      <p:sp>
        <p:nvSpPr>
          <p:cNvPr id="5" name="text-341"/>
          <p:cNvSpPr txBox="1"/>
          <p:nvPr/>
        </p:nvSpPr>
        <p:spPr>
          <a:xfrm>
            <a:off x="822960" y="20116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진행 단계 안내</a:t>
            </a:r>
            <a:endParaRPr lang="en-US" sz="1600" dirty="0"/>
          </a:p>
        </p:txBody>
      </p:sp>
      <p:sp>
        <p:nvSpPr>
          <p:cNvPr id="6" name="num-342"/>
          <p:cNvSpPr/>
          <p:nvPr/>
        </p:nvSpPr>
        <p:spPr>
          <a:xfrm>
            <a:off x="822960" y="2560320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7" name="text-343"/>
          <p:cNvSpPr txBox="1"/>
          <p:nvPr/>
        </p:nvSpPr>
        <p:spPr>
          <a:xfrm>
            <a:off x="822960" y="2560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-344"/>
          <p:cNvSpPr txBox="1"/>
          <p:nvPr/>
        </p:nvSpPr>
        <p:spPr>
          <a:xfrm>
            <a:off x="1371600" y="246888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각자의 녹음이 업로드되면 자동으로 회의록이 만들어집니다.</a:t>
            </a:r>
            <a:endParaRPr lang="en-US" sz="1300" dirty="0"/>
          </a:p>
        </p:txBody>
      </p:sp>
      <p:sp>
        <p:nvSpPr>
          <p:cNvPr id="9" name="num-345"/>
          <p:cNvSpPr/>
          <p:nvPr/>
        </p:nvSpPr>
        <p:spPr>
          <a:xfrm>
            <a:off x="822960" y="3429000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0" name="text-346"/>
          <p:cNvSpPr txBox="1"/>
          <p:nvPr/>
        </p:nvSpPr>
        <p:spPr>
          <a:xfrm>
            <a:off x="822960" y="3429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-347"/>
          <p:cNvSpPr txBox="1"/>
          <p:nvPr/>
        </p:nvSpPr>
        <p:spPr>
          <a:xfrm>
            <a:off x="1371600" y="333756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녹음을 병합해 회의록을 만들고 있습니다.</a:t>
            </a:r>
            <a:endParaRPr lang="en-US" sz="1300" dirty="0"/>
          </a:p>
        </p:txBody>
      </p:sp>
      <p:sp>
        <p:nvSpPr>
          <p:cNvPr id="12" name="num-348"/>
          <p:cNvSpPr/>
          <p:nvPr/>
        </p:nvSpPr>
        <p:spPr>
          <a:xfrm>
            <a:off x="822960" y="4297680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3" name="text-349"/>
          <p:cNvSpPr txBox="1"/>
          <p:nvPr/>
        </p:nvSpPr>
        <p:spPr>
          <a:xfrm>
            <a:off x="822960" y="4297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4" name="text-350"/>
          <p:cNvSpPr txBox="1"/>
          <p:nvPr/>
        </p:nvSpPr>
        <p:spPr>
          <a:xfrm>
            <a:off x="1371600" y="420624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녹음 병합을 마치고 회의록을 만들고 있습니다.</a:t>
            </a:r>
            <a:endParaRPr lang="en-US" sz="1300" dirty="0"/>
          </a:p>
        </p:txBody>
      </p:sp>
      <p:sp>
        <p:nvSpPr>
          <p:cNvPr id="15" name="num-351"/>
          <p:cNvSpPr/>
          <p:nvPr/>
        </p:nvSpPr>
        <p:spPr>
          <a:xfrm>
            <a:off x="822960" y="516636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-352"/>
          <p:cNvSpPr txBox="1"/>
          <p:nvPr/>
        </p:nvSpPr>
        <p:spPr>
          <a:xfrm>
            <a:off x="822960" y="5166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7" name="text-353"/>
          <p:cNvSpPr txBox="1"/>
          <p:nvPr/>
        </p:nvSpPr>
        <p:spPr>
          <a:xfrm>
            <a:off x="1371600" y="507492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회의록이 준비되었습니다.</a:t>
            </a:r>
            <a:endParaRPr lang="en-US" sz="1300" dirty="0"/>
          </a:p>
        </p:txBody>
      </p:sp>
      <p:sp>
        <p:nvSpPr>
          <p:cNvPr id="18" name="card-354"/>
          <p:cNvSpPr/>
          <p:nvPr/>
        </p:nvSpPr>
        <p:spPr>
          <a:xfrm>
            <a:off x="4937760" y="1783080"/>
            <a:ext cx="411480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</p:spPr>
      </p:sp>
      <p:sp>
        <p:nvSpPr>
          <p:cNvPr id="19" name="text-355"/>
          <p:cNvSpPr txBox="1"/>
          <p:nvPr/>
        </p:nvSpPr>
        <p:spPr>
          <a:xfrm>
            <a:off x="5212080" y="20116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참가자 업로드 현황</a:t>
            </a:r>
            <a:endParaRPr lang="en-US" sz="1600" dirty="0"/>
          </a:p>
        </p:txBody>
      </p:sp>
      <p:sp>
        <p:nvSpPr>
          <p:cNvPr id="20" name="chip-356"/>
          <p:cNvSpPr/>
          <p:nvPr/>
        </p:nvSpPr>
        <p:spPr>
          <a:xfrm>
            <a:off x="5212080" y="2606040"/>
            <a:ext cx="1051560" cy="292608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</p:sp>
      <p:sp>
        <p:nvSpPr>
          <p:cNvPr id="21" name="text-357"/>
          <p:cNvSpPr txBox="1"/>
          <p:nvPr/>
        </p:nvSpPr>
        <p:spPr>
          <a:xfrm>
            <a:off x="5212080" y="260604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업로드 완료</a:t>
            </a:r>
            <a:endParaRPr lang="en-US" sz="1100" dirty="0"/>
          </a:p>
        </p:txBody>
      </p:sp>
      <p:sp>
        <p:nvSpPr>
          <p:cNvPr id="22" name="chip-358"/>
          <p:cNvSpPr/>
          <p:nvPr/>
        </p:nvSpPr>
        <p:spPr>
          <a:xfrm>
            <a:off x="6355080" y="2606040"/>
            <a:ext cx="868680" cy="292608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23" name="text-359"/>
          <p:cNvSpPr txBox="1"/>
          <p:nvPr/>
        </p:nvSpPr>
        <p:spPr>
          <a:xfrm>
            <a:off x="6355080" y="260604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대기 중</a:t>
            </a:r>
            <a:endParaRPr lang="en-US" sz="1100" dirty="0"/>
          </a:p>
        </p:txBody>
      </p:sp>
      <p:sp>
        <p:nvSpPr>
          <p:cNvPr id="24" name="chip-360"/>
          <p:cNvSpPr/>
          <p:nvPr/>
        </p:nvSpPr>
        <p:spPr>
          <a:xfrm>
            <a:off x="7315200" y="2606040"/>
            <a:ext cx="685800" cy="29260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25" name="text-361"/>
          <p:cNvSpPr txBox="1"/>
          <p:nvPr/>
        </p:nvSpPr>
        <p:spPr>
          <a:xfrm>
            <a:off x="7315200" y="2606040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실패</a:t>
            </a:r>
            <a:endParaRPr lang="en-US" sz="1100" dirty="0"/>
          </a:p>
        </p:txBody>
      </p:sp>
      <p:sp>
        <p:nvSpPr>
          <p:cNvPr id="26" name="text-362"/>
          <p:cNvSpPr txBox="1"/>
          <p:nvPr/>
        </p:nvSpPr>
        <p:spPr>
          <a:xfrm>
            <a:off x="5212080" y="29718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참여자별 업로드 상태를 표시합니다.</a:t>
            </a:r>
            <a:endParaRPr lang="en-US" sz="1200" dirty="0"/>
          </a:p>
        </p:txBody>
      </p:sp>
      <p:sp>
        <p:nvSpPr>
          <p:cNvPr id="27" name="card-363"/>
          <p:cNvSpPr/>
          <p:nvPr/>
        </p:nvSpPr>
        <p:spPr>
          <a:xfrm>
            <a:off x="4937760" y="3566160"/>
            <a:ext cx="4114800" cy="2606040"/>
          </a:xfrm>
          <a:prstGeom prst="roundRect">
            <a:avLst>
              <a:gd name="adj" fmla="val 4211"/>
            </a:avLst>
          </a:prstGeom>
          <a:solidFill>
            <a:schemeClr val="accent2"/>
          </a:solidFill>
          <a:ln/>
        </p:spPr>
      </p:sp>
      <p:sp>
        <p:nvSpPr>
          <p:cNvPr id="28" name="text-364"/>
          <p:cNvSpPr txBox="1"/>
          <p:nvPr/>
        </p:nvSpPr>
        <p:spPr>
          <a:xfrm>
            <a:off x="5212080" y="3794760"/>
            <a:ext cx="3566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[다른 녹음 진행]으로 홈 이동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chemeClr val="accent4"/>
                </a:solidFill>
              </a:rPr>
              <a:t>확인 시 홈이동, 녹음 파일은 백그라운드로 업로드 됩니다.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업로드와 회의록 생성은 백그라운드에서 계속되며, 바로 새 녹음을 시작해도 됩니다.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업로드에 실패하면 홈 하단 패널에서 [재시도] 또는 [삭제]할 수 있습니다.</a:t>
            </a:r>
            <a:endParaRPr lang="en-US" sz="1400" dirty="0"/>
          </a:p>
        </p:txBody>
      </p:sp>
      <p:sp>
        <p:nvSpPr>
          <p:cNvPr id="29" name="phone-365"/>
          <p:cNvSpPr/>
          <p:nvPr/>
        </p:nvSpPr>
        <p:spPr>
          <a:xfrm>
            <a:off x="9486891" y="1719072"/>
            <a:ext cx="2156164" cy="4517136"/>
          </a:xfrm>
          <a:prstGeom prst="roundRect">
            <a:avLst>
              <a:gd name="adj" fmla="val 9330"/>
            </a:avLst>
          </a:prstGeom>
          <a:solidFill>
            <a:schemeClr val="tx1"/>
          </a:solidFill>
          <a:ln/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pic>
        <p:nvPicPr>
          <p:cNvPr id="30" name="screen-366" descr="그룹 녹음 결과 화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50899" y="1783080"/>
            <a:ext cx="2028148" cy="43891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1488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3"/>
                </a:solidFill>
              </a:rPr>
              <a:t>03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74320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예외 상황과 FAQ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79476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녹음·업로드 중 문제가 생겼을 때 대처 방법</a:t>
            </a:r>
            <a:endParaRPr lang="en-US" sz="1800" dirty="0"/>
          </a:p>
        </p:txBody>
      </p:sp>
      <p:sp>
        <p:nvSpPr>
          <p:cNvPr id="5" name="wave-367"/>
          <p:cNvSpPr/>
          <p:nvPr/>
        </p:nvSpPr>
        <p:spPr>
          <a:xfrm>
            <a:off x="7818120" y="3136392"/>
            <a:ext cx="93269" cy="310896"/>
          </a:xfrm>
          <a:prstGeom prst="roundRect">
            <a:avLst>
              <a:gd name="adj" fmla="val 50000"/>
            </a:avLst>
          </a:prstGeom>
          <a:solidFill>
            <a:schemeClr val="accent3">
              <a:alpha val="55000"/>
            </a:schemeClr>
          </a:solidFill>
          <a:ln/>
        </p:spPr>
      </p:sp>
      <p:sp>
        <p:nvSpPr>
          <p:cNvPr id="6" name="wave-368"/>
          <p:cNvSpPr/>
          <p:nvPr/>
        </p:nvSpPr>
        <p:spPr>
          <a:xfrm>
            <a:off x="8004658" y="3000375"/>
            <a:ext cx="93269" cy="582930"/>
          </a:xfrm>
          <a:prstGeom prst="roundRect">
            <a:avLst>
              <a:gd name="adj" fmla="val 50000"/>
            </a:avLst>
          </a:prstGeom>
          <a:solidFill>
            <a:schemeClr val="accent1">
              <a:alpha val="55000"/>
            </a:schemeClr>
          </a:solidFill>
          <a:ln/>
        </p:spPr>
      </p:sp>
      <p:sp>
        <p:nvSpPr>
          <p:cNvPr id="7" name="wave-369"/>
          <p:cNvSpPr/>
          <p:nvPr/>
        </p:nvSpPr>
        <p:spPr>
          <a:xfrm>
            <a:off x="8191195" y="2825496"/>
            <a:ext cx="93269" cy="932688"/>
          </a:xfrm>
          <a:prstGeom prst="roundRect">
            <a:avLst>
              <a:gd name="adj" fmla="val 50000"/>
            </a:avLst>
          </a:prstGeom>
          <a:solidFill>
            <a:schemeClr val="accent1">
              <a:alpha val="55000"/>
            </a:schemeClr>
          </a:solidFill>
          <a:ln/>
        </p:spPr>
      </p:sp>
      <p:sp>
        <p:nvSpPr>
          <p:cNvPr id="8" name="wave-370"/>
          <p:cNvSpPr/>
          <p:nvPr/>
        </p:nvSpPr>
        <p:spPr>
          <a:xfrm>
            <a:off x="8377733" y="2942082"/>
            <a:ext cx="93269" cy="699516"/>
          </a:xfrm>
          <a:prstGeom prst="roundRect">
            <a:avLst>
              <a:gd name="adj" fmla="val 50000"/>
            </a:avLst>
          </a:prstGeom>
          <a:solidFill>
            <a:schemeClr val="accent3">
              <a:alpha val="55000"/>
            </a:schemeClr>
          </a:solidFill>
          <a:ln/>
        </p:spPr>
      </p:sp>
      <p:sp>
        <p:nvSpPr>
          <p:cNvPr id="9" name="wave-371"/>
          <p:cNvSpPr/>
          <p:nvPr/>
        </p:nvSpPr>
        <p:spPr>
          <a:xfrm>
            <a:off x="8564270" y="2650617"/>
            <a:ext cx="93269" cy="1282446"/>
          </a:xfrm>
          <a:prstGeom prst="roundRect">
            <a:avLst>
              <a:gd name="adj" fmla="val 50000"/>
            </a:avLst>
          </a:prstGeom>
          <a:solidFill>
            <a:schemeClr val="accent1">
              <a:alpha val="55000"/>
            </a:schemeClr>
          </a:solidFill>
          <a:ln/>
        </p:spPr>
      </p:sp>
      <p:sp>
        <p:nvSpPr>
          <p:cNvPr id="10" name="wave-372"/>
          <p:cNvSpPr/>
          <p:nvPr/>
        </p:nvSpPr>
        <p:spPr>
          <a:xfrm>
            <a:off x="8750808" y="2398014"/>
            <a:ext cx="93269" cy="1787652"/>
          </a:xfrm>
          <a:prstGeom prst="roundRect">
            <a:avLst>
              <a:gd name="adj" fmla="val 50000"/>
            </a:avLst>
          </a:prstGeom>
          <a:solidFill>
            <a:schemeClr val="accent4">
              <a:alpha val="55000"/>
            </a:schemeClr>
          </a:solidFill>
          <a:ln/>
        </p:spPr>
      </p:sp>
      <p:sp>
        <p:nvSpPr>
          <p:cNvPr id="11" name="wave-373"/>
          <p:cNvSpPr/>
          <p:nvPr/>
        </p:nvSpPr>
        <p:spPr>
          <a:xfrm>
            <a:off x="8937346" y="2728341"/>
            <a:ext cx="93269" cy="1126998"/>
          </a:xfrm>
          <a:prstGeom prst="roundRect">
            <a:avLst>
              <a:gd name="adj" fmla="val 50000"/>
            </a:avLst>
          </a:prstGeom>
          <a:solidFill>
            <a:schemeClr val="accent3">
              <a:alpha val="55000"/>
            </a:schemeClr>
          </a:solidFill>
          <a:ln/>
        </p:spPr>
      </p:sp>
      <p:sp>
        <p:nvSpPr>
          <p:cNvPr id="12" name="wave-374"/>
          <p:cNvSpPr/>
          <p:nvPr/>
        </p:nvSpPr>
        <p:spPr>
          <a:xfrm>
            <a:off x="9123883" y="2922651"/>
            <a:ext cx="93269" cy="738378"/>
          </a:xfrm>
          <a:prstGeom prst="roundRect">
            <a:avLst>
              <a:gd name="adj" fmla="val 50000"/>
            </a:avLst>
          </a:prstGeom>
          <a:solidFill>
            <a:schemeClr val="accent1">
              <a:alpha val="55000"/>
            </a:schemeClr>
          </a:solidFill>
          <a:ln/>
        </p:spPr>
      </p:sp>
      <p:sp>
        <p:nvSpPr>
          <p:cNvPr id="13" name="wave-375"/>
          <p:cNvSpPr/>
          <p:nvPr/>
        </p:nvSpPr>
        <p:spPr>
          <a:xfrm>
            <a:off x="9310421" y="2514600"/>
            <a:ext cx="93269" cy="1554480"/>
          </a:xfrm>
          <a:prstGeom prst="roundRect">
            <a:avLst>
              <a:gd name="adj" fmla="val 50000"/>
            </a:avLst>
          </a:prstGeom>
          <a:solidFill>
            <a:schemeClr val="accent1">
              <a:alpha val="55000"/>
            </a:schemeClr>
          </a:solidFill>
          <a:ln/>
        </p:spPr>
      </p:sp>
      <p:sp>
        <p:nvSpPr>
          <p:cNvPr id="14" name="wave-376"/>
          <p:cNvSpPr/>
          <p:nvPr/>
        </p:nvSpPr>
        <p:spPr>
          <a:xfrm>
            <a:off x="9496958" y="2261997"/>
            <a:ext cx="93269" cy="2059686"/>
          </a:xfrm>
          <a:prstGeom prst="roundRect">
            <a:avLst>
              <a:gd name="adj" fmla="val 50000"/>
            </a:avLst>
          </a:prstGeom>
          <a:solidFill>
            <a:schemeClr val="accent4">
              <a:alpha val="55000"/>
            </a:schemeClr>
          </a:solidFill>
          <a:ln/>
        </p:spPr>
      </p:sp>
      <p:sp>
        <p:nvSpPr>
          <p:cNvPr id="15" name="wave-377"/>
          <p:cNvSpPr/>
          <p:nvPr/>
        </p:nvSpPr>
        <p:spPr>
          <a:xfrm>
            <a:off x="9683496" y="2592324"/>
            <a:ext cx="93269" cy="1399032"/>
          </a:xfrm>
          <a:prstGeom prst="roundRect">
            <a:avLst>
              <a:gd name="adj" fmla="val 50000"/>
            </a:avLst>
          </a:prstGeom>
          <a:solidFill>
            <a:schemeClr val="accent1">
              <a:alpha val="55000"/>
            </a:schemeClr>
          </a:solidFill>
          <a:ln/>
        </p:spPr>
      </p:sp>
      <p:sp>
        <p:nvSpPr>
          <p:cNvPr id="16" name="wave-378"/>
          <p:cNvSpPr/>
          <p:nvPr/>
        </p:nvSpPr>
        <p:spPr>
          <a:xfrm>
            <a:off x="9870034" y="2825496"/>
            <a:ext cx="93269" cy="932688"/>
          </a:xfrm>
          <a:prstGeom prst="roundRect">
            <a:avLst>
              <a:gd name="adj" fmla="val 50000"/>
            </a:avLst>
          </a:prstGeom>
          <a:solidFill>
            <a:schemeClr val="accent1">
              <a:alpha val="55000"/>
            </a:schemeClr>
          </a:solidFill>
          <a:ln/>
        </p:spPr>
      </p:sp>
      <p:sp>
        <p:nvSpPr>
          <p:cNvPr id="17" name="wave-379"/>
          <p:cNvSpPr/>
          <p:nvPr/>
        </p:nvSpPr>
        <p:spPr>
          <a:xfrm>
            <a:off x="10056571" y="2436876"/>
            <a:ext cx="93269" cy="1709928"/>
          </a:xfrm>
          <a:prstGeom prst="roundRect">
            <a:avLst>
              <a:gd name="adj" fmla="val 50000"/>
            </a:avLst>
          </a:prstGeom>
          <a:solidFill>
            <a:schemeClr val="accent4">
              <a:alpha val="55000"/>
            </a:schemeClr>
          </a:solidFill>
          <a:ln/>
        </p:spPr>
      </p:sp>
      <p:sp>
        <p:nvSpPr>
          <p:cNvPr id="18" name="wave-380"/>
          <p:cNvSpPr/>
          <p:nvPr/>
        </p:nvSpPr>
        <p:spPr>
          <a:xfrm>
            <a:off x="10243109" y="2708910"/>
            <a:ext cx="93269" cy="1165860"/>
          </a:xfrm>
          <a:prstGeom prst="roundRect">
            <a:avLst>
              <a:gd name="adj" fmla="val 50000"/>
            </a:avLst>
          </a:prstGeom>
          <a:solidFill>
            <a:schemeClr val="accent1">
              <a:alpha val="55000"/>
            </a:schemeClr>
          </a:solidFill>
          <a:ln/>
        </p:spPr>
      </p:sp>
      <p:sp>
        <p:nvSpPr>
          <p:cNvPr id="19" name="wave-381"/>
          <p:cNvSpPr/>
          <p:nvPr/>
        </p:nvSpPr>
        <p:spPr>
          <a:xfrm>
            <a:off x="10429646" y="2922651"/>
            <a:ext cx="93269" cy="738378"/>
          </a:xfrm>
          <a:prstGeom prst="roundRect">
            <a:avLst>
              <a:gd name="adj" fmla="val 50000"/>
            </a:avLst>
          </a:prstGeom>
          <a:solidFill>
            <a:schemeClr val="accent1">
              <a:alpha val="55000"/>
            </a:schemeClr>
          </a:solidFill>
          <a:ln/>
        </p:spPr>
      </p:sp>
      <p:sp>
        <p:nvSpPr>
          <p:cNvPr id="20" name="wave-382"/>
          <p:cNvSpPr/>
          <p:nvPr/>
        </p:nvSpPr>
        <p:spPr>
          <a:xfrm>
            <a:off x="10616184" y="2786634"/>
            <a:ext cx="93269" cy="1010412"/>
          </a:xfrm>
          <a:prstGeom prst="roundRect">
            <a:avLst>
              <a:gd name="adj" fmla="val 50000"/>
            </a:avLst>
          </a:prstGeom>
          <a:solidFill>
            <a:schemeClr val="accent3">
              <a:alpha val="55000"/>
            </a:schemeClr>
          </a:solidFill>
          <a:ln/>
        </p:spPr>
      </p:sp>
      <p:sp>
        <p:nvSpPr>
          <p:cNvPr id="21" name="wave-383"/>
          <p:cNvSpPr/>
          <p:nvPr/>
        </p:nvSpPr>
        <p:spPr>
          <a:xfrm>
            <a:off x="10802722" y="3000375"/>
            <a:ext cx="93269" cy="582930"/>
          </a:xfrm>
          <a:prstGeom prst="roundRect">
            <a:avLst>
              <a:gd name="adj" fmla="val 50000"/>
            </a:avLst>
          </a:prstGeom>
          <a:solidFill>
            <a:schemeClr val="accent1">
              <a:alpha val="55000"/>
            </a:schemeClr>
          </a:solidFill>
          <a:ln/>
        </p:spPr>
      </p:sp>
      <p:sp>
        <p:nvSpPr>
          <p:cNvPr id="22" name="wave-384"/>
          <p:cNvSpPr/>
          <p:nvPr/>
        </p:nvSpPr>
        <p:spPr>
          <a:xfrm>
            <a:off x="10989259" y="3136392"/>
            <a:ext cx="93269" cy="310896"/>
          </a:xfrm>
          <a:prstGeom prst="roundRect">
            <a:avLst>
              <a:gd name="adj" fmla="val 50000"/>
            </a:avLst>
          </a:prstGeom>
          <a:solidFill>
            <a:schemeClr val="accent1">
              <a:alpha val="55000"/>
            </a:schemeClr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녹음 중 예외 상황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9728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단독 녹음과 그룹 녹음의 동작 차이 (* 휴대폰 기종과 OS 버전에 따라 다를 수 있음)</a:t>
            </a:r>
            <a:endParaRPr lang="en-US" sz="1600" dirty="0"/>
          </a:p>
        </p:txBody>
      </p:sp>
      <p:graphicFrame>
        <p:nvGraphicFramePr>
          <p:cNvPr id="23" name="table-38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4415" cy="914400"/>
        </p:xfrm>
        <a:graphic>
          <a:graphicData uri="http://schemas.openxmlformats.org/drawingml/2006/table">
            <a:tbl>
              <a:tblPr/>
              <a:tblGrid>
                <a:gridCol w="2514600"/>
                <a:gridCol w="4288536"/>
                <a:gridCol w="4291279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상황</a:t>
                      </a:r>
                      <a:endParaRPr lang="en-US" sz="1200" dirty="0"/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단독 녹음</a:t>
                      </a:r>
                      <a:endParaRPr lang="en-US" sz="1200" dirty="0"/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그룹 녹음</a:t>
                      </a:r>
                      <a:endParaRPr lang="en-US" sz="1200" dirty="0"/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전화 수신 *</a:t>
                      </a:r>
                      <a:endParaRPr lang="en-US" sz="1200" dirty="0"/>
                    </a:p>
                  </a:txBody>
                  <a:tcPr marL="109728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자동 일시정지, 통화 후 자동 재개 (재개되지 않으면 녹음 버튼으로 재개)</a:t>
                      </a:r>
                      <a:endParaRPr lang="en-US" sz="1200" dirty="0"/>
                    </a:p>
                  </a:txBody>
                  <a:tcPr marL="109728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자동 일시정지, 통화 후 자동 재개 (해당 기기만)</a:t>
                      </a:r>
                      <a:endParaRPr lang="en-US" sz="1200" dirty="0"/>
                    </a:p>
                  </a:txBody>
                  <a:tcPr marL="109728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알림음·알람·긴급재난문자 *</a:t>
                      </a:r>
                      <a:endParaRPr lang="en-US" sz="1200" dirty="0"/>
                    </a:p>
                  </a:txBody>
                  <a:tcPr marL="109728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녹음이 잠시 멈출 수 있음. iPhone은 자동 재개, 멈춰 있으면 녹음 버튼으로 재개</a:t>
                      </a:r>
                      <a:endParaRPr lang="en-US" sz="1200" dirty="0"/>
                    </a:p>
                  </a:txBody>
                  <a:tcPr marL="109728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자동으로 즉시 다시 녹음 (일시정지는 진행자만 가능)</a:t>
                      </a:r>
                      <a:endParaRPr lang="en-US" sz="1200" dirty="0"/>
                    </a:p>
                  </a:txBody>
                  <a:tcPr marL="109728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네트워크 끊김</a:t>
                      </a:r>
                      <a:endParaRPr lang="en-US" sz="1200" dirty="0"/>
                    </a:p>
                  </a:txBody>
                  <a:tcPr marL="109728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영향 없음 (휴대폰에 녹음)</a:t>
                      </a:r>
                      <a:endParaRPr lang="en-US" sz="1200" dirty="0"/>
                    </a:p>
                  </a:txBody>
                  <a:tcPr marL="109728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녹음은 계속됨. 다시 연결되면 진행자의 일시정지/종료 상태를 자동으로 따라감</a:t>
                      </a:r>
                      <a:endParaRPr lang="en-US" sz="1200" dirty="0"/>
                    </a:p>
                  </a:txBody>
                  <a:tcPr marL="109728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최대 녹음 시간</a:t>
                      </a:r>
                      <a:endParaRPr lang="en-US" sz="1200" dirty="0"/>
                    </a:p>
                  </a:txBody>
                  <a:tcPr marL="109728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3시간 도달 시 자동으로 멈추고 완료 설정 창 표시</a:t>
                      </a:r>
                      <a:endParaRPr lang="en-US" sz="1200" dirty="0"/>
                    </a:p>
                  </a:txBody>
                  <a:tcPr marL="109728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1시간</a:t>
                      </a:r>
                      <a:endParaRPr lang="en-US" sz="1200" dirty="0"/>
                    </a:p>
                  </a:txBody>
                  <a:tcPr marL="109728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저장공간 95% 초과</a:t>
                      </a:r>
                      <a:endParaRPr lang="en-US" sz="1200" dirty="0"/>
                    </a:p>
                  </a:txBody>
                  <a:tcPr marL="109728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녹음 자동 중지</a:t>
                      </a:r>
                      <a:endParaRPr lang="en-US" sz="1200" dirty="0"/>
                    </a:p>
                  </a:txBody>
                  <a:tcPr marL="109728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녹음 자동 중지</a:t>
                      </a:r>
                      <a:endParaRPr lang="en-US" sz="1200" dirty="0"/>
                    </a:p>
                  </a:txBody>
                  <a:tcPr marL="109728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관리자 메일 발송 실패</a:t>
                      </a:r>
                      <a:endParaRPr lang="en-US" sz="1200" dirty="0"/>
                    </a:p>
                  </a:txBody>
                  <a:tcPr marL="109728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"이메일 발송에 실패하였습니다." 안내, 녹음이 시작되지 않음 → 네트워크 확인 후 다시 시도</a:t>
                      </a:r>
                      <a:endParaRPr lang="en-US" sz="1200" dirty="0"/>
                    </a:p>
                  </a:txBody>
                  <a:tcPr marL="109728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진행자: 단독 녹음과 같음 / 참여자: 안내만 표시되고 녹음은 계속됨</a:t>
                      </a:r>
                      <a:endParaRPr lang="en-US" sz="1200" dirty="0"/>
                    </a:p>
                  </a:txBody>
                  <a:tcPr marL="109728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진행자가 나감</a:t>
                      </a:r>
                      <a:endParaRPr lang="en-US" sz="1200" dirty="0"/>
                    </a:p>
                  </a:txBody>
                  <a:tcPr marL="109728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3"/>
                          </a:solidFill>
                        </a:rPr>
                        <a:t>–</a:t>
                      </a:r>
                      <a:endParaRPr lang="en-US" sz="1200" dirty="0"/>
                    </a:p>
                  </a:txBody>
                  <a:tcPr marL="109728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</a:rPr>
                        <a:t>그룹 녹음 전체 취소, 참여자에게 "방장이 그룹 녹음을 취소했습니다." 안내</a:t>
                      </a:r>
                      <a:endParaRPr lang="en-US" sz="1200" dirty="0"/>
                    </a:p>
                  </a:txBody>
                  <a:tcPr marL="109728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참여자가 [취소]</a:t>
                      </a:r>
                      <a:endParaRPr lang="en-US" sz="1200" dirty="0"/>
                    </a:p>
                  </a:txBody>
                  <a:tcPr marL="109728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3"/>
                          </a:solidFill>
                        </a:rPr>
                        <a:t>–</a:t>
                      </a:r>
                      <a:endParaRPr lang="en-US" sz="1200" dirty="0"/>
                    </a:p>
                  </a:txBody>
                  <a:tcPr marL="109728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[취소진행]을 누르면 본인 녹음은 반영되지 않고 그룹 재참여 불가. 다른 참여자는 계속 녹음</a:t>
                      </a:r>
                      <a:endParaRPr lang="en-US" sz="1200" dirty="0"/>
                    </a:p>
                  </a:txBody>
                  <a:tcPr marL="109728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업로드 중 예외 상황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9728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업로드가 멈추거나 실패했을 때의 표시와 해결 방법입니다</a:t>
            </a:r>
            <a:endParaRPr lang="en-US" sz="1600" dirty="0"/>
          </a:p>
        </p:txBody>
      </p:sp>
      <p:sp>
        <p:nvSpPr>
          <p:cNvPr id="4" name="card-386"/>
          <p:cNvSpPr/>
          <p:nvPr/>
        </p:nvSpPr>
        <p:spPr>
          <a:xfrm>
            <a:off x="548640" y="1737360"/>
            <a:ext cx="7818120" cy="804672"/>
          </a:xfrm>
          <a:prstGeom prst="roundRect">
            <a:avLst>
              <a:gd name="adj" fmla="val 13636"/>
            </a:avLst>
          </a:prstGeom>
          <a:solidFill>
            <a:schemeClr val="bg2"/>
          </a:solidFill>
          <a:ln/>
        </p:spPr>
      </p:sp>
      <p:sp>
        <p:nvSpPr>
          <p:cNvPr id="5" name="iconbg-387"/>
          <p:cNvSpPr/>
          <p:nvPr/>
        </p:nvSpPr>
        <p:spPr>
          <a:xfrm>
            <a:off x="749808" y="1911096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con-388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4108" y="2025396"/>
            <a:ext cx="228600" cy="228600"/>
          </a:xfrm>
          <a:prstGeom prst="rect">
            <a:avLst/>
          </a:prstGeom>
        </p:spPr>
      </p:pic>
      <p:sp>
        <p:nvSpPr>
          <p:cNvPr id="7" name="text-389"/>
          <p:cNvSpPr txBox="1"/>
          <p:nvPr/>
        </p:nvSpPr>
        <p:spPr>
          <a:xfrm>
            <a:off x="1371600" y="1737360"/>
            <a:ext cx="2148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네트워크 연결이 끊김</a:t>
            </a:r>
            <a:endParaRPr lang="en-US" sz="1400" dirty="0"/>
          </a:p>
        </p:txBody>
      </p:sp>
      <p:sp>
        <p:nvSpPr>
          <p:cNvPr id="8" name="text-390"/>
          <p:cNvSpPr txBox="1"/>
          <p:nvPr/>
        </p:nvSpPr>
        <p:spPr>
          <a:xfrm>
            <a:off x="3657600" y="1792224"/>
            <a:ext cx="4526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2"/>
                </a:solidFill>
              </a:rPr>
              <a:t>"네트워크 연결 대기 중... (연결되면 자동 재개)"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별도 조치가 필요 없습니다. 연결되면 자동으로 다시 업로드합니다.</a:t>
            </a:r>
            <a:endParaRPr lang="en-US" sz="1400" dirty="0"/>
          </a:p>
        </p:txBody>
      </p:sp>
      <p:sp>
        <p:nvSpPr>
          <p:cNvPr id="9" name="card-391"/>
          <p:cNvSpPr/>
          <p:nvPr/>
        </p:nvSpPr>
        <p:spPr>
          <a:xfrm>
            <a:off x="548640" y="2633472"/>
            <a:ext cx="7818120" cy="804672"/>
          </a:xfrm>
          <a:prstGeom prst="roundRect">
            <a:avLst>
              <a:gd name="adj" fmla="val 13636"/>
            </a:avLst>
          </a:prstGeom>
          <a:solidFill>
            <a:schemeClr val="bg2"/>
          </a:solidFill>
          <a:ln/>
        </p:spPr>
      </p:sp>
      <p:sp>
        <p:nvSpPr>
          <p:cNvPr id="10" name="iconbg-392"/>
          <p:cNvSpPr/>
          <p:nvPr/>
        </p:nvSpPr>
        <p:spPr>
          <a:xfrm>
            <a:off x="749808" y="280720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-393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108" y="2921508"/>
            <a:ext cx="228600" cy="228600"/>
          </a:xfrm>
          <a:prstGeom prst="rect">
            <a:avLst/>
          </a:prstGeom>
        </p:spPr>
      </p:pic>
      <p:sp>
        <p:nvSpPr>
          <p:cNvPr id="12" name="text-394"/>
          <p:cNvSpPr txBox="1"/>
          <p:nvPr/>
        </p:nvSpPr>
        <p:spPr>
          <a:xfrm>
            <a:off x="1371600" y="2633472"/>
            <a:ext cx="2148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업로드 실패</a:t>
            </a:r>
            <a:endParaRPr lang="en-US" sz="1400" dirty="0"/>
          </a:p>
        </p:txBody>
      </p:sp>
      <p:sp>
        <p:nvSpPr>
          <p:cNvPr id="13" name="text-395"/>
          <p:cNvSpPr txBox="1"/>
          <p:nvPr/>
        </p:nvSpPr>
        <p:spPr>
          <a:xfrm>
            <a:off x="3657600" y="2688336"/>
            <a:ext cx="4526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2"/>
                </a:solidFill>
              </a:rPr>
              <a:t>"업로드에 실패한 파일은 재시도 또는 삭제해 주세요."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[재시도]를 누르세요. [삭제]를 누르면 녹음 파일이 삭제되며 복구할 수 없습니다.</a:t>
            </a:r>
            <a:endParaRPr lang="en-US" sz="1400" dirty="0"/>
          </a:p>
        </p:txBody>
      </p:sp>
      <p:sp>
        <p:nvSpPr>
          <p:cNvPr id="14" name="card-396"/>
          <p:cNvSpPr/>
          <p:nvPr/>
        </p:nvSpPr>
        <p:spPr>
          <a:xfrm>
            <a:off x="548640" y="3529584"/>
            <a:ext cx="7818120" cy="804672"/>
          </a:xfrm>
          <a:prstGeom prst="roundRect">
            <a:avLst>
              <a:gd name="adj" fmla="val 13636"/>
            </a:avLst>
          </a:prstGeom>
          <a:solidFill>
            <a:schemeClr val="bg2"/>
          </a:solidFill>
          <a:ln/>
        </p:spPr>
      </p:sp>
      <p:sp>
        <p:nvSpPr>
          <p:cNvPr id="15" name="iconbg-397"/>
          <p:cNvSpPr/>
          <p:nvPr/>
        </p:nvSpPr>
        <p:spPr>
          <a:xfrm>
            <a:off x="749808" y="37033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icon-398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108" y="3817620"/>
            <a:ext cx="228600" cy="228600"/>
          </a:xfrm>
          <a:prstGeom prst="rect">
            <a:avLst/>
          </a:prstGeom>
        </p:spPr>
      </p:pic>
      <p:sp>
        <p:nvSpPr>
          <p:cNvPr id="17" name="text-399"/>
          <p:cNvSpPr txBox="1"/>
          <p:nvPr/>
        </p:nvSpPr>
        <p:spPr>
          <a:xfrm>
            <a:off x="1371600" y="3529584"/>
            <a:ext cx="2148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업로드 도중 앱이 종료됨</a:t>
            </a:r>
            <a:endParaRPr lang="en-US" sz="1400" dirty="0"/>
          </a:p>
        </p:txBody>
      </p:sp>
      <p:sp>
        <p:nvSpPr>
          <p:cNvPr id="18" name="text-400"/>
          <p:cNvSpPr txBox="1"/>
          <p:nvPr/>
        </p:nvSpPr>
        <p:spPr>
          <a:xfrm>
            <a:off x="3657600" y="3584448"/>
            <a:ext cx="4526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2"/>
                </a:solidFill>
              </a:rPr>
              <a:t>앱을 다시 실행하면 홈 패널에 실패 항목으로 표시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[재시도]를 누르면 업로드가 다시 진행됩니다.</a:t>
            </a:r>
            <a:endParaRPr lang="en-US" sz="1400" dirty="0"/>
          </a:p>
        </p:txBody>
      </p:sp>
      <p:sp>
        <p:nvSpPr>
          <p:cNvPr id="19" name="card-401"/>
          <p:cNvSpPr/>
          <p:nvPr/>
        </p:nvSpPr>
        <p:spPr>
          <a:xfrm>
            <a:off x="548640" y="4425696"/>
            <a:ext cx="7818120" cy="804672"/>
          </a:xfrm>
          <a:prstGeom prst="roundRect">
            <a:avLst>
              <a:gd name="adj" fmla="val 13636"/>
            </a:avLst>
          </a:prstGeom>
          <a:solidFill>
            <a:schemeClr val="bg2"/>
          </a:solidFill>
          <a:ln/>
        </p:spPr>
      </p:sp>
      <p:sp>
        <p:nvSpPr>
          <p:cNvPr id="20" name="iconbg-402"/>
          <p:cNvSpPr/>
          <p:nvPr/>
        </p:nvSpPr>
        <p:spPr>
          <a:xfrm>
            <a:off x="749808" y="459943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icon-40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108" y="4713732"/>
            <a:ext cx="228600" cy="228600"/>
          </a:xfrm>
          <a:prstGeom prst="rect">
            <a:avLst/>
          </a:prstGeom>
        </p:spPr>
      </p:pic>
      <p:sp>
        <p:nvSpPr>
          <p:cNvPr id="22" name="text-404"/>
          <p:cNvSpPr txBox="1"/>
          <p:nvPr/>
        </p:nvSpPr>
        <p:spPr>
          <a:xfrm>
            <a:off x="1371600" y="4425696"/>
            <a:ext cx="2148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전송하지 못한 녹음을 다시 보내고 싶음</a:t>
            </a:r>
            <a:endParaRPr lang="en-US" sz="1400" dirty="0"/>
          </a:p>
        </p:txBody>
      </p:sp>
      <p:sp>
        <p:nvSpPr>
          <p:cNvPr id="23" name="text-405"/>
          <p:cNvSpPr txBox="1"/>
          <p:nvPr/>
        </p:nvSpPr>
        <p:spPr>
          <a:xfrm>
            <a:off x="3657600" y="4480560"/>
            <a:ext cx="4526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2"/>
                </a:solidFill>
              </a:rPr>
              <a:t>메뉴 → 녹음 실패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목록에서 [재전송]을 누르세요. 이전에 고른 참석자 수, 언어, 템플릿, 제목이 그대로 채워집니다.</a:t>
            </a:r>
            <a:endParaRPr lang="en-US" sz="1400" dirty="0"/>
          </a:p>
        </p:txBody>
      </p:sp>
      <p:sp>
        <p:nvSpPr>
          <p:cNvPr id="24" name="card-406"/>
          <p:cNvSpPr/>
          <p:nvPr/>
        </p:nvSpPr>
        <p:spPr>
          <a:xfrm>
            <a:off x="548640" y="5321808"/>
            <a:ext cx="7818120" cy="804672"/>
          </a:xfrm>
          <a:prstGeom prst="roundRect">
            <a:avLst>
              <a:gd name="adj" fmla="val 13636"/>
            </a:avLst>
          </a:prstGeom>
          <a:solidFill>
            <a:schemeClr val="bg2"/>
          </a:solidFill>
          <a:ln/>
        </p:spPr>
      </p:sp>
      <p:sp>
        <p:nvSpPr>
          <p:cNvPr id="25" name="iconbg-407"/>
          <p:cNvSpPr/>
          <p:nvPr/>
        </p:nvSpPr>
        <p:spPr>
          <a:xfrm>
            <a:off x="749808" y="5495544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6" name="icon-408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4108" y="5609844"/>
            <a:ext cx="228600" cy="228600"/>
          </a:xfrm>
          <a:prstGeom prst="rect">
            <a:avLst/>
          </a:prstGeom>
        </p:spPr>
      </p:pic>
      <p:sp>
        <p:nvSpPr>
          <p:cNvPr id="27" name="text-409"/>
          <p:cNvSpPr txBox="1"/>
          <p:nvPr/>
        </p:nvSpPr>
        <p:spPr>
          <a:xfrm>
            <a:off x="1371600" y="5321808"/>
            <a:ext cx="2148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그룹 녹음 업로드 실패</a:t>
            </a:r>
            <a:endParaRPr lang="en-US" sz="1400" dirty="0"/>
          </a:p>
        </p:txBody>
      </p:sp>
      <p:sp>
        <p:nvSpPr>
          <p:cNvPr id="28" name="text-410"/>
          <p:cNvSpPr txBox="1"/>
          <p:nvPr/>
        </p:nvSpPr>
        <p:spPr>
          <a:xfrm>
            <a:off x="3657600" y="5376672"/>
            <a:ext cx="4526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2"/>
                </a:solidFill>
              </a:rPr>
              <a:t>홈 하단 패널에 실패 항목 표시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[재시도]를 누르세요.</a:t>
            </a:r>
            <a:endParaRPr lang="en-US" sz="1400" dirty="0"/>
          </a:p>
        </p:txBody>
      </p:sp>
      <p:sp>
        <p:nvSpPr>
          <p:cNvPr id="29" name="card-411"/>
          <p:cNvSpPr/>
          <p:nvPr/>
        </p:nvSpPr>
        <p:spPr>
          <a:xfrm>
            <a:off x="8686800" y="1737360"/>
            <a:ext cx="2956255" cy="4389120"/>
          </a:xfrm>
          <a:prstGeom prst="roundRect">
            <a:avLst>
              <a:gd name="adj" fmla="val 3712"/>
            </a:avLst>
          </a:prstGeom>
          <a:solidFill>
            <a:schemeClr val="bg2"/>
          </a:solidFill>
          <a:ln/>
        </p:spPr>
      </p:sp>
      <p:sp>
        <p:nvSpPr>
          <p:cNvPr id="30" name="text-412"/>
          <p:cNvSpPr txBox="1"/>
          <p:nvPr/>
        </p:nvSpPr>
        <p:spPr>
          <a:xfrm>
            <a:off x="8915400" y="1920240"/>
            <a:ext cx="24990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업로드 실패 시 패널</a:t>
            </a:r>
            <a:endParaRPr lang="en-US" sz="1400" dirty="0"/>
          </a:p>
        </p:txBody>
      </p:sp>
      <p:sp>
        <p:nvSpPr>
          <p:cNvPr id="31" name="panelbg-413"/>
          <p:cNvSpPr/>
          <p:nvPr/>
        </p:nvSpPr>
        <p:spPr>
          <a:xfrm>
            <a:off x="8915400" y="2377440"/>
            <a:ext cx="2499055" cy="1651918"/>
          </a:xfrm>
          <a:prstGeom prst="roundRect">
            <a:avLst>
              <a:gd name="adj" fmla="val 5535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pic>
        <p:nvPicPr>
          <p:cNvPr id="32" name="panel-414" descr="업로드 실패 - 재시도/삭제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61120" y="2423160"/>
            <a:ext cx="2407615" cy="1560478"/>
          </a:xfrm>
          <a:prstGeom prst="rect">
            <a:avLst/>
          </a:prstGeom>
        </p:spPr>
      </p:pic>
      <p:sp>
        <p:nvSpPr>
          <p:cNvPr id="33" name="text-415"/>
          <p:cNvSpPr txBox="1"/>
          <p:nvPr/>
        </p:nvSpPr>
        <p:spPr>
          <a:xfrm>
            <a:off x="8915400" y="4434840"/>
            <a:ext cx="24990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[재시도]로 다시 업로드합니다. [삭제]한 녹음 파일은 복구할 수 없습니다.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자주 묻는 질문 · 공통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9728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업로드, 회의록 확인, 관리자 메일, 전화 수신</a:t>
            </a:r>
            <a:endParaRPr lang="en-US" sz="1600" dirty="0"/>
          </a:p>
        </p:txBody>
      </p:sp>
      <p:sp>
        <p:nvSpPr>
          <p:cNvPr id="4" name="card-416"/>
          <p:cNvSpPr/>
          <p:nvPr/>
        </p:nvSpPr>
        <p:spPr>
          <a:xfrm>
            <a:off x="548640" y="1737360"/>
            <a:ext cx="11094415" cy="1026414"/>
          </a:xfrm>
          <a:prstGeom prst="roundRect">
            <a:avLst>
              <a:gd name="adj" fmla="val 10690"/>
            </a:avLst>
          </a:prstGeom>
          <a:solidFill>
            <a:schemeClr val="bg2"/>
          </a:solidFill>
          <a:ln/>
        </p:spPr>
      </p:sp>
      <p:sp>
        <p:nvSpPr>
          <p:cNvPr id="5" name="num-417"/>
          <p:cNvSpPr/>
          <p:nvPr/>
        </p:nvSpPr>
        <p:spPr>
          <a:xfrm>
            <a:off x="777240" y="2021967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-418"/>
          <p:cNvSpPr txBox="1"/>
          <p:nvPr/>
        </p:nvSpPr>
        <p:spPr>
          <a:xfrm>
            <a:off x="777240" y="2021967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Q</a:t>
            </a:r>
            <a:endParaRPr lang="en-US" sz="1500" dirty="0"/>
          </a:p>
        </p:txBody>
      </p:sp>
      <p:sp>
        <p:nvSpPr>
          <p:cNvPr id="7" name="text-419"/>
          <p:cNvSpPr txBox="1"/>
          <p:nvPr/>
        </p:nvSpPr>
        <p:spPr>
          <a:xfrm>
            <a:off x="1463040" y="1737360"/>
            <a:ext cx="3749040" cy="1026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업로드가 끝날 때까지 기다려야 하나요?</a:t>
            </a:r>
            <a:endParaRPr lang="en-US" sz="1500" dirty="0"/>
          </a:p>
        </p:txBody>
      </p:sp>
      <p:sp>
        <p:nvSpPr>
          <p:cNvPr id="8" name="text-420"/>
          <p:cNvSpPr txBox="1"/>
          <p:nvPr/>
        </p:nvSpPr>
        <p:spPr>
          <a:xfrm>
            <a:off x="5394960" y="1737360"/>
            <a:ext cx="6019495" cy="1026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아니요. 완료 설정에서 [확인]을 누르면 홈으로 이동하고, 바로 다음 녹음을 시작해도 됩니다. 업로드와 변환은 순서대로 자동 진행됩니다. 단, 업로드가 끝날 때까지 앱을 완전히 종료하지는 마세요.</a:t>
            </a:r>
            <a:endParaRPr lang="en-US" sz="1300" dirty="0"/>
          </a:p>
        </p:txBody>
      </p:sp>
      <p:sp>
        <p:nvSpPr>
          <p:cNvPr id="9" name="card-421"/>
          <p:cNvSpPr/>
          <p:nvPr/>
        </p:nvSpPr>
        <p:spPr>
          <a:xfrm>
            <a:off x="548640" y="2873502"/>
            <a:ext cx="11094415" cy="1026414"/>
          </a:xfrm>
          <a:prstGeom prst="roundRect">
            <a:avLst>
              <a:gd name="adj" fmla="val 10690"/>
            </a:avLst>
          </a:prstGeom>
          <a:solidFill>
            <a:schemeClr val="bg2"/>
          </a:solidFill>
          <a:ln/>
        </p:spPr>
      </p:sp>
      <p:sp>
        <p:nvSpPr>
          <p:cNvPr id="10" name="num-422"/>
          <p:cNvSpPr/>
          <p:nvPr/>
        </p:nvSpPr>
        <p:spPr>
          <a:xfrm>
            <a:off x="777240" y="3158109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-423"/>
          <p:cNvSpPr txBox="1"/>
          <p:nvPr/>
        </p:nvSpPr>
        <p:spPr>
          <a:xfrm>
            <a:off x="777240" y="3158109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Q</a:t>
            </a:r>
            <a:endParaRPr lang="en-US" sz="1500" dirty="0"/>
          </a:p>
        </p:txBody>
      </p:sp>
      <p:sp>
        <p:nvSpPr>
          <p:cNvPr id="12" name="text-424"/>
          <p:cNvSpPr txBox="1"/>
          <p:nvPr/>
        </p:nvSpPr>
        <p:spPr>
          <a:xfrm>
            <a:off x="1463040" y="2873502"/>
            <a:ext cx="3749040" cy="1026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완성된 회의록은 어디서 보나요?</a:t>
            </a:r>
            <a:endParaRPr lang="en-US" sz="1500" dirty="0"/>
          </a:p>
        </p:txBody>
      </p:sp>
      <p:sp>
        <p:nvSpPr>
          <p:cNvPr id="13" name="text-425"/>
          <p:cNvSpPr txBox="1"/>
          <p:nvPr/>
        </p:nvSpPr>
        <p:spPr>
          <a:xfrm>
            <a:off x="5394960" y="2873502"/>
            <a:ext cx="6019495" cy="1026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회의록이 완성되면 앱 알림함에 "회의록이 생성되었습니다." 알림이 옵니다. 회의록 내용은 PC에서 AI회의록 시스템(aimeeting.skhynix.com)에 접속해 확인합니다.</a:t>
            </a:r>
            <a:endParaRPr lang="en-US" sz="1300" dirty="0"/>
          </a:p>
        </p:txBody>
      </p:sp>
      <p:sp>
        <p:nvSpPr>
          <p:cNvPr id="14" name="card-426"/>
          <p:cNvSpPr/>
          <p:nvPr/>
        </p:nvSpPr>
        <p:spPr>
          <a:xfrm>
            <a:off x="548640" y="4009644"/>
            <a:ext cx="11094415" cy="1026414"/>
          </a:xfrm>
          <a:prstGeom prst="roundRect">
            <a:avLst>
              <a:gd name="adj" fmla="val 10690"/>
            </a:avLst>
          </a:prstGeom>
          <a:solidFill>
            <a:schemeClr val="bg2"/>
          </a:solidFill>
          <a:ln/>
        </p:spPr>
      </p:sp>
      <p:sp>
        <p:nvSpPr>
          <p:cNvPr id="15" name="num-427"/>
          <p:cNvSpPr/>
          <p:nvPr/>
        </p:nvSpPr>
        <p:spPr>
          <a:xfrm>
            <a:off x="777240" y="4294251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-428"/>
          <p:cNvSpPr txBox="1"/>
          <p:nvPr/>
        </p:nvSpPr>
        <p:spPr>
          <a:xfrm>
            <a:off x="777240" y="4294251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Q</a:t>
            </a:r>
            <a:endParaRPr lang="en-US" sz="1500" dirty="0"/>
          </a:p>
        </p:txBody>
      </p:sp>
      <p:sp>
        <p:nvSpPr>
          <p:cNvPr id="17" name="text-429"/>
          <p:cNvSpPr txBox="1"/>
          <p:nvPr/>
        </p:nvSpPr>
        <p:spPr>
          <a:xfrm>
            <a:off x="1463040" y="4009644"/>
            <a:ext cx="3749040" cy="1026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녹음을 시작할 때마다 관리자에게 메일이 가나요?</a:t>
            </a:r>
            <a:endParaRPr lang="en-US" sz="1500" dirty="0"/>
          </a:p>
        </p:txBody>
      </p:sp>
      <p:sp>
        <p:nvSpPr>
          <p:cNvPr id="18" name="text-430"/>
          <p:cNvSpPr txBox="1"/>
          <p:nvPr/>
        </p:nvSpPr>
        <p:spPr>
          <a:xfrm>
            <a:off x="5394960" y="4009644"/>
            <a:ext cx="6019495" cy="1026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네. 회의 시작 전에 참석자에게 녹음 동의를 받아 주세요. 그룹 녹음은 진행자와 참여자 모두의 기기에서 각각 발송됩니다.</a:t>
            </a:r>
            <a:endParaRPr lang="en-US" sz="1300" dirty="0"/>
          </a:p>
        </p:txBody>
      </p:sp>
      <p:sp>
        <p:nvSpPr>
          <p:cNvPr id="19" name="card-431"/>
          <p:cNvSpPr/>
          <p:nvPr/>
        </p:nvSpPr>
        <p:spPr>
          <a:xfrm>
            <a:off x="548640" y="5145786"/>
            <a:ext cx="11094415" cy="1026414"/>
          </a:xfrm>
          <a:prstGeom prst="roundRect">
            <a:avLst>
              <a:gd name="adj" fmla="val 10690"/>
            </a:avLst>
          </a:prstGeom>
          <a:solidFill>
            <a:schemeClr val="bg2"/>
          </a:solidFill>
          <a:ln/>
        </p:spPr>
      </p:sp>
      <p:sp>
        <p:nvSpPr>
          <p:cNvPr id="20" name="num-432"/>
          <p:cNvSpPr/>
          <p:nvPr/>
        </p:nvSpPr>
        <p:spPr>
          <a:xfrm>
            <a:off x="777240" y="5430393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1" name="text-433"/>
          <p:cNvSpPr txBox="1"/>
          <p:nvPr/>
        </p:nvSpPr>
        <p:spPr>
          <a:xfrm>
            <a:off x="777240" y="5430393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Q</a:t>
            </a:r>
            <a:endParaRPr lang="en-US" sz="1500" dirty="0"/>
          </a:p>
        </p:txBody>
      </p:sp>
      <p:sp>
        <p:nvSpPr>
          <p:cNvPr id="22" name="text-434"/>
          <p:cNvSpPr txBox="1"/>
          <p:nvPr/>
        </p:nvSpPr>
        <p:spPr>
          <a:xfrm>
            <a:off x="1463040" y="5145786"/>
            <a:ext cx="3749040" cy="1026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녹음 중 전화가 오면 어떻게 되나요?</a:t>
            </a:r>
            <a:endParaRPr lang="en-US" sz="1500" dirty="0"/>
          </a:p>
        </p:txBody>
      </p:sp>
      <p:sp>
        <p:nvSpPr>
          <p:cNvPr id="23" name="text-435"/>
          <p:cNvSpPr txBox="1"/>
          <p:nvPr/>
        </p:nvSpPr>
        <p:spPr>
          <a:xfrm>
            <a:off x="5394960" y="5145786"/>
            <a:ext cx="6019495" cy="1026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자동으로 일시정지되고, 통화가 끝나면 자동으로 다시 녹음됩니다. 기종에 따라 자동으로 재개되지 않으면 녹음 버튼을 눌러 재개해 주세요.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자주 묻는 질문 · 그룹 녹음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9728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조작 권한, 결과 화면, 회의록, 참여와 나가기</a:t>
            </a:r>
            <a:endParaRPr lang="en-US" sz="1600" dirty="0"/>
          </a:p>
        </p:txBody>
      </p:sp>
      <p:sp>
        <p:nvSpPr>
          <p:cNvPr id="4" name="card-436"/>
          <p:cNvSpPr/>
          <p:nvPr/>
        </p:nvSpPr>
        <p:spPr>
          <a:xfrm>
            <a:off x="548640" y="1737360"/>
            <a:ext cx="11094415" cy="799186"/>
          </a:xfrm>
          <a:prstGeom prst="roundRect">
            <a:avLst>
              <a:gd name="adj" fmla="val 13730"/>
            </a:avLst>
          </a:prstGeom>
          <a:solidFill>
            <a:schemeClr val="bg2"/>
          </a:solidFill>
          <a:ln/>
        </p:spPr>
      </p:sp>
      <p:sp>
        <p:nvSpPr>
          <p:cNvPr id="5" name="num-437"/>
          <p:cNvSpPr/>
          <p:nvPr/>
        </p:nvSpPr>
        <p:spPr>
          <a:xfrm>
            <a:off x="777240" y="1908353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-438"/>
          <p:cNvSpPr txBox="1"/>
          <p:nvPr/>
        </p:nvSpPr>
        <p:spPr>
          <a:xfrm>
            <a:off x="777240" y="1908353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Q</a:t>
            </a:r>
            <a:endParaRPr lang="en-US" sz="1500" dirty="0"/>
          </a:p>
        </p:txBody>
      </p:sp>
      <p:sp>
        <p:nvSpPr>
          <p:cNvPr id="7" name="text-439"/>
          <p:cNvSpPr txBox="1"/>
          <p:nvPr/>
        </p:nvSpPr>
        <p:spPr>
          <a:xfrm>
            <a:off x="1463040" y="1737360"/>
            <a:ext cx="3749040" cy="7991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참여자가 녹음을 멈추거나 끝낼 수 있나요?</a:t>
            </a:r>
            <a:endParaRPr lang="en-US" sz="1500" dirty="0"/>
          </a:p>
        </p:txBody>
      </p:sp>
      <p:sp>
        <p:nvSpPr>
          <p:cNvPr id="8" name="text-440"/>
          <p:cNvSpPr txBox="1"/>
          <p:nvPr/>
        </p:nvSpPr>
        <p:spPr>
          <a:xfrm>
            <a:off x="5394960" y="1737360"/>
            <a:ext cx="6019495" cy="7991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아니요. 시작, 일시정지, 종료는 진행자만 할 수 있습니다. 참여자는 [취소] → [취소진행]으로 본인만 나갈 수 있으며, 이때 본인 녹음은 반영되지 않고 같은 그룹에 다시 참여할 수 없습니다.</a:t>
            </a:r>
            <a:endParaRPr lang="en-US" sz="1300" dirty="0"/>
          </a:p>
        </p:txBody>
      </p:sp>
      <p:sp>
        <p:nvSpPr>
          <p:cNvPr id="9" name="card-441"/>
          <p:cNvSpPr/>
          <p:nvPr/>
        </p:nvSpPr>
        <p:spPr>
          <a:xfrm>
            <a:off x="548640" y="2646274"/>
            <a:ext cx="11094415" cy="799186"/>
          </a:xfrm>
          <a:prstGeom prst="roundRect">
            <a:avLst>
              <a:gd name="adj" fmla="val 13730"/>
            </a:avLst>
          </a:prstGeom>
          <a:solidFill>
            <a:schemeClr val="bg2"/>
          </a:solidFill>
          <a:ln/>
        </p:spPr>
      </p:sp>
      <p:sp>
        <p:nvSpPr>
          <p:cNvPr id="10" name="num-442"/>
          <p:cNvSpPr/>
          <p:nvPr/>
        </p:nvSpPr>
        <p:spPr>
          <a:xfrm>
            <a:off x="777240" y="2817266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-443"/>
          <p:cNvSpPr txBox="1"/>
          <p:nvPr/>
        </p:nvSpPr>
        <p:spPr>
          <a:xfrm>
            <a:off x="777240" y="281726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Q</a:t>
            </a:r>
            <a:endParaRPr lang="en-US" sz="1500" dirty="0"/>
          </a:p>
        </p:txBody>
      </p:sp>
      <p:sp>
        <p:nvSpPr>
          <p:cNvPr id="12" name="text-444"/>
          <p:cNvSpPr txBox="1"/>
          <p:nvPr/>
        </p:nvSpPr>
        <p:spPr>
          <a:xfrm>
            <a:off x="1463040" y="2646274"/>
            <a:ext cx="3749040" cy="7991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녹음이 끝난 뒤 결과 화면에서 기다려야 하나요?</a:t>
            </a:r>
            <a:endParaRPr lang="en-US" sz="1500" dirty="0"/>
          </a:p>
        </p:txBody>
      </p:sp>
      <p:sp>
        <p:nvSpPr>
          <p:cNvPr id="13" name="text-445"/>
          <p:cNvSpPr txBox="1"/>
          <p:nvPr/>
        </p:nvSpPr>
        <p:spPr>
          <a:xfrm>
            <a:off x="5394960" y="2646274"/>
            <a:ext cx="6019495" cy="7991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아니요. [다른 녹음 진행]을 누르면 홈으로 이동하고, 업로드와 회의록 생성은 백그라운드에서 계속됩니다.</a:t>
            </a:r>
            <a:endParaRPr lang="en-US" sz="1300" dirty="0"/>
          </a:p>
        </p:txBody>
      </p:sp>
      <p:sp>
        <p:nvSpPr>
          <p:cNvPr id="14" name="card-446"/>
          <p:cNvSpPr/>
          <p:nvPr/>
        </p:nvSpPr>
        <p:spPr>
          <a:xfrm>
            <a:off x="548640" y="3555187"/>
            <a:ext cx="11094415" cy="799186"/>
          </a:xfrm>
          <a:prstGeom prst="roundRect">
            <a:avLst>
              <a:gd name="adj" fmla="val 13730"/>
            </a:avLst>
          </a:prstGeom>
          <a:solidFill>
            <a:schemeClr val="bg2"/>
          </a:solidFill>
          <a:ln/>
        </p:spPr>
      </p:sp>
      <p:sp>
        <p:nvSpPr>
          <p:cNvPr id="15" name="num-447"/>
          <p:cNvSpPr/>
          <p:nvPr/>
        </p:nvSpPr>
        <p:spPr>
          <a:xfrm>
            <a:off x="777240" y="37261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-448"/>
          <p:cNvSpPr txBox="1"/>
          <p:nvPr/>
        </p:nvSpPr>
        <p:spPr>
          <a:xfrm>
            <a:off x="777240" y="3726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Q</a:t>
            </a:r>
            <a:endParaRPr lang="en-US" sz="1500" dirty="0"/>
          </a:p>
        </p:txBody>
      </p:sp>
      <p:sp>
        <p:nvSpPr>
          <p:cNvPr id="17" name="text-449"/>
          <p:cNvSpPr txBox="1"/>
          <p:nvPr/>
        </p:nvSpPr>
        <p:spPr>
          <a:xfrm>
            <a:off x="1463040" y="3555187"/>
            <a:ext cx="3749040" cy="7991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그룹 녹음 회의록은 누가 받나요?</a:t>
            </a:r>
            <a:endParaRPr lang="en-US" sz="1500" dirty="0"/>
          </a:p>
        </p:txBody>
      </p:sp>
      <p:sp>
        <p:nvSpPr>
          <p:cNvPr id="18" name="text-450"/>
          <p:cNvSpPr txBox="1"/>
          <p:nvPr/>
        </p:nvSpPr>
        <p:spPr>
          <a:xfrm>
            <a:off x="5394960" y="3555187"/>
            <a:ext cx="6019495" cy="7991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모든 참여자의 음성을 합친 하나의 회의록이 진행자와 참여자 모두에게 각자의 회의록으로 생성됩니다. 요약 템플릿과 제목은 진행자가 고른 설정이 똑같이 적용됩니다.</a:t>
            </a:r>
            <a:endParaRPr lang="en-US" sz="1300" dirty="0"/>
          </a:p>
        </p:txBody>
      </p:sp>
      <p:sp>
        <p:nvSpPr>
          <p:cNvPr id="19" name="card-451"/>
          <p:cNvSpPr/>
          <p:nvPr/>
        </p:nvSpPr>
        <p:spPr>
          <a:xfrm>
            <a:off x="548640" y="4464101"/>
            <a:ext cx="11094415" cy="799186"/>
          </a:xfrm>
          <a:prstGeom prst="roundRect">
            <a:avLst>
              <a:gd name="adj" fmla="val 13730"/>
            </a:avLst>
          </a:prstGeom>
          <a:solidFill>
            <a:schemeClr val="bg2"/>
          </a:solidFill>
          <a:ln/>
        </p:spPr>
      </p:sp>
      <p:sp>
        <p:nvSpPr>
          <p:cNvPr id="20" name="num-452"/>
          <p:cNvSpPr/>
          <p:nvPr/>
        </p:nvSpPr>
        <p:spPr>
          <a:xfrm>
            <a:off x="777240" y="4635094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1" name="text-453"/>
          <p:cNvSpPr txBox="1"/>
          <p:nvPr/>
        </p:nvSpPr>
        <p:spPr>
          <a:xfrm>
            <a:off x="777240" y="463509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Q</a:t>
            </a:r>
            <a:endParaRPr lang="en-US" sz="1500" dirty="0"/>
          </a:p>
        </p:txBody>
      </p:sp>
      <p:sp>
        <p:nvSpPr>
          <p:cNvPr id="22" name="text-454"/>
          <p:cNvSpPr txBox="1"/>
          <p:nvPr/>
        </p:nvSpPr>
        <p:spPr>
          <a:xfrm>
            <a:off x="1463040" y="4464101"/>
            <a:ext cx="3749040" cy="7991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녹음이 시작된 그룹에 늦게 참여할 수 있나요?</a:t>
            </a:r>
            <a:endParaRPr lang="en-US" sz="1500" dirty="0"/>
          </a:p>
        </p:txBody>
      </p:sp>
      <p:sp>
        <p:nvSpPr>
          <p:cNvPr id="23" name="text-455"/>
          <p:cNvSpPr txBox="1"/>
          <p:nvPr/>
        </p:nvSpPr>
        <p:spPr>
          <a:xfrm>
            <a:off x="5394960" y="4464101"/>
            <a:ext cx="6019495" cy="7991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아니요. 녹음이 시작된 뒤에는 참여할 수 없습니다.</a:t>
            </a:r>
            <a:endParaRPr lang="en-US" sz="1300" dirty="0"/>
          </a:p>
        </p:txBody>
      </p:sp>
      <p:sp>
        <p:nvSpPr>
          <p:cNvPr id="24" name="card-456"/>
          <p:cNvSpPr/>
          <p:nvPr/>
        </p:nvSpPr>
        <p:spPr>
          <a:xfrm>
            <a:off x="548640" y="5373014"/>
            <a:ext cx="11094415" cy="799186"/>
          </a:xfrm>
          <a:prstGeom prst="roundRect">
            <a:avLst>
              <a:gd name="adj" fmla="val 13730"/>
            </a:avLst>
          </a:prstGeom>
          <a:solidFill>
            <a:schemeClr val="bg2"/>
          </a:solidFill>
          <a:ln/>
        </p:spPr>
      </p:sp>
      <p:sp>
        <p:nvSpPr>
          <p:cNvPr id="25" name="num-457"/>
          <p:cNvSpPr/>
          <p:nvPr/>
        </p:nvSpPr>
        <p:spPr>
          <a:xfrm>
            <a:off x="777240" y="5544007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6" name="text-458"/>
          <p:cNvSpPr txBox="1"/>
          <p:nvPr/>
        </p:nvSpPr>
        <p:spPr>
          <a:xfrm>
            <a:off x="777240" y="5544007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Q</a:t>
            </a:r>
            <a:endParaRPr lang="en-US" sz="1500" dirty="0"/>
          </a:p>
        </p:txBody>
      </p:sp>
      <p:sp>
        <p:nvSpPr>
          <p:cNvPr id="27" name="text-459"/>
          <p:cNvSpPr txBox="1"/>
          <p:nvPr/>
        </p:nvSpPr>
        <p:spPr>
          <a:xfrm>
            <a:off x="1463040" y="5373014"/>
            <a:ext cx="3749040" cy="7991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진행자가 실수로 나가면 어떻게 되나요?</a:t>
            </a:r>
            <a:endParaRPr lang="en-US" sz="1500" dirty="0"/>
          </a:p>
        </p:txBody>
      </p:sp>
      <p:sp>
        <p:nvSpPr>
          <p:cNvPr id="28" name="text-460"/>
          <p:cNvSpPr txBox="1"/>
          <p:nvPr/>
        </p:nvSpPr>
        <p:spPr>
          <a:xfrm>
            <a:off x="5394960" y="5373014"/>
            <a:ext cx="6019495" cy="7991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그룹 녹음 전체가 취소되고 모든 참여자의 녹음이 저장되지 않습니다. 진행자는 녹음이 끝날 때까지 화면을 나가지 않도록 주의해 주세요.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514600"/>
            <a:ext cx="6766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회의록은 PC에서 확인하세요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84048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녹음은 모바일 앱  ·  알림은 앱 알림함  ·  회의록은 PC 웹</a:t>
            </a:r>
            <a:endParaRPr lang="en-US" sz="1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580644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u="sng" dirty="0">
                <a:solidFill>
                  <a:schemeClr val="accent3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AI회의록 시스템   aimeeting.skhynix.com</a:t>
            </a:r>
            <a:endParaRPr lang="en-US" sz="1200" dirty="0"/>
          </a:p>
        </p:txBody>
      </p:sp>
      <p:sp>
        <p:nvSpPr>
          <p:cNvPr id="5" name="wave-461"/>
          <p:cNvSpPr/>
          <p:nvPr/>
        </p:nvSpPr>
        <p:spPr>
          <a:xfrm>
            <a:off x="7818120" y="3246120"/>
            <a:ext cx="109728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6" name="wave-462"/>
          <p:cNvSpPr/>
          <p:nvPr/>
        </p:nvSpPr>
        <p:spPr>
          <a:xfrm>
            <a:off x="8037576" y="3086100"/>
            <a:ext cx="109728" cy="685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7" name="wave-463"/>
          <p:cNvSpPr/>
          <p:nvPr/>
        </p:nvSpPr>
        <p:spPr>
          <a:xfrm>
            <a:off x="8257032" y="2880360"/>
            <a:ext cx="109728" cy="109728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8" name="wave-464"/>
          <p:cNvSpPr/>
          <p:nvPr/>
        </p:nvSpPr>
        <p:spPr>
          <a:xfrm>
            <a:off x="8476488" y="3017520"/>
            <a:ext cx="109728" cy="8229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9" name="wave-465"/>
          <p:cNvSpPr/>
          <p:nvPr/>
        </p:nvSpPr>
        <p:spPr>
          <a:xfrm>
            <a:off x="8695944" y="2674620"/>
            <a:ext cx="109728" cy="1508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0" name="wave-466"/>
          <p:cNvSpPr/>
          <p:nvPr/>
        </p:nvSpPr>
        <p:spPr>
          <a:xfrm>
            <a:off x="8915400" y="2377440"/>
            <a:ext cx="109728" cy="210312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11" name="wave-467"/>
          <p:cNvSpPr/>
          <p:nvPr/>
        </p:nvSpPr>
        <p:spPr>
          <a:xfrm>
            <a:off x="9134856" y="2766060"/>
            <a:ext cx="109728" cy="132588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12" name="wave-468"/>
          <p:cNvSpPr/>
          <p:nvPr/>
        </p:nvSpPr>
        <p:spPr>
          <a:xfrm>
            <a:off x="9354312" y="2994660"/>
            <a:ext cx="109728" cy="86868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3" name="wave-469"/>
          <p:cNvSpPr/>
          <p:nvPr/>
        </p:nvSpPr>
        <p:spPr>
          <a:xfrm>
            <a:off x="9573768" y="2514600"/>
            <a:ext cx="109728" cy="1828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4" name="wave-470"/>
          <p:cNvSpPr/>
          <p:nvPr/>
        </p:nvSpPr>
        <p:spPr>
          <a:xfrm>
            <a:off x="9793224" y="2217420"/>
            <a:ext cx="109728" cy="24231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15" name="wave-471"/>
          <p:cNvSpPr/>
          <p:nvPr/>
        </p:nvSpPr>
        <p:spPr>
          <a:xfrm>
            <a:off x="10012680" y="2606040"/>
            <a:ext cx="109728" cy="16459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6" name="wave-472"/>
          <p:cNvSpPr/>
          <p:nvPr/>
        </p:nvSpPr>
        <p:spPr>
          <a:xfrm>
            <a:off x="10232136" y="2880360"/>
            <a:ext cx="109728" cy="109728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7" name="wave-473"/>
          <p:cNvSpPr/>
          <p:nvPr/>
        </p:nvSpPr>
        <p:spPr>
          <a:xfrm>
            <a:off x="10451592" y="2423160"/>
            <a:ext cx="109728" cy="201168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18" name="wave-474"/>
          <p:cNvSpPr/>
          <p:nvPr/>
        </p:nvSpPr>
        <p:spPr>
          <a:xfrm>
            <a:off x="10671048" y="2743200"/>
            <a:ext cx="109728" cy="1371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9" name="wave-475"/>
          <p:cNvSpPr/>
          <p:nvPr/>
        </p:nvSpPr>
        <p:spPr>
          <a:xfrm>
            <a:off x="10890504" y="2994660"/>
            <a:ext cx="109728" cy="86868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0" name="wave-476"/>
          <p:cNvSpPr/>
          <p:nvPr/>
        </p:nvSpPr>
        <p:spPr>
          <a:xfrm>
            <a:off x="11109960" y="2834640"/>
            <a:ext cx="109728" cy="118872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21" name="wave-477"/>
          <p:cNvSpPr/>
          <p:nvPr/>
        </p:nvSpPr>
        <p:spPr>
          <a:xfrm>
            <a:off x="11329416" y="3086100"/>
            <a:ext cx="109728" cy="685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2" name="wave-478"/>
          <p:cNvSpPr/>
          <p:nvPr/>
        </p:nvSpPr>
        <p:spPr>
          <a:xfrm>
            <a:off x="11548872" y="3246120"/>
            <a:ext cx="109728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Timbel AI Meeting">
  <a:themeElements>
    <a:clrScheme name="Timbel AI Meeting">
      <a:dk1>
        <a:srgbClr val="14213D"/>
      </a:dk1>
      <a:lt1>
        <a:srgbClr val="FFFFFF"/>
      </a:lt1>
      <a:dk2>
        <a:srgbClr val="475569"/>
      </a:dk2>
      <a:lt2>
        <a:srgbClr val="F1F5F9"/>
      </a:lt2>
      <a:accent1>
        <a:srgbClr val="2563EB"/>
      </a:accent1>
      <a:accent2>
        <a:srgbClr val="DBEAFE"/>
      </a:accent2>
      <a:accent3>
        <a:srgbClr val="94A3B8"/>
      </a:accent3>
      <a:accent4>
        <a:srgbClr val="D9480F"/>
      </a:accent4>
      <a:accent5>
        <a:srgbClr val="0F766E"/>
      </a:accent5>
      <a:accent6>
        <a:srgbClr val="FFEDD5"/>
      </a:accent6>
      <a:hlink>
        <a:srgbClr val="2563EB"/>
      </a:hlink>
      <a:folHlink>
        <a:srgbClr val="2563EB"/>
      </a:folHlink>
    </a:clrScheme>
    <a:fontScheme name="Timbel AI Meeting">
      <a:majorFont>
        <a:latin typeface="Malgun Gothic"/>
        <a:ea typeface="Malgun Gothic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Malgun Gothic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Timbel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회의록 녹음 기능 안내서</dc:title>
  <dc:subject>PptxGenJS Presentation</dc:subject>
  <dc:creator>Timbel</dc:creator>
  <cp:lastModifiedBy>Timbel</cp:lastModifiedBy>
  <cp:revision>1</cp:revision>
  <dcterms:created xsi:type="dcterms:W3CDTF">2026-10-27T12:16:06Z</dcterms:created>
  <dcterms:modified xsi:type="dcterms:W3CDTF">2026-10-27T12:16:06Z</dcterms:modified>
</cp:coreProperties>
</file>