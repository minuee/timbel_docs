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114" y="10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645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AICM 문서 라이프사이클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BBDD"/>
                </a:solidFill>
                <a:latin typeface="맑은 고딕"/>
              </a:defRPr>
            </a:pPr>
            <a:r>
              <a:t>문서가 생성부터 삭제까지 거치는 모든 경로와 임베딩/인덱싱 처리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▸  10가지 시나리오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▸  5개 핵심 상태 + 2개 운영 플래그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▸  ES 키워드 인덱싱 · Milvus 벡터 임베딩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88"/>
                </a:solidFill>
                <a:latin typeface="맑은 고딕"/>
              </a:defRPr>
            </a:pPr>
            <a:r>
              <a:t>AICM Knowledge Management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88"/>
                </a:solidFill>
                <a:latin typeface="맑은 고딕"/>
              </a:defRPr>
            </a:pPr>
            <a: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BBDD"/>
                </a:solidFill>
                <a:latin typeface="맑은 고딕"/>
              </a:defRPr>
            </a:pPr>
            <a:r>
              <a:t>전체 시나리오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CC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234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맑은 고딕"/>
              </a:defRPr>
            </a:pPr>
            <a:r>
              <a:t>문서 상태 전체 조감도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88"/>
                </a:solidFill>
                <a:latin typeface="맑은 고딕"/>
              </a:defRPr>
            </a:pPr>
            <a:r>
              <a:t>5개 핵심 상태 + 운영 플래그 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CC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45920"/>
            <a:ext cx="31277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맑은 고딕"/>
              </a:defRPr>
            </a:pPr>
            <a:r>
              <a:rPr dirty="0" err="1"/>
              <a:t>관리</a:t>
            </a:r>
            <a:r>
              <a:rPr dirty="0"/>
              <a:t> </a:t>
            </a:r>
            <a:r>
              <a:rPr dirty="0" err="1"/>
              <a:t>모드</a:t>
            </a:r>
            <a:r>
              <a:rPr dirty="0"/>
              <a:t> — </a:t>
            </a:r>
            <a:r>
              <a:rPr dirty="0" err="1"/>
              <a:t>신규</a:t>
            </a:r>
            <a:r>
              <a:rPr dirty="0"/>
              <a:t> </a:t>
            </a:r>
            <a:r>
              <a:rPr dirty="0" err="1"/>
              <a:t>작성</a:t>
            </a:r>
            <a:r>
              <a:rPr dirty="0"/>
              <a:t> → </a:t>
            </a:r>
            <a:r>
              <a:rPr dirty="0" err="1"/>
              <a:t>승인</a:t>
            </a:r>
            <a:r>
              <a:rPr dirty="0"/>
              <a:t> → </a:t>
            </a:r>
            <a:r>
              <a:rPr dirty="0" err="1"/>
              <a:t>발행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960120" y="18516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88"/>
                </a:solidFill>
                <a:latin typeface="맑은 고딕"/>
              </a:defRPr>
            </a:pPr>
            <a:r>
              <a:rPr dirty="0" err="1"/>
              <a:t>버전</a:t>
            </a:r>
            <a:r>
              <a:rPr dirty="0"/>
              <a:t> </a:t>
            </a:r>
            <a:r>
              <a:rPr dirty="0" err="1"/>
              <a:t>생성</a:t>
            </a:r>
            <a:r>
              <a:rPr dirty="0"/>
              <a:t>, </a:t>
            </a:r>
            <a:r>
              <a:rPr dirty="0" err="1"/>
              <a:t>블록</a:t>
            </a:r>
            <a:r>
              <a:rPr dirty="0"/>
              <a:t> </a:t>
            </a:r>
            <a:r>
              <a:rPr dirty="0" err="1"/>
              <a:t>스냅샷</a:t>
            </a:r>
            <a:r>
              <a:rPr dirty="0"/>
              <a:t>, </a:t>
            </a:r>
            <a:r>
              <a:rPr dirty="0" err="1"/>
              <a:t>임베딩</a:t>
            </a:r>
            <a:r>
              <a:rPr dirty="0"/>
              <a:t> </a:t>
            </a:r>
            <a:r>
              <a:rPr dirty="0" err="1"/>
              <a:t>트리거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CC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057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맑은 고딕"/>
              </a:defRPr>
            </a:pPr>
            <a:r>
              <a:rPr dirty="0" err="1"/>
              <a:t>자유</a:t>
            </a:r>
            <a:r>
              <a:rPr dirty="0"/>
              <a:t> </a:t>
            </a:r>
            <a:r>
              <a:rPr dirty="0" err="1"/>
              <a:t>모드</a:t>
            </a:r>
            <a:r>
              <a:rPr dirty="0"/>
              <a:t> —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발행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960120" y="22631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88"/>
                </a:solidFill>
                <a:latin typeface="맑은 고딕"/>
              </a:defRPr>
            </a:pPr>
            <a:r>
              <a:rPr dirty="0" err="1"/>
              <a:t>승인</a:t>
            </a:r>
            <a:r>
              <a:rPr dirty="0"/>
              <a:t> </a:t>
            </a:r>
            <a:r>
              <a:rPr dirty="0" err="1"/>
              <a:t>없이</a:t>
            </a:r>
            <a:r>
              <a:rPr dirty="0"/>
              <a:t> </a:t>
            </a:r>
            <a:r>
              <a:rPr dirty="0" err="1"/>
              <a:t>즉시</a:t>
            </a:r>
            <a:r>
              <a:rPr dirty="0"/>
              <a:t> </a:t>
            </a:r>
            <a:r>
              <a:rPr dirty="0" err="1"/>
              <a:t>발행</a:t>
            </a:r>
            <a:r>
              <a:rPr dirty="0"/>
              <a:t>, ES </a:t>
            </a:r>
            <a:r>
              <a:rPr dirty="0" err="1"/>
              <a:t>인덱싱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548640" y="24688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CC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468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맑은 고딕"/>
              </a:defRPr>
            </a:pPr>
            <a:r>
              <a:t>발행 후 수정 → 재발행 (v2)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651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88"/>
                </a:solidFill>
                <a:latin typeface="맑은 고딕"/>
              </a:defRPr>
            </a:pPr>
            <a:r>
              <a:t>변경 블록 감지 + 차분 재임베딩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803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CC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880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맑은 고딕"/>
              </a:defRPr>
            </a:pPr>
            <a:r>
              <a:t>예약 배포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0632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88"/>
                </a:solidFill>
                <a:latin typeface="맑은 고딕"/>
              </a:defRPr>
            </a:pPr>
            <a:r>
              <a:t>승인 완료 + BullMQ 예약 발행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2918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CC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291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맑은 고딕"/>
              </a:defRPr>
            </a:pPr>
            <a:r>
              <a:t>반려 / 철회 → 재작성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4747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88"/>
                </a:solidFill>
                <a:latin typeface="맑은 고딕"/>
              </a:defRPr>
            </a:pPr>
            <a:r>
              <a:t>버전 반려 이력 보존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7033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CC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703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맑은 고딕"/>
              </a:defRPr>
            </a:pPr>
            <a:r>
              <a:t>버전 롤백 (Copy-forward)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8862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88"/>
                </a:solidFill>
                <a:latin typeface="맑은 고딕"/>
              </a:defRPr>
            </a:pPr>
            <a:r>
              <a:t>이전 발행본 복원 → 재승인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1234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CC"/>
                </a:solidFill>
                <a:latin typeface="맑은 고딕"/>
              </a:defRPr>
            </a:pPr>
            <a: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1234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맑은 고딕"/>
              </a:defRPr>
            </a:pPr>
            <a:r>
              <a:t>유효기간 만료 + 사전 알림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1417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88"/>
                </a:solidFill>
                <a:latin typeface="맑은 고딕"/>
              </a:defRPr>
            </a:pPr>
            <a:r>
              <a:t>BullMQ 크론 배치, 담당자 알림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1645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CC"/>
                </a:solidFill>
                <a:latin typeface="맑은 고딕"/>
              </a:defRPr>
            </a:pPr>
            <a: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1645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맑은 고딕"/>
              </a:defRPr>
            </a:pPr>
            <a:r>
              <a:t>긴급 회수 (is_suspended)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18288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88"/>
                </a:solidFill>
                <a:latin typeface="맑은 고딕"/>
              </a:defRPr>
            </a:pPr>
            <a:r>
              <a:t>즉시 검색 제외, 벡터 보존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20574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CC"/>
                </a:solidFill>
                <a:latin typeface="맑은 고딕"/>
              </a:defRPr>
            </a:pPr>
            <a: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2057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맑은 고딕"/>
              </a:defRPr>
            </a:pPr>
            <a:r>
              <a:t>아카이빙 → 재활성화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22402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88"/>
                </a:solidFill>
                <a:latin typeface="맑은 고딕"/>
              </a:defRPr>
            </a:pPr>
            <a:r>
              <a:t>archived 상태 전이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24688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CC"/>
                </a:solidFill>
                <a:latin typeface="맑은 고딕"/>
              </a:defRPr>
            </a:pPr>
            <a: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2468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맑은 고딕"/>
              </a:defRPr>
            </a:pPr>
            <a:r>
              <a:t>문서 삭제 연쇄 처리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2651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88"/>
                </a:solidFill>
                <a:latin typeface="맑은 고딕"/>
              </a:defRPr>
            </a:pPr>
            <a:r>
              <a:t>soft delete + ES/Milvus/댓글/승인 연쇄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28803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CC"/>
                </a:solidFill>
                <a:latin typeface="맑은 고딕"/>
              </a:defRPr>
            </a:pPr>
            <a: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2880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맑은 고딕"/>
              </a:defRPr>
            </a:pPr>
            <a:r>
              <a:t>임베딩 · 인덱싱 파이프라인 총정리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30632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88"/>
                </a:solidFill>
                <a:latin typeface="맑은 고딕"/>
              </a:defRPr>
            </a:pPr>
            <a:r>
              <a:t>파이프라인 분기 + 상태별 처리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32918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CC"/>
                </a:solidFill>
                <a:latin typeface="맑은 고딕"/>
              </a:defRPr>
            </a:pPr>
            <a:r>
              <a:t>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9400" y="3291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맑은 고딕"/>
              </a:defRPr>
            </a:pPr>
            <a:r>
              <a:t>검색 노출 조건 정리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29400" y="34747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88"/>
                </a:solidFill>
                <a:latin typeface="맑은 고딕"/>
              </a:defRPr>
            </a:pPr>
            <a:r>
              <a:t>어떤 문서가 검색에 걸리는가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88"/>
                </a:solidFill>
                <a:latin typeface="맑은 고딕"/>
              </a:defRPr>
            </a:pPr>
            <a: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01  문서 상태 전체 조감도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BBDD"/>
                </a:solidFill>
                <a:latin typeface="맑은 고딕"/>
              </a:defRPr>
            </a:pPr>
            <a:r>
              <a:t>Document.status 5개 + 운영 플래그 2개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011680" cy="77724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Draft</a:t>
            </a:r>
            <a:br/>
            <a:r>
              <a:t>작성 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1463040"/>
            <a:ext cx="2011680" cy="77724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PendingReview</a:t>
            </a:r>
            <a:br/>
            <a:r>
              <a:t>검토 대기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1463040"/>
            <a:ext cx="2011680" cy="777240"/>
          </a:xfrm>
          <a:prstGeom prst="round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Approved</a:t>
            </a:r>
            <a:br/>
            <a:r>
              <a:t>Scheduled</a:t>
            </a:r>
            <a:br/>
            <a:r>
              <a:t>예약 게시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463040"/>
            <a:ext cx="2011680" cy="77724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Published</a:t>
            </a:r>
            <a:br/>
            <a:r>
              <a:t>게시됨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66960" y="1463040"/>
            <a:ext cx="2011680" cy="777240"/>
          </a:xfrm>
          <a:prstGeom prst="roundRect">
            <a:avLst/>
          </a:prstGeom>
          <a:solidFill>
            <a:srgbClr val="A5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Archived</a:t>
            </a:r>
            <a:br/>
            <a:r>
              <a:t>아카이빙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68880" y="1741931"/>
            <a:ext cx="365759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11680" y="1170206"/>
            <a:ext cx="13070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8"/>
                </a:solidFill>
                <a:latin typeface="맑은 고딕"/>
              </a:defRPr>
            </a:pPr>
            <a:r>
              <a:rPr dirty="0" err="1"/>
              <a:t>승인</a:t>
            </a:r>
            <a:r>
              <a:rPr dirty="0"/>
              <a:t> </a:t>
            </a:r>
            <a:r>
              <a:rPr dirty="0" err="1"/>
              <a:t>요청</a:t>
            </a:r>
            <a:br>
              <a:rPr dirty="0"/>
            </a:br>
            <a:r>
              <a:rPr dirty="0"/>
              <a:t>(</a:t>
            </a:r>
            <a:r>
              <a:rPr dirty="0" err="1"/>
              <a:t>관리</a:t>
            </a:r>
            <a:r>
              <a:rPr dirty="0"/>
              <a:t> </a:t>
            </a:r>
            <a:r>
              <a:rPr dirty="0" err="1"/>
              <a:t>모드</a:t>
            </a:r>
            <a:r>
              <a:rPr dirty="0"/>
              <a:t>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46320" y="1741931"/>
            <a:ext cx="365760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1220164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8"/>
                </a:solidFill>
                <a:latin typeface="맑은 고딕"/>
              </a:defRPr>
            </a:pPr>
            <a:r>
              <a:t>승인+예약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223760" y="1741931"/>
            <a:ext cx="365760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52130" y="1240871"/>
            <a:ext cx="90902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8"/>
                </a:solidFill>
                <a:latin typeface="맑은 고딕"/>
              </a:defRPr>
            </a:pPr>
            <a:r>
              <a:rPr dirty="0" err="1"/>
              <a:t>예약</a:t>
            </a:r>
            <a:r>
              <a:rPr dirty="0"/>
              <a:t> </a:t>
            </a:r>
            <a:r>
              <a:rPr dirty="0" err="1"/>
              <a:t>시점</a:t>
            </a:r>
            <a:r>
              <a:rPr dirty="0"/>
              <a:t> </a:t>
            </a:r>
            <a:r>
              <a:rPr dirty="0" err="1"/>
              <a:t>도래</a:t>
            </a:r>
            <a:endParaRPr dirty="0"/>
          </a:p>
        </p:txBody>
      </p:sp>
      <p:sp>
        <p:nvSpPr>
          <p:cNvPr id="16" name="Right Arrow 15"/>
          <p:cNvSpPr/>
          <p:nvPr/>
        </p:nvSpPr>
        <p:spPr>
          <a:xfrm>
            <a:off x="9601200" y="1741931"/>
            <a:ext cx="365760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48800" y="1220164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8"/>
                </a:solidFill>
                <a:latin typeface="맑은 고딕"/>
              </a:defRPr>
            </a:pPr>
            <a:r>
              <a:rPr dirty="0" err="1"/>
              <a:t>아카이빙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3200400" y="2743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0AD47"/>
                </a:solidFill>
                <a:latin typeface="맑은 고딕"/>
              </a:defRPr>
            </a:pPr>
            <a:r>
              <a:t>─ ─ ─ ─ ─ ─  자유 모드: 직접 발행  ─ ─ ─ ─ ─ ─ 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383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맑은 고딕"/>
              </a:defRPr>
            </a:pPr>
            <a:r>
              <a:t>운영 플래그 (status와 독립 동작)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31920"/>
            <a:ext cx="2560320" cy="640080"/>
          </a:xfrm>
          <a:prstGeom prst="roundRect">
            <a:avLst/>
          </a:prstGeom>
          <a:solidFill>
            <a:srgbClr val="FF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is_suspended = true</a:t>
            </a:r>
          </a:p>
          <a:p>
            <a:pPr algn="ctr">
              <a:defRPr sz="800">
                <a:solidFill>
                  <a:srgbClr val="FFFFFF"/>
                </a:solidFill>
                <a:latin typeface="맑은 고딕"/>
              </a:defRPr>
            </a:pPr>
            <a:r>
              <a:t>긴급 회수 / 유효기간 만료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66160" y="3931920"/>
            <a:ext cx="3200400" cy="640080"/>
          </a:xfrm>
          <a:prstGeom prst="roundRect">
            <a:avLst/>
          </a:prstGeom>
          <a:solidFill>
            <a:srgbClr val="FFF9E6"/>
          </a:solidFill>
          <a:ln w="12700">
            <a:solidFill>
              <a:srgbClr val="DDDD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900">
                <a:solidFill>
                  <a:srgbClr val="1A1A2E"/>
                </a:solidFill>
                <a:latin typeface="맑은 고딕"/>
              </a:defRPr>
            </a:pPr>
            <a:r>
              <a:t>💡 published 상태에서만 true 허용</a:t>
            </a:r>
          </a:p>
          <a:p>
            <a:pPr>
              <a:spcAft>
                <a:spcPts val="200"/>
              </a:spcAft>
              <a:defRPr sz="900">
                <a:solidFill>
                  <a:srgbClr val="1A1A2E"/>
                </a:solidFill>
                <a:latin typeface="맑은 고딕"/>
              </a:defRPr>
            </a:pPr>
            <a:r>
              <a:t>    검색/RAG에서 즉시 제외 (벡터 보존)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754880"/>
            <a:ext cx="2560320" cy="640080"/>
          </a:xfrm>
          <a:prstGeom prst="round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deleted_at = timestamp</a:t>
            </a:r>
          </a:p>
          <a:p>
            <a:pPr algn="ctr">
              <a:defRPr sz="800">
                <a:solidFill>
                  <a:srgbClr val="FFFFFF"/>
                </a:solidFill>
                <a:latin typeface="맑은 고딕"/>
              </a:defRPr>
            </a:pPr>
            <a:r>
              <a:t>소프트 삭제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66160" y="4754880"/>
            <a:ext cx="3200400" cy="640080"/>
          </a:xfrm>
          <a:prstGeom prst="roundRect">
            <a:avLst/>
          </a:prstGeom>
          <a:solidFill>
            <a:srgbClr val="FFF9E6"/>
          </a:solidFill>
          <a:ln w="12700">
            <a:solidFill>
              <a:srgbClr val="DDDD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900">
                <a:solidFill>
                  <a:srgbClr val="1A1A2E"/>
                </a:solidFill>
                <a:latin typeface="맑은 고딕"/>
              </a:defRPr>
            </a:pPr>
            <a:r>
              <a:t>💡 어떤 상태에서든 삭제 가능</a:t>
            </a:r>
          </a:p>
          <a:p>
            <a:pPr>
              <a:spcAft>
                <a:spcPts val="200"/>
              </a:spcAft>
              <a:defRPr sz="900">
                <a:solidFill>
                  <a:srgbClr val="1A1A2E"/>
                </a:solidFill>
                <a:latin typeface="맑은 고딕"/>
              </a:defRPr>
            </a:pPr>
            <a:r>
              <a:t>    관리자만 복구 가능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3383280"/>
            <a:ext cx="4389120" cy="20116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DDDD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🔍 검색/RAG 노출 조건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✅ status = 'published'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✅ is_suspended = false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✅ deleted_at IS NULL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✅ board.deleted_at IS NULL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→ 이 4가지 모두 만족해야 검색에 노출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760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88"/>
                </a:solidFill>
                <a:latin typeface="맑은 고딕"/>
              </a:defRPr>
            </a:pPr>
            <a:r>
              <a:rPr dirty="0"/>
              <a:t>▸ </a:t>
            </a:r>
            <a:r>
              <a:rPr dirty="0" err="1"/>
              <a:t>임베딩</a:t>
            </a:r>
            <a:r>
              <a:rPr dirty="0"/>
              <a:t> </a:t>
            </a:r>
            <a:r>
              <a:rPr dirty="0" err="1"/>
              <a:t>수행</a:t>
            </a:r>
            <a:r>
              <a:rPr dirty="0"/>
              <a:t> </a:t>
            </a:r>
            <a:r>
              <a:rPr dirty="0" err="1"/>
              <a:t>시점</a:t>
            </a:r>
            <a:r>
              <a:rPr dirty="0"/>
              <a:t>: Published </a:t>
            </a:r>
            <a:r>
              <a:rPr dirty="0" err="1"/>
              <a:t>전이</a:t>
            </a:r>
            <a:r>
              <a:rPr dirty="0"/>
              <a:t> 시  |  ▸ ES </a:t>
            </a:r>
            <a:r>
              <a:rPr dirty="0" err="1"/>
              <a:t>인덱싱</a:t>
            </a:r>
            <a:r>
              <a:rPr dirty="0"/>
              <a:t>: </a:t>
            </a:r>
            <a:r>
              <a:rPr dirty="0" err="1"/>
              <a:t>항상</a:t>
            </a:r>
            <a:r>
              <a:rPr dirty="0"/>
              <a:t>  |  ▸ Milvus </a:t>
            </a:r>
            <a:r>
              <a:rPr dirty="0" err="1"/>
              <a:t>임베딩</a:t>
            </a:r>
            <a:r>
              <a:rPr dirty="0"/>
              <a:t>: </a:t>
            </a:r>
            <a:r>
              <a:rPr dirty="0" err="1"/>
              <a:t>ft:search.rag</a:t>
            </a:r>
            <a:r>
              <a:rPr dirty="0"/>
              <a:t> = </a:t>
            </a:r>
            <a:r>
              <a:rPr dirty="0" err="1"/>
              <a:t>true일</a:t>
            </a:r>
            <a:r>
              <a:rPr dirty="0"/>
              <a:t> 때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" y="6126480"/>
            <a:ext cx="164592" cy="164592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60990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맑은 고딕"/>
              </a:defRPr>
            </a:pPr>
            <a:r>
              <a:t>Draft</a:t>
            </a:r>
          </a:p>
        </p:txBody>
      </p:sp>
      <p:sp>
        <p:nvSpPr>
          <p:cNvPr id="28" name="Oval 27"/>
          <p:cNvSpPr/>
          <p:nvPr/>
        </p:nvSpPr>
        <p:spPr>
          <a:xfrm>
            <a:off x="2743200" y="6126480"/>
            <a:ext cx="164592" cy="164592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971800" y="60990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맑은 고딕"/>
              </a:defRPr>
            </a:pPr>
            <a:r>
              <a:t>PendingReview</a:t>
            </a:r>
          </a:p>
        </p:txBody>
      </p:sp>
      <p:sp>
        <p:nvSpPr>
          <p:cNvPr id="30" name="Oval 29"/>
          <p:cNvSpPr/>
          <p:nvPr/>
        </p:nvSpPr>
        <p:spPr>
          <a:xfrm>
            <a:off x="5029200" y="6126480"/>
            <a:ext cx="164592" cy="164592"/>
          </a:xfrm>
          <a:prstGeom prst="ellipse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57800" y="60990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맑은 고딕"/>
              </a:defRPr>
            </a:pPr>
            <a:r>
              <a:t>ApprovedScheduled</a:t>
            </a:r>
          </a:p>
        </p:txBody>
      </p:sp>
      <p:sp>
        <p:nvSpPr>
          <p:cNvPr id="32" name="Oval 31"/>
          <p:cNvSpPr/>
          <p:nvPr/>
        </p:nvSpPr>
        <p:spPr>
          <a:xfrm>
            <a:off x="7315200" y="6126480"/>
            <a:ext cx="164592" cy="164592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43800" y="60990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맑은 고딕"/>
              </a:defRPr>
            </a:pPr>
            <a:r>
              <a:t>Published</a:t>
            </a:r>
          </a:p>
        </p:txBody>
      </p:sp>
      <p:sp>
        <p:nvSpPr>
          <p:cNvPr id="34" name="Oval 3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FF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5800" y="641908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맑은 고딕"/>
              </a:defRPr>
            </a:pPr>
            <a:r>
              <a:t>Suspended</a:t>
            </a:r>
          </a:p>
        </p:txBody>
      </p:sp>
      <p:sp>
        <p:nvSpPr>
          <p:cNvPr id="36" name="Oval 35"/>
          <p:cNvSpPr/>
          <p:nvPr/>
        </p:nvSpPr>
        <p:spPr>
          <a:xfrm>
            <a:off x="2743200" y="6446520"/>
            <a:ext cx="164592" cy="164592"/>
          </a:xfrm>
          <a:prstGeom prst="ellipse">
            <a:avLst/>
          </a:prstGeom>
          <a:solidFill>
            <a:srgbClr val="A5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971800" y="641908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맑은 고딕"/>
              </a:defRPr>
            </a:pPr>
            <a:r>
              <a:t>Archived</a:t>
            </a:r>
          </a:p>
        </p:txBody>
      </p:sp>
      <p:sp>
        <p:nvSpPr>
          <p:cNvPr id="38" name="Oval 37"/>
          <p:cNvSpPr/>
          <p:nvPr/>
        </p:nvSpPr>
        <p:spPr>
          <a:xfrm>
            <a:off x="5029200" y="6446520"/>
            <a:ext cx="164592" cy="164592"/>
          </a:xfrm>
          <a:prstGeom prst="ellips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257800" y="641908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맑은 고딕"/>
              </a:defRPr>
            </a:pPr>
            <a:r>
              <a:t>Deleted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88"/>
                </a:solidFill>
                <a:latin typeface="맑은 고딕"/>
              </a:defRPr>
            </a:pPr>
            <a: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02  관리 모드 — 신규 작성 → 승인 → 발행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BBDD"/>
                </a:solidFill>
                <a:latin typeface="맑은 고딕"/>
              </a:defRPr>
            </a:pPr>
            <a:r>
              <a:t>버전 생성 + 블록 스냅샷 + 임베딩/인덱싱 트리거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828800" cy="6400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문서 생성</a:t>
            </a:r>
          </a:p>
          <a:p>
            <a:pPr algn="ctr">
              <a:defRPr sz="900">
                <a:solidFill>
                  <a:srgbClr val="FFFFFF"/>
                </a:solidFill>
                <a:latin typeface="맑은 고딕"/>
              </a:defRPr>
            </a:pPr>
            <a:r>
              <a:t>status = draft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286000" y="1581912"/>
            <a:ext cx="640080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0" y="123497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8"/>
                </a:solidFill>
                <a:latin typeface="맑은 고딕"/>
              </a:defRPr>
            </a:pPr>
            <a:r>
              <a:rPr dirty="0" err="1"/>
              <a:t>작성</a:t>
            </a:r>
            <a:r>
              <a:rPr dirty="0"/>
              <a:t>/</a:t>
            </a:r>
            <a:r>
              <a:rPr dirty="0" err="1"/>
              <a:t>자동저장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2926080" y="1371600"/>
            <a:ext cx="1828800" cy="6400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블록 에디터</a:t>
            </a:r>
            <a:br/>
            <a:r>
              <a:t>편집 중</a:t>
            </a:r>
          </a:p>
          <a:p>
            <a:pPr algn="ctr">
              <a:defRPr sz="800">
                <a:solidFill>
                  <a:srgbClr val="FFFFFF"/>
                </a:solidFill>
                <a:latin typeface="맑은 고딕"/>
              </a:defRPr>
            </a:pPr>
            <a:r>
              <a:t>Working Copy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754880" y="1581912"/>
            <a:ext cx="640080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13716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8"/>
                </a:solidFill>
                <a:latin typeface="맑은 고딕"/>
              </a:defRPr>
            </a:pPr>
            <a:r>
              <a:t>승인 요청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1371600"/>
            <a:ext cx="2103120" cy="640080"/>
          </a:xfrm>
          <a:prstGeom prst="roundRect">
            <a:avLst/>
          </a:prstGeom>
          <a:solidFill>
            <a:srgbClr val="00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버전 생성 (v1)</a:t>
            </a:r>
            <a:br/>
            <a:r>
              <a:t>+ 블록 스냅샷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498079" y="1581912"/>
            <a:ext cx="548640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1828800" cy="64008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검토 대기</a:t>
            </a:r>
          </a:p>
          <a:p>
            <a:pPr algn="ctr">
              <a:defRPr sz="900">
                <a:solidFill>
                  <a:srgbClr val="FFFFFF"/>
                </a:solidFill>
                <a:latin typeface="맑은 고딕"/>
              </a:defRPr>
            </a:pPr>
            <a:r>
              <a:t>pending_review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875520" y="1581912"/>
            <a:ext cx="457200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0" y="1371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8"/>
                </a:solidFill>
                <a:latin typeface="맑은 고딕"/>
              </a:defRPr>
            </a:pPr>
            <a:r>
              <a:t>최종 승인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32720" y="1371600"/>
            <a:ext cx="1554480" cy="6400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게시됨</a:t>
            </a:r>
          </a:p>
          <a:p>
            <a:pPr algn="ctr">
              <a:defRPr sz="1000">
                <a:solidFill>
                  <a:srgbClr val="FFFFFF"/>
                </a:solidFill>
                <a:latin typeface="맑은 고딕"/>
              </a:defRPr>
            </a:pPr>
            <a:r>
              <a:t>published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468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맑은 고딕"/>
              </a:defRPr>
            </a:pPr>
            <a:r>
              <a:t>▼ 발행(Published) 전이 시 자동 트리거되는 파이프라인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926080"/>
            <a:ext cx="2286000" cy="822960"/>
          </a:xfrm>
          <a:prstGeom prst="round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ES 키워드 인덱싱</a:t>
            </a:r>
          </a:p>
          <a:p>
            <a:pPr algn="ctr">
              <a:defRPr sz="900">
                <a:solidFill>
                  <a:srgbClr val="FFFFFF"/>
                </a:solidFill>
                <a:latin typeface="맑은 고딕"/>
              </a:defRPr>
            </a:pPr>
            <a:r>
              <a:t>aicm_blocks 인덱스</a:t>
            </a:r>
            <a:br/>
            <a:r>
              <a:t>항상 실행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2926080"/>
            <a:ext cx="3200400" cy="822960"/>
          </a:xfrm>
          <a:prstGeom prst="roundRect">
            <a:avLst/>
          </a:prstGeom>
          <a:solidFill>
            <a:srgbClr val="FFF9E6"/>
          </a:solidFill>
          <a:ln w="12700">
            <a:solidFill>
              <a:srgbClr val="DDDD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900">
                <a:solidFill>
                  <a:srgbClr val="1A1A2E"/>
                </a:solidFill>
                <a:latin typeface="맑은 고딕"/>
              </a:defRPr>
            </a:pPr>
            <a:r>
              <a:t>🔍 Block → ES aicm_blocks 인덱싱</a:t>
            </a:r>
          </a:p>
          <a:p>
            <a:pPr>
              <a:spcAft>
                <a:spcPts val="200"/>
              </a:spcAft>
              <a:defRPr sz="900">
                <a:solidFill>
                  <a:srgbClr val="1A1A2E"/>
                </a:solidFill>
                <a:latin typeface="맑은 고딕"/>
              </a:defRPr>
            </a:pPr>
            <a:r>
              <a:t>    block_text (nori 분석기)</a:t>
            </a:r>
          </a:p>
          <a:p>
            <a:pPr>
              <a:spcAft>
                <a:spcPts val="200"/>
              </a:spcAft>
              <a:defRPr sz="900">
                <a:solidFill>
                  <a:srgbClr val="1A1A2E"/>
                </a:solidFill>
                <a:latin typeface="맑은 고딕"/>
              </a:defRPr>
            </a:pPr>
            <a:r>
              <a:t>    block_caption (nori 분석기)</a:t>
            </a:r>
          </a:p>
          <a:p>
            <a:pPr>
              <a:spcAft>
                <a:spcPts val="200"/>
              </a:spcAft>
              <a:defRPr sz="900">
                <a:solidFill>
                  <a:srgbClr val="1A1A2E"/>
                </a:solidFill>
                <a:latin typeface="맑은 고딕"/>
              </a:defRPr>
            </a:pPr>
            <a:r>
              <a:t>    → 키워드 검색 즉시 가능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77639"/>
            <a:ext cx="2286000" cy="822960"/>
          </a:xfrm>
          <a:prstGeom prst="roundRect">
            <a:avLst/>
          </a:prstGeom>
          <a:solidFill>
            <a:srgbClr val="C03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Milvus 벡터 임베딩</a:t>
            </a:r>
          </a:p>
          <a:p>
            <a:pPr algn="ctr">
              <a:defRPr sz="900">
                <a:solidFill>
                  <a:srgbClr val="FFFFFF"/>
                </a:solidFill>
                <a:latin typeface="맑은 고딕"/>
              </a:defRPr>
            </a:pPr>
            <a:r>
              <a:t>aicm_chunks 컬렉션</a:t>
            </a:r>
            <a:br/>
            <a:r>
              <a:t>ft:search.rag=true일 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3977639"/>
            <a:ext cx="3200400" cy="822960"/>
          </a:xfrm>
          <a:prstGeom prst="roundRect">
            <a:avLst/>
          </a:prstGeom>
          <a:solidFill>
            <a:srgbClr val="FFF9E6"/>
          </a:solidFill>
          <a:ln w="12700">
            <a:solidFill>
              <a:srgbClr val="DDDD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900">
                <a:solidFill>
                  <a:srgbClr val="1A1A2E"/>
                </a:solidFill>
                <a:latin typeface="맑은 고딕"/>
              </a:defRPr>
            </a:pPr>
            <a:r>
              <a:t>🧠 Block → 청킹 → 임베딩 → Milvus 저장</a:t>
            </a:r>
          </a:p>
          <a:p>
            <a:pPr>
              <a:spcAft>
                <a:spcPts val="200"/>
              </a:spcAft>
              <a:defRPr sz="900">
                <a:solidFill>
                  <a:srgbClr val="1A1A2E"/>
                </a:solidFill>
                <a:latin typeface="맑은 고딕"/>
              </a:defRPr>
            </a:pPr>
            <a:r>
              <a:t>    text: content_text 임베딩</a:t>
            </a:r>
          </a:p>
          <a:p>
            <a:pPr>
              <a:spcAft>
                <a:spcPts val="200"/>
              </a:spcAft>
              <a:defRPr sz="900">
                <a:solidFill>
                  <a:srgbClr val="1A1A2E"/>
                </a:solidFill>
                <a:latin typeface="맑은 고딕"/>
              </a:defRPr>
            </a:pPr>
            <a:r>
              <a:t>    image/table: caption 임베딩</a:t>
            </a:r>
          </a:p>
          <a:p>
            <a:pPr>
              <a:spcAft>
                <a:spcPts val="200"/>
              </a:spcAft>
              <a:defRPr sz="900">
                <a:solidFill>
                  <a:srgbClr val="1A1A2E"/>
                </a:solidFill>
                <a:latin typeface="맑은 고딕"/>
              </a:defRPr>
            </a:pPr>
            <a:r>
              <a:t>    → 시맨틱/하이브리드 검색 가능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029200"/>
            <a:ext cx="2286000" cy="640080"/>
          </a:xfrm>
          <a:prstGeom prst="round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AI 자동 요약</a:t>
            </a:r>
          </a:p>
          <a:p>
            <a:pPr algn="ctr">
              <a:defRPr sz="900">
                <a:solidFill>
                  <a:srgbClr val="FFFFFF"/>
                </a:solidFill>
                <a:latin typeface="맑은 고딕"/>
              </a:defRPr>
            </a:pPr>
            <a:r>
              <a:t>ft:ai.summary=true일 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5029200"/>
            <a:ext cx="3200400" cy="640080"/>
          </a:xfrm>
          <a:prstGeom prst="roundRect">
            <a:avLst/>
          </a:prstGeom>
          <a:solidFill>
            <a:srgbClr val="FFF9E6"/>
          </a:solidFill>
          <a:ln w="12700">
            <a:solidFill>
              <a:srgbClr val="DDDD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900">
                <a:solidFill>
                  <a:srgbClr val="1A1A2E"/>
                </a:solidFill>
                <a:latin typeface="맑은 고딕"/>
              </a:defRPr>
            </a:pPr>
            <a:r>
              <a:t>✨ LLM으로 문서 요약 자동 생성</a:t>
            </a:r>
          </a:p>
          <a:p>
            <a:pPr>
              <a:spcAft>
                <a:spcPts val="200"/>
              </a:spcAft>
              <a:defRPr sz="900">
                <a:solidFill>
                  <a:srgbClr val="1A1A2E"/>
                </a:solidFill>
                <a:latin typeface="맑은 고딕"/>
              </a:defRPr>
            </a:pPr>
            <a:r>
              <a:t>    Document.summary에 저장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2926080"/>
            <a:ext cx="4572000" cy="3200400"/>
          </a:xfrm>
          <a:prstGeom prst="roundRect">
            <a:avLst/>
          </a:prstGeom>
          <a:solidFill>
            <a:srgbClr val="FEF7EB"/>
          </a:solidFill>
          <a:ln w="12700">
            <a:solidFill>
              <a:srgbClr val="DDDD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📋 핵심 포인트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1. 승인 요청 시점에 DocumentVersion 생성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   → 블록 전체를 BlockSnapshot으로 스냅샷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2. 승인 완료 시 published_version_id 갱신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   → 열람자는 확정된 버전을 조회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3. ES 인덱싱은 항상 실행 (키워드 검색)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4. Milvus 임베딩은 피처 게이트 조건부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   → ft:search.rag = false면 skipped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5. 큐 enqueue는 트랜잭션 커밋 이후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   → 상태 전이와 큐를 분리하여 안전성 보장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88"/>
                </a:solidFill>
                <a:latin typeface="맑은 고딕"/>
              </a:defRPr>
            </a:pPr>
            <a: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03  자유 모드 — 직접 발행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BBDD"/>
                </a:solidFill>
                <a:latin typeface="맑은 고딕"/>
              </a:defRPr>
            </a:pPr>
            <a:r>
              <a:t>승인 없이 즉시 게시, DocumentVersion 미생성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011680" cy="73152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문서 생성</a:t>
            </a:r>
            <a:br/>
            <a:r>
              <a:t>+ 블록 편집</a:t>
            </a:r>
          </a:p>
          <a:p>
            <a:pPr algn="ctr">
              <a:defRPr sz="900">
                <a:solidFill>
                  <a:srgbClr val="FFFFFF"/>
                </a:solidFill>
                <a:latin typeface="맑은 고딕"/>
              </a:defRPr>
            </a:pPr>
            <a:r>
              <a:t>draft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743200" y="1810512"/>
            <a:ext cx="1371600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0" y="14813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88"/>
                </a:solidFill>
                <a:latin typeface="맑은 고딕"/>
              </a:defRPr>
            </a:pPr>
            <a:r>
              <a:rPr dirty="0" err="1"/>
              <a:t>발행</a:t>
            </a:r>
            <a:r>
              <a:rPr dirty="0"/>
              <a:t> </a:t>
            </a:r>
            <a:r>
              <a:rPr dirty="0" err="1"/>
              <a:t>클릭</a:t>
            </a:r>
            <a:br>
              <a:rPr dirty="0"/>
            </a:br>
            <a:r>
              <a:rPr dirty="0"/>
              <a:t>(</a:t>
            </a:r>
            <a:r>
              <a:rPr dirty="0" err="1"/>
              <a:t>승인</a:t>
            </a:r>
            <a:r>
              <a:rPr dirty="0"/>
              <a:t> </a:t>
            </a:r>
            <a:r>
              <a:rPr dirty="0" err="1"/>
              <a:t>없음</a:t>
            </a:r>
            <a:r>
              <a:rPr dirty="0"/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554480"/>
            <a:ext cx="2011680" cy="73152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즉시 발행</a:t>
            </a:r>
          </a:p>
          <a:p>
            <a:pPr algn="ctr">
              <a:defRPr sz="1000">
                <a:solidFill>
                  <a:srgbClr val="FFFFFF"/>
                </a:solidFill>
                <a:latin typeface="맑은 고딕"/>
              </a:defRPr>
            </a:pPr>
            <a:r>
              <a:t>published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126480" y="1810512"/>
            <a:ext cx="731519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0" y="1371600"/>
            <a:ext cx="2286000" cy="548640"/>
          </a:xfrm>
          <a:prstGeom prst="round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ES 인덱싱 ✅</a:t>
            </a:r>
          </a:p>
          <a:p>
            <a:pPr algn="ctr">
              <a:defRPr sz="900">
                <a:solidFill>
                  <a:srgbClr val="FFFFFF"/>
                </a:solidFill>
                <a:latin typeface="맑은 고딕"/>
              </a:defRPr>
            </a:pPr>
            <a:r>
              <a:t>키워드 검색 대상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2103120"/>
            <a:ext cx="2286000" cy="548640"/>
          </a:xfrm>
          <a:prstGeom prst="roundRect">
            <a:avLst/>
          </a:prstGeom>
          <a:solidFill>
            <a:srgbClr val="C03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Milvus 임베딩 ⚡</a:t>
            </a:r>
          </a:p>
          <a:p>
            <a:pPr algn="ctr">
              <a:defRPr sz="800">
                <a:solidFill>
                  <a:srgbClr val="FFFFFF"/>
                </a:solidFill>
                <a:latin typeface="맑은 고딕"/>
              </a:defRPr>
            </a:pPr>
            <a:r>
              <a:t>ft:search.rag=true일 때만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맑은 고딕"/>
              </a:defRPr>
            </a:pPr>
            <a:r>
              <a:t>관리 모드 vs 자유 모드 비교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31520" y="3383280"/>
          <a:ext cx="105156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관리 모드 게시판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자유 모드 게시판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승인 워크플로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✅ 필수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❌ 없음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DocumentVersion 생성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✅ 생성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❌ 미생성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BlockSnapshot 생성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✅ 생성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❌ 미생성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ES 키워드 인덱싱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✅ 실행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✅ 실행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Milvus 벡터 임베딩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⚡ 조건부 (ft:search.rag)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⚡ 조건부 (ft:search.rag)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AI 자동 요약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⚡ 조건부 (ft:ai.summary)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⚡ 조건부 (ft:ai.summary)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시맨틱 검색 대상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✅ (임베딩 시)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✅ (임베딩 시)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유효기간 관리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✅ 가능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❌ 일반적 미사용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수정 시 새 버전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✅ 새 버전 Draft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❌ Block 직접 덮어쓰기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88"/>
                </a:solidFill>
                <a:latin typeface="맑은 고딕"/>
              </a:defRPr>
            </a:pPr>
            <a: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04  발행 후 수정 → 재발행 (v2)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BBDD"/>
                </a:solidFill>
                <a:latin typeface="맑은 고딕"/>
              </a:defRPr>
            </a:pPr>
            <a:r>
              <a:t>기존 게시본 유지 + 변경 블록만 차분 재임베딩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645920" cy="6400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Published</a:t>
            </a:r>
            <a:br/>
            <a:r>
              <a:t>(v1 게시 중)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03120" y="1581912"/>
            <a:ext cx="640080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03120" y="13716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8"/>
                </a:solidFill>
                <a:latin typeface="맑은 고딕"/>
              </a:defRPr>
            </a:pPr>
            <a:r>
              <a:t>수정 클릭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371600"/>
            <a:ext cx="1645920" cy="6400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Draft</a:t>
            </a:r>
            <a:br/>
            <a:r>
              <a:t>(Block 수정)</a:t>
            </a:r>
          </a:p>
          <a:p>
            <a:pPr algn="ctr">
              <a:defRPr sz="800">
                <a:solidFill>
                  <a:srgbClr val="FFFFFF"/>
                </a:solidFill>
                <a:latin typeface="맑은 고딕"/>
              </a:defRPr>
            </a:pPr>
            <a:r>
              <a:t>v1 계속 노출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389120" y="1581912"/>
            <a:ext cx="640080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13716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8"/>
                </a:solidFill>
                <a:latin typeface="맑은 고딕"/>
              </a:defRPr>
            </a:pPr>
            <a:r>
              <a:t>승인 요청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371600"/>
            <a:ext cx="1828800" cy="640080"/>
          </a:xfrm>
          <a:prstGeom prst="roundRect">
            <a:avLst/>
          </a:prstGeom>
          <a:solidFill>
            <a:srgbClr val="00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v2 생성</a:t>
            </a:r>
            <a:br/>
            <a:r>
              <a:t>BlockSnapshot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858000" y="1581912"/>
            <a:ext cx="548639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0" y="1371600"/>
            <a:ext cx="548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8"/>
                </a:solidFill>
                <a:latin typeface="맑은 고딕"/>
              </a:defRPr>
            </a:pPr>
            <a:r>
              <a:t>승인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371600"/>
            <a:ext cx="1645920" cy="64008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검토 대기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052560" y="1581912"/>
            <a:ext cx="548639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31043" y="1359890"/>
            <a:ext cx="640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8"/>
                </a:solidFill>
                <a:latin typeface="맑은 고딕"/>
              </a:defRPr>
            </a:pPr>
            <a:r>
              <a:t>최종 승인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1371600"/>
            <a:ext cx="1828800" cy="6400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Published</a:t>
            </a:r>
            <a:br/>
            <a:r>
              <a:t>(v2 게시)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맑은 고딕"/>
              </a:defRPr>
            </a:pPr>
            <a:r>
              <a:t>▼ v2 발행 시: v1 ↔ v2 BlockSnapshot 비교 → 변경 블록만 재임베딩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108960"/>
            <a:ext cx="2103120" cy="777240"/>
          </a:xfrm>
          <a:prstGeom prst="roundRect">
            <a:avLst/>
          </a:prstGeom>
          <a:solidFill>
            <a:srgbClr val="00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v1 BlockSnapshot</a:t>
            </a:r>
            <a:br/>
            <a:r>
              <a:t>vs</a:t>
            </a:r>
            <a:br/>
            <a:r>
              <a:t>v2 BlockSnapshot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7520" y="3108960"/>
            <a:ext cx="2103120" cy="777240"/>
          </a:xfrm>
          <a:prstGeom prst="round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변경 블록 감지</a:t>
            </a:r>
            <a:br/>
            <a:r>
              <a:t>(content_hash</a:t>
            </a:r>
            <a:br/>
            <a:r>
              <a:t>/ caption 비교)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77840" y="3108960"/>
            <a:ext cx="1828800" cy="777240"/>
          </a:xfrm>
          <a:prstGeom prst="round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변경된 블록만</a:t>
            </a:r>
            <a:br/>
            <a:r>
              <a:t>재청킹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3108960"/>
            <a:ext cx="1828800" cy="777240"/>
          </a:xfrm>
          <a:prstGeom prst="roundRect">
            <a:avLst/>
          </a:prstGeom>
          <a:solidFill>
            <a:srgbClr val="C03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재임베딩</a:t>
            </a:r>
            <a:br/>
            <a:r>
              <a:t>(Milvus 교체)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66960" y="3108960"/>
            <a:ext cx="1645920" cy="777240"/>
          </a:xfrm>
          <a:prstGeom prst="round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ES 재인덱싱</a:t>
            </a:r>
            <a:br/>
            <a:r>
              <a:t>(전체)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560320" y="3383279"/>
            <a:ext cx="457200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ight Arrow 24"/>
          <p:cNvSpPr/>
          <p:nvPr/>
        </p:nvSpPr>
        <p:spPr>
          <a:xfrm>
            <a:off x="5120640" y="3383279"/>
            <a:ext cx="457200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ight Arrow 25"/>
          <p:cNvSpPr/>
          <p:nvPr/>
        </p:nvSpPr>
        <p:spPr>
          <a:xfrm>
            <a:off x="7406640" y="3383279"/>
            <a:ext cx="457200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ight Arrow 26"/>
          <p:cNvSpPr/>
          <p:nvPr/>
        </p:nvSpPr>
        <p:spPr>
          <a:xfrm>
            <a:off x="9692640" y="3383279"/>
            <a:ext cx="274320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206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맑은 고딕"/>
              </a:defRPr>
            </a:pPr>
            <a:r>
              <a:t>블록 변경 유형별 처리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457200" y="4617720"/>
          <a:ext cx="112471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044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변경 유형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판단 기준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재임베딩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445"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added (새 블록)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v1에 없는 block_id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✅ 수행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새로 추가된 블록 → 청킹+임베딩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445"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modified (텍스트 변경)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content_hash 변경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✅ 수행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text 블록 내용 수정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445"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caption_modified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caption 텍스트 변경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✅ 수행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image/table 설명 변경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445"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content_changed_caption_stale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원본 변경, caption 동일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❌ 스킵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caption 동일→동일 벡터 (경고만)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445"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unchanged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hash/caption 동일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❌ 스킵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변경 없음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450"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deleted (삭제)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v2에 없는 block_id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🗑️ 벡터 삭제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블록 삭제 → 청크/벡터 제거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88"/>
                </a:solidFill>
                <a:latin typeface="맑은 고딕"/>
              </a:defRPr>
            </a:pPr>
            <a: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05  예약 배포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BBDD"/>
                </a:solidFill>
                <a:latin typeface="맑은 고딕"/>
              </a:defRPr>
            </a:pPr>
            <a:r>
              <a:t>승인 완료 후 지정 시점까지 발행 보류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645920" cy="6400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Draft</a:t>
            </a:r>
            <a:br/>
            <a:r>
              <a:t>작성 완료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03120" y="1764791"/>
            <a:ext cx="640080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03120" y="133410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8"/>
                </a:solidFill>
                <a:latin typeface="맑은 고딕"/>
              </a:defRPr>
            </a:pPr>
            <a:r>
              <a:rPr dirty="0" err="1"/>
              <a:t>승인</a:t>
            </a:r>
            <a:r>
              <a:rPr dirty="0"/>
              <a:t> </a:t>
            </a:r>
            <a:r>
              <a:rPr dirty="0" err="1"/>
              <a:t>요청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2743200" y="1554480"/>
            <a:ext cx="1828800" cy="64008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PendingReview</a:t>
            </a:r>
            <a:br/>
            <a:r>
              <a:t>검토 대기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572000" y="1764791"/>
            <a:ext cx="640080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1215273"/>
            <a:ext cx="1188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8"/>
                </a:solidFill>
                <a:latin typeface="맑은 고딕"/>
              </a:defRPr>
            </a:pPr>
            <a:r>
              <a:rPr dirty="0" err="1"/>
              <a:t>승인</a:t>
            </a:r>
            <a:r>
              <a:rPr dirty="0"/>
              <a:t> +</a:t>
            </a:r>
            <a:br>
              <a:rPr dirty="0"/>
            </a:br>
            <a:r>
              <a:rPr dirty="0" err="1"/>
              <a:t>예약</a:t>
            </a:r>
            <a:r>
              <a:rPr dirty="0"/>
              <a:t> </a:t>
            </a:r>
            <a:r>
              <a:rPr dirty="0" err="1"/>
              <a:t>시간</a:t>
            </a:r>
            <a:r>
              <a:rPr dirty="0"/>
              <a:t> </a:t>
            </a:r>
            <a:r>
              <a:rPr dirty="0" err="1"/>
              <a:t>지정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5212080" y="1554480"/>
            <a:ext cx="2194560" cy="640080"/>
          </a:xfrm>
          <a:prstGeom prst="round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ApprovedScheduled</a:t>
            </a:r>
            <a:br/>
            <a:r>
              <a:t>예약 게시 승인됨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406640" y="1764791"/>
            <a:ext cx="822960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0" y="1264024"/>
            <a:ext cx="9520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8"/>
                </a:solidFill>
                <a:latin typeface="맑은 고딕"/>
              </a:defRPr>
            </a:pPr>
            <a:r>
              <a:rPr dirty="0" err="1"/>
              <a:t>예약</a:t>
            </a:r>
            <a:r>
              <a:rPr dirty="0"/>
              <a:t> </a:t>
            </a:r>
            <a:r>
              <a:rPr dirty="0" err="1"/>
              <a:t>시점</a:t>
            </a:r>
            <a:r>
              <a:rPr dirty="0"/>
              <a:t> </a:t>
            </a:r>
            <a:r>
              <a:rPr dirty="0" err="1"/>
              <a:t>도래</a:t>
            </a:r>
            <a:br>
              <a:rPr dirty="0"/>
            </a:br>
            <a:r>
              <a:rPr dirty="0"/>
              <a:t>(</a:t>
            </a:r>
            <a:r>
              <a:rPr dirty="0" err="1"/>
              <a:t>BullMQ</a:t>
            </a:r>
            <a:r>
              <a:rPr dirty="0"/>
              <a:t>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54480"/>
            <a:ext cx="1645920" cy="6400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Published</a:t>
            </a:r>
            <a:br/>
            <a:r>
              <a:t>게시됨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743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맑은 고딕"/>
              </a:defRPr>
            </a:pPr>
            <a:r>
              <a:t>▼ 예약 취소 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00400"/>
            <a:ext cx="2194560" cy="640080"/>
          </a:xfrm>
          <a:prstGeom prst="round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ApprovedScheduled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926080" y="3410712"/>
            <a:ext cx="1188719" cy="219456"/>
          </a:xfrm>
          <a:prstGeom prst="rightArrow">
            <a:avLst/>
          </a:prstGeom>
          <a:solidFill>
            <a:srgbClr val="FF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26080" y="3200400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88"/>
                </a:solidFill>
                <a:latin typeface="맑은 고딕"/>
              </a:defRPr>
            </a:pPr>
            <a:r>
              <a:t>예약 취소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0" y="3200400"/>
            <a:ext cx="1645920" cy="6400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Draft</a:t>
            </a:r>
            <a:br/>
            <a:r>
              <a:t>재편집 가능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017520"/>
            <a:ext cx="5303520" cy="1234440"/>
          </a:xfrm>
          <a:prstGeom prst="roundRect">
            <a:avLst/>
          </a:prstGeom>
          <a:solidFill>
            <a:srgbClr val="FFF9E6"/>
          </a:solidFill>
          <a:ln w="12700">
            <a:solidFill>
              <a:srgbClr val="DDDD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rPr dirty="0"/>
              <a:t>⏰ </a:t>
            </a:r>
            <a:r>
              <a:rPr dirty="0" err="1"/>
              <a:t>예약</a:t>
            </a:r>
            <a:r>
              <a:rPr dirty="0"/>
              <a:t> </a:t>
            </a:r>
            <a:r>
              <a:rPr dirty="0" err="1"/>
              <a:t>배포</a:t>
            </a:r>
            <a:r>
              <a:rPr dirty="0"/>
              <a:t> </a:t>
            </a:r>
            <a:r>
              <a:rPr dirty="0" err="1"/>
              <a:t>메커니즘</a:t>
            </a:r>
            <a:endParaRPr dirty="0"/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rPr dirty="0"/>
              <a:t>    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rPr dirty="0"/>
              <a:t>    • </a:t>
            </a:r>
            <a:r>
              <a:rPr dirty="0" err="1"/>
              <a:t>Approval.scheduled_at에</a:t>
            </a:r>
            <a:r>
              <a:rPr dirty="0"/>
              <a:t> </a:t>
            </a:r>
            <a:r>
              <a:rPr dirty="0" err="1"/>
              <a:t>예약</a:t>
            </a:r>
            <a:r>
              <a:rPr dirty="0"/>
              <a:t> </a:t>
            </a:r>
            <a:r>
              <a:rPr dirty="0" err="1"/>
              <a:t>시간</a:t>
            </a:r>
            <a:r>
              <a:rPr dirty="0"/>
              <a:t> </a:t>
            </a:r>
            <a:r>
              <a:rPr dirty="0" err="1"/>
              <a:t>저장</a:t>
            </a:r>
            <a:endParaRPr dirty="0"/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rPr dirty="0"/>
              <a:t>    • </a:t>
            </a:r>
            <a:r>
              <a:rPr dirty="0" err="1"/>
              <a:t>BullMQ</a:t>
            </a:r>
            <a:r>
              <a:rPr dirty="0"/>
              <a:t> delayed </a:t>
            </a:r>
            <a:r>
              <a:rPr dirty="0" err="1"/>
              <a:t>job으로</a:t>
            </a:r>
            <a:r>
              <a:rPr dirty="0"/>
              <a:t> </a:t>
            </a:r>
            <a:r>
              <a:rPr dirty="0" err="1"/>
              <a:t>예약</a:t>
            </a:r>
            <a:r>
              <a:rPr dirty="0"/>
              <a:t> </a:t>
            </a:r>
            <a:r>
              <a:rPr dirty="0" err="1"/>
              <a:t>발행</a:t>
            </a:r>
            <a:r>
              <a:rPr dirty="0"/>
              <a:t> </a:t>
            </a:r>
            <a:r>
              <a:rPr dirty="0" err="1"/>
              <a:t>등록</a:t>
            </a:r>
            <a:endParaRPr dirty="0"/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rPr dirty="0"/>
              <a:t>    • </a:t>
            </a:r>
            <a:r>
              <a:rPr dirty="0" err="1"/>
              <a:t>취소</a:t>
            </a:r>
            <a:r>
              <a:rPr dirty="0"/>
              <a:t> 시 </a:t>
            </a:r>
            <a:r>
              <a:rPr dirty="0" err="1"/>
              <a:t>bull_job_id로</a:t>
            </a:r>
            <a:r>
              <a:rPr dirty="0"/>
              <a:t> job </a:t>
            </a:r>
            <a:r>
              <a:rPr dirty="0" err="1"/>
              <a:t>제거</a:t>
            </a:r>
            <a:r>
              <a:rPr dirty="0"/>
              <a:t> + draft </a:t>
            </a:r>
            <a:r>
              <a:rPr dirty="0" err="1"/>
              <a:t>복귀</a:t>
            </a:r>
            <a:endParaRPr dirty="0"/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rPr dirty="0"/>
              <a:t>    • </a:t>
            </a:r>
            <a:r>
              <a:rPr dirty="0" err="1"/>
              <a:t>예약</a:t>
            </a:r>
            <a:r>
              <a:rPr dirty="0"/>
              <a:t> </a:t>
            </a:r>
            <a:r>
              <a:rPr dirty="0" err="1"/>
              <a:t>대기</a:t>
            </a:r>
            <a:r>
              <a:rPr dirty="0"/>
              <a:t> </a:t>
            </a:r>
            <a:r>
              <a:rPr dirty="0" err="1"/>
              <a:t>중에는</a:t>
            </a:r>
            <a:r>
              <a:rPr dirty="0"/>
              <a:t> </a:t>
            </a:r>
            <a:r>
              <a:rPr dirty="0" err="1"/>
              <a:t>검색</a:t>
            </a:r>
            <a:r>
              <a:rPr dirty="0"/>
              <a:t>/RAG </a:t>
            </a:r>
            <a:r>
              <a:rPr dirty="0" err="1"/>
              <a:t>대상</a:t>
            </a:r>
            <a:r>
              <a:rPr dirty="0"/>
              <a:t> </a:t>
            </a:r>
            <a:r>
              <a:rPr dirty="0" err="1"/>
              <a:t>아님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457200" y="4389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맑은 고딕"/>
              </a:defRPr>
            </a:pPr>
            <a:r>
              <a:t>▼ 예약 시점 도래 → Published 전이 시 파이프라인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846320"/>
            <a:ext cx="5029200" cy="91440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BBC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1A2E"/>
                </a:solidFill>
                <a:latin typeface="맑은 고딕"/>
              </a:defRPr>
            </a:pPr>
            <a:r>
              <a:t>📦 발행 시 처리</a:t>
            </a:r>
          </a:p>
          <a:p>
            <a:pPr>
              <a:defRPr sz="1000" b="1">
                <a:solidFill>
                  <a:srgbClr val="00B0F0"/>
                </a:solidFill>
                <a:latin typeface="맑은 고딕"/>
              </a:defRPr>
            </a:pPr>
            <a:r>
              <a:t>🔍 ES aicm_blocks 인덱싱 (항상)</a:t>
            </a:r>
          </a:p>
          <a:p>
            <a:pPr>
              <a:defRPr sz="1000" b="1">
                <a:solidFill>
                  <a:srgbClr val="C0399F"/>
                </a:solidFill>
                <a:latin typeface="맑은 고딕"/>
              </a:defRPr>
            </a:pPr>
            <a:r>
              <a:t>🧠 Milvus 벡터 임베딩 (ft:search.rag=true)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846320"/>
            <a:ext cx="5303520" cy="914400"/>
          </a:xfrm>
          <a:prstGeom prst="roundRect">
            <a:avLst/>
          </a:prstGeom>
          <a:solidFill>
            <a:srgbClr val="FFF9E6"/>
          </a:solidFill>
          <a:ln w="12700">
            <a:solidFill>
              <a:srgbClr val="DDDD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📦 예약 발행도 일반 발행과 동일한 파이프라인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→ BR-DOC-006과 동일한 처리 수행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→ 트랜잭션 커밋 후 큐 enqueue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88"/>
                </a:solidFill>
                <a:latin typeface="맑은 고딕"/>
              </a:defRPr>
            </a:pPr>
            <a: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06  반려 / 철회 → 재작성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BBDD"/>
                </a:solidFill>
                <a:latin typeface="맑은 고딕"/>
              </a:defRPr>
            </a:pPr>
            <a:r>
              <a:t>반려된 버전도 이력으로 영구 보존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040"/>
                </a:solidFill>
                <a:latin typeface="맑은 고딕"/>
              </a:defRPr>
            </a:pPr>
            <a:r>
              <a:t>시나리오 A: 승인 반려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1645920" cy="6400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Draft</a:t>
            </a:r>
            <a:br/>
            <a:r>
              <a:t>작성 완료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03120" y="1764791"/>
            <a:ext cx="822960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03120" y="155447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8"/>
                </a:solidFill>
                <a:latin typeface="맑은 고딕"/>
              </a:defRPr>
            </a:pPr>
            <a:r>
              <a:t>승인 요청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554480"/>
            <a:ext cx="1828800" cy="64008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PendingReview</a:t>
            </a:r>
            <a:br/>
            <a:r>
              <a:t>(v1 submitted)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754880" y="1764791"/>
            <a:ext cx="731519" cy="219456"/>
          </a:xfrm>
          <a:prstGeom prst="rightArrow">
            <a:avLst/>
          </a:prstGeom>
          <a:solidFill>
            <a:srgbClr val="FF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1554479"/>
            <a:ext cx="731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88"/>
                </a:solidFill>
                <a:latin typeface="맑은 고딕"/>
              </a:defRPr>
            </a:pPr>
            <a:r>
              <a:t>반려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1554480"/>
            <a:ext cx="1645920" cy="6400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Draft</a:t>
            </a:r>
            <a:br/>
            <a:r>
              <a:t>수정 필요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132320" y="1764791"/>
            <a:ext cx="640080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1" y="1321194"/>
            <a:ext cx="8229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8"/>
                </a:solidFill>
                <a:latin typeface="맑은 고딕"/>
              </a:defRPr>
            </a:pPr>
            <a:r>
              <a:rPr dirty="0" err="1"/>
              <a:t>수정</a:t>
            </a:r>
            <a:r>
              <a:rPr dirty="0"/>
              <a:t> 후</a:t>
            </a:r>
            <a:br>
              <a:rPr dirty="0"/>
            </a:br>
            <a:r>
              <a:rPr dirty="0" err="1"/>
              <a:t>재승인</a:t>
            </a:r>
            <a:r>
              <a:rPr dirty="0"/>
              <a:t> </a:t>
            </a:r>
            <a:r>
              <a:rPr dirty="0" err="1"/>
              <a:t>요청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7772400" y="1554480"/>
            <a:ext cx="1828800" cy="64008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PendingReview</a:t>
            </a:r>
            <a:br/>
            <a:r>
              <a:t>(v2 submitted)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601200" y="1764791"/>
            <a:ext cx="640079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0" y="1554479"/>
            <a:ext cx="640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8"/>
                </a:solidFill>
                <a:latin typeface="맑은 고딕"/>
              </a:defRPr>
            </a:pPr>
            <a:r>
              <a:t>승인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0" y="1554480"/>
            <a:ext cx="1371600" cy="6400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Published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651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맑은 고딕"/>
              </a:defRPr>
            </a:pPr>
            <a:r>
              <a:t>시나리오 B: 작성자 철회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926080"/>
            <a:ext cx="1645920" cy="6400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Draft</a:t>
            </a:r>
            <a:br/>
            <a:r>
              <a:t>작성 완료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103120" y="3136392"/>
            <a:ext cx="822960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103120" y="29260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8"/>
                </a:solidFill>
                <a:latin typeface="맑은 고딕"/>
              </a:defRPr>
            </a:pPr>
            <a:r>
              <a:t>승인 요청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26080" y="2926080"/>
            <a:ext cx="1828800" cy="64008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PendingReview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754880" y="3136392"/>
            <a:ext cx="731519" cy="219456"/>
          </a:xfrm>
          <a:prstGeom prst="rightArrow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09159" y="2671272"/>
            <a:ext cx="8229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88"/>
                </a:solidFill>
                <a:latin typeface="맑은 고딕"/>
              </a:defRPr>
            </a:pPr>
            <a:r>
              <a:rPr dirty="0" err="1"/>
              <a:t>작성자</a:t>
            </a:r>
            <a:r>
              <a:rPr dirty="0"/>
              <a:t> </a:t>
            </a:r>
            <a:r>
              <a:rPr dirty="0" err="1"/>
              <a:t>철회</a:t>
            </a:r>
            <a:endParaRPr dirty="0"/>
          </a:p>
        </p:txBody>
      </p:sp>
      <p:sp>
        <p:nvSpPr>
          <p:cNvPr id="26" name="Rounded Rectangle 25"/>
          <p:cNvSpPr/>
          <p:nvPr/>
        </p:nvSpPr>
        <p:spPr>
          <a:xfrm>
            <a:off x="5486400" y="2926080"/>
            <a:ext cx="1645920" cy="6400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Draft</a:t>
            </a:r>
            <a:br/>
            <a:r>
              <a:t>재편집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206240"/>
            <a:ext cx="5486400" cy="2286000"/>
          </a:xfrm>
          <a:prstGeom prst="roundRect">
            <a:avLst/>
          </a:prstGeom>
          <a:solidFill>
            <a:srgbClr val="FEF7EB"/>
          </a:solidFill>
          <a:ln w="12700">
            <a:solidFill>
              <a:srgbClr val="DDDD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📋 버전 이력 보존 원칙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• 반려된 DocumentVersion도 절대 삭제하지 않음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  → v1(rejected), v2(published) 모두 보관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• 반려 사유는 rejection_reason에 기록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  → 이전 제출본과 비교 가능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• 철회 시 rejection_reason = '작성자 철회'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• 반려/철회 시 임베딩/인덱싱 처리 없음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  → 미발행 상태이므로 파이프라인 미실행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206240"/>
            <a:ext cx="5303520" cy="228600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DDDD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rPr dirty="0"/>
              <a:t>📊 </a:t>
            </a:r>
            <a:r>
              <a:rPr dirty="0" err="1"/>
              <a:t>DocumentVersion</a:t>
            </a:r>
            <a:r>
              <a:rPr dirty="0"/>
              <a:t> </a:t>
            </a:r>
            <a:r>
              <a:rPr dirty="0" err="1"/>
              <a:t>이력</a:t>
            </a:r>
            <a:r>
              <a:rPr dirty="0"/>
              <a:t> </a:t>
            </a:r>
            <a:r>
              <a:rPr dirty="0" err="1"/>
              <a:t>예시</a:t>
            </a:r>
            <a:endParaRPr dirty="0"/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rPr dirty="0"/>
              <a:t>    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rPr dirty="0"/>
              <a:t>    v1  submitted → rejected  (</a:t>
            </a:r>
            <a:r>
              <a:rPr dirty="0" err="1"/>
              <a:t>반려됨</a:t>
            </a:r>
            <a:r>
              <a:rPr dirty="0"/>
              <a:t>)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rPr dirty="0"/>
              <a:t>        </a:t>
            </a:r>
            <a:r>
              <a:rPr dirty="0" err="1"/>
              <a:t>rejection_reason</a:t>
            </a:r>
            <a:r>
              <a:rPr dirty="0"/>
              <a:t>: '</a:t>
            </a:r>
            <a:r>
              <a:rPr dirty="0" err="1"/>
              <a:t>수치</a:t>
            </a:r>
            <a:r>
              <a:rPr dirty="0"/>
              <a:t> </a:t>
            </a:r>
            <a:r>
              <a:rPr dirty="0" err="1"/>
              <a:t>오류</a:t>
            </a:r>
            <a:r>
              <a:rPr dirty="0"/>
              <a:t>'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rPr dirty="0"/>
              <a:t>    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rPr dirty="0"/>
              <a:t>    v2  submitted → published  (</a:t>
            </a:r>
            <a:r>
              <a:rPr dirty="0" err="1"/>
              <a:t>승인됨</a:t>
            </a:r>
            <a:r>
              <a:rPr dirty="0"/>
              <a:t>)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rPr dirty="0"/>
              <a:t>        → 이 </a:t>
            </a:r>
            <a:r>
              <a:rPr dirty="0" err="1"/>
              <a:t>시점에</a:t>
            </a:r>
            <a:r>
              <a:rPr dirty="0"/>
              <a:t> </a:t>
            </a:r>
            <a:r>
              <a:rPr dirty="0" err="1"/>
              <a:t>임베딩</a:t>
            </a:r>
            <a:r>
              <a:rPr dirty="0"/>
              <a:t>/</a:t>
            </a:r>
            <a:r>
              <a:rPr dirty="0" err="1"/>
              <a:t>인덱싱</a:t>
            </a:r>
            <a:r>
              <a:rPr dirty="0"/>
              <a:t> </a:t>
            </a:r>
            <a:r>
              <a:rPr dirty="0" err="1"/>
              <a:t>실행</a:t>
            </a:r>
            <a:endParaRPr dirty="0"/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rPr dirty="0"/>
              <a:t>    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rPr dirty="0"/>
              <a:t>    v3  submitted → rejected  (2차 </a:t>
            </a:r>
            <a:r>
              <a:rPr dirty="0" err="1"/>
              <a:t>수정</a:t>
            </a:r>
            <a:r>
              <a:rPr dirty="0"/>
              <a:t> </a:t>
            </a:r>
            <a:r>
              <a:rPr dirty="0" err="1"/>
              <a:t>반려</a:t>
            </a:r>
            <a:r>
              <a:rPr dirty="0"/>
              <a:t>)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rPr dirty="0"/>
              <a:t>    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rPr dirty="0"/>
              <a:t>    v4  submitted → published  (</a:t>
            </a:r>
            <a:r>
              <a:rPr dirty="0" err="1"/>
              <a:t>재승인됨</a:t>
            </a:r>
            <a:r>
              <a:rPr dirty="0"/>
              <a:t>)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rPr dirty="0"/>
              <a:t>        → v2↔v4 </a:t>
            </a:r>
            <a:r>
              <a:rPr dirty="0" err="1"/>
              <a:t>diff로</a:t>
            </a:r>
            <a:r>
              <a:rPr dirty="0"/>
              <a:t> </a:t>
            </a:r>
            <a:r>
              <a:rPr dirty="0" err="1"/>
              <a:t>차분</a:t>
            </a:r>
            <a:r>
              <a:rPr dirty="0"/>
              <a:t> </a:t>
            </a:r>
            <a:r>
              <a:rPr dirty="0" err="1"/>
              <a:t>재임베딩</a:t>
            </a:r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88"/>
                </a:solidFill>
                <a:latin typeface="맑은 고딕"/>
              </a:defRPr>
            </a:pPr>
            <a: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07  버전 롤백 (Copy-forward)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BBDD"/>
                </a:solidFill>
                <a:latin typeface="맑은 고딕"/>
              </a:defRPr>
            </a:pPr>
            <a:r>
              <a:t>이전 발행본의 BlockSnapshot을 Working Copy에 복원 → 재승인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맑은 고딕"/>
              </a:defRPr>
            </a:pPr>
            <a:r>
              <a:t>상황: v4가 Published 상태, v2로 롤백하려는 경우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1645920" cy="6400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Published</a:t>
            </a:r>
            <a:br/>
            <a:r>
              <a:t>(v4 게시 중)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03120" y="1947672"/>
            <a:ext cx="822960" cy="219456"/>
          </a:xfrm>
          <a:prstGeom prst="rightArrow">
            <a:avLst/>
          </a:prstGeom>
          <a:solidFill>
            <a:srgbClr val="FF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03120" y="1631284"/>
            <a:ext cx="853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8"/>
                </a:solidFill>
                <a:latin typeface="맑은 고딕"/>
              </a:defRPr>
            </a:pPr>
            <a:r>
              <a:rPr dirty="0"/>
              <a:t>v2로 </a:t>
            </a:r>
            <a:r>
              <a:rPr dirty="0" err="1"/>
              <a:t>롤백</a:t>
            </a:r>
            <a:br>
              <a:rPr dirty="0"/>
            </a:br>
            <a:r>
              <a:rPr dirty="0" err="1"/>
              <a:t>클릭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2926080" y="1737360"/>
            <a:ext cx="2011680" cy="640080"/>
          </a:xfrm>
          <a:prstGeom prst="roundRect">
            <a:avLst/>
          </a:prstGeom>
          <a:solidFill>
            <a:srgbClr val="00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v2 BlockSnapshot</a:t>
            </a:r>
            <a:br/>
            <a:r>
              <a:t>→ Block 복원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937760" y="1947672"/>
            <a:ext cx="640079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577840" y="1737360"/>
            <a:ext cx="1645920" cy="6400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Draft</a:t>
            </a:r>
            <a:br/>
            <a:r>
              <a:t>(v2 내용)</a:t>
            </a:r>
          </a:p>
          <a:p>
            <a:pPr algn="ctr">
              <a:defRPr sz="800">
                <a:solidFill>
                  <a:srgbClr val="FFFFFF"/>
                </a:solidFill>
                <a:latin typeface="맑은 고딕"/>
              </a:defRPr>
            </a:pPr>
            <a:r>
              <a:t>수정 가능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223760" y="1947672"/>
            <a:ext cx="640079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23760" y="1737360"/>
            <a:ext cx="640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8"/>
                </a:solidFill>
                <a:latin typeface="맑은 고딕"/>
              </a:defRPr>
            </a:pPr>
            <a:r>
              <a:t>승인 요청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737360"/>
            <a:ext cx="1371600" cy="64008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Pending</a:t>
            </a:r>
            <a:br/>
            <a:r>
              <a:t>Review</a:t>
            </a:r>
          </a:p>
          <a:p>
            <a:pPr algn="ctr">
              <a:defRPr sz="700">
                <a:solidFill>
                  <a:srgbClr val="FFFFFF"/>
                </a:solidFill>
                <a:latin typeface="맑은 고딕"/>
              </a:defRPr>
            </a:pPr>
            <a:r>
              <a:t>v5 생성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235440" y="1947672"/>
            <a:ext cx="548639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35440" y="1737360"/>
            <a:ext cx="548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8"/>
                </a:solidFill>
                <a:latin typeface="맑은 고딕"/>
              </a:defRPr>
            </a:pPr>
            <a:r>
              <a:t>승인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1737360"/>
            <a:ext cx="1828800" cy="6400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Published</a:t>
            </a:r>
            <a:br/>
            <a:r>
              <a:t>(v5 게시)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834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맑은 고딕"/>
              </a:defRPr>
            </a:pPr>
            <a:r>
              <a:t>▼ 롤백 복원 절차 (Copy-forward 패턴)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246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맑은 고딕"/>
              </a:defRPr>
            </a:pPr>
            <a:r>
              <a:t>① v2 BlockSnapshot 전체 조회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566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맑은 고딕"/>
              </a:defRPr>
            </a:pPr>
            <a:r>
              <a:t>② 현재 Block 테이블의 해당 document_id 행 모두 삭제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886200"/>
            <a:ext cx="5212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맑은 고딕"/>
              </a:defRPr>
            </a:pPr>
            <a:r>
              <a:rPr dirty="0"/>
              <a:t>③ </a:t>
            </a:r>
            <a:r>
              <a:rPr dirty="0" err="1"/>
              <a:t>BlockSnapshot</a:t>
            </a:r>
            <a:r>
              <a:rPr dirty="0"/>
              <a:t> → Block INSERT (</a:t>
            </a:r>
            <a:r>
              <a:rPr lang="ko-KR" altLang="en-US" dirty="0" err="1"/>
              <a:t>임베딩</a:t>
            </a:r>
            <a:r>
              <a:rPr lang="ko-KR" altLang="en-US" dirty="0"/>
              <a:t> 낭비를 방지하기위해 </a:t>
            </a:r>
            <a:r>
              <a:rPr dirty="0" err="1"/>
              <a:t>block_id</a:t>
            </a:r>
            <a:r>
              <a:rPr dirty="0"/>
              <a:t> </a:t>
            </a:r>
            <a:r>
              <a:rPr dirty="0" err="1"/>
              <a:t>유지</a:t>
            </a:r>
            <a:r>
              <a:rPr dirty="0"/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246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맑은 고딕"/>
              </a:defRPr>
            </a:pPr>
            <a:r>
              <a:t>④ Document.title ← v2 DocumentVersion.title 로 덮어쓰기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566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맑은 고딕"/>
              </a:defRPr>
            </a:pPr>
            <a:r>
              <a:t>⑤ Document.status → draft 전환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886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맑은 고딕"/>
              </a:defRPr>
            </a:pPr>
            <a:r>
              <a:t>⑥ 감사 로그 document.rollback_started 기록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맑은 고딕"/>
              </a:defRPr>
            </a:pPr>
            <a:r>
              <a:t>▼ 재임베딩 처리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937760"/>
            <a:ext cx="5303520" cy="1371600"/>
          </a:xfrm>
          <a:prstGeom prst="roundRect">
            <a:avLst/>
          </a:prstGeom>
          <a:solidFill>
            <a:srgbClr val="FFF9E6"/>
          </a:solidFill>
          <a:ln w="12700">
            <a:solidFill>
              <a:srgbClr val="DDDD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🧠 v4 ↔ v5 BlockSnapshot 비교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• v5의 내용은 v2를 기반으로 함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• 하지만 비교는 직전 발행본(v4)과 수행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• 변경 블록만 재임베딩 (기존 diff 로직 그대로)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→ 롤백도 일반 재발행과 동일한 파이프라인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937760"/>
            <a:ext cx="5303520" cy="1371600"/>
          </a:xfrm>
          <a:prstGeom prst="roundRect">
            <a:avLst/>
          </a:prstGeom>
          <a:solidFill>
            <a:srgbClr val="FEF7EB"/>
          </a:solidFill>
          <a:ln w="12700">
            <a:solidFill>
              <a:srgbClr val="DDDD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rPr dirty="0"/>
              <a:t>🔒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원칙</a:t>
            </a:r>
            <a:endParaRPr dirty="0"/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rPr dirty="0"/>
              <a:t>    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rPr dirty="0"/>
              <a:t>    • </a:t>
            </a:r>
            <a:r>
              <a:rPr dirty="0" err="1"/>
              <a:t>기존</a:t>
            </a:r>
            <a:r>
              <a:rPr dirty="0"/>
              <a:t> </a:t>
            </a:r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버전</a:t>
            </a:r>
            <a:r>
              <a:rPr dirty="0"/>
              <a:t>(v1~v4) </a:t>
            </a:r>
            <a:r>
              <a:rPr dirty="0" err="1"/>
              <a:t>절대</a:t>
            </a:r>
            <a:r>
              <a:rPr dirty="0"/>
              <a:t> </a:t>
            </a:r>
            <a:r>
              <a:rPr dirty="0" err="1"/>
              <a:t>삭제</a:t>
            </a:r>
            <a:r>
              <a:rPr dirty="0"/>
              <a:t> 안 함 (</a:t>
            </a:r>
            <a:r>
              <a:rPr b="1" dirty="0"/>
              <a:t>append-only</a:t>
            </a:r>
            <a:r>
              <a:rPr dirty="0"/>
              <a:t>)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rPr dirty="0"/>
              <a:t>    • </a:t>
            </a:r>
            <a:r>
              <a:rPr dirty="0" err="1"/>
              <a:t>롤백</a:t>
            </a:r>
            <a:r>
              <a:rPr dirty="0"/>
              <a:t> </a:t>
            </a:r>
            <a:r>
              <a:rPr dirty="0" err="1"/>
              <a:t>후에도</a:t>
            </a:r>
            <a:r>
              <a:rPr dirty="0"/>
              <a:t> </a:t>
            </a:r>
            <a:r>
              <a:rPr b="1" dirty="0" err="1"/>
              <a:t>승인</a:t>
            </a:r>
            <a:r>
              <a:rPr b="1" dirty="0"/>
              <a:t> </a:t>
            </a:r>
            <a:r>
              <a:rPr b="1" dirty="0" err="1"/>
              <a:t>워크플로</a:t>
            </a:r>
            <a:r>
              <a:rPr b="1" dirty="0"/>
              <a:t> </a:t>
            </a:r>
            <a:r>
              <a:rPr b="1" dirty="0" err="1"/>
              <a:t>필수</a:t>
            </a:r>
            <a:endParaRPr b="1" dirty="0"/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rPr dirty="0"/>
              <a:t>      → </a:t>
            </a:r>
            <a:r>
              <a:rPr dirty="0" err="1"/>
              <a:t>무승인</a:t>
            </a:r>
            <a:r>
              <a:rPr dirty="0"/>
              <a:t> </a:t>
            </a:r>
            <a:r>
              <a:rPr dirty="0" err="1"/>
              <a:t>콘텐츠</a:t>
            </a:r>
            <a:r>
              <a:rPr dirty="0"/>
              <a:t> </a:t>
            </a:r>
            <a:r>
              <a:rPr dirty="0" err="1"/>
              <a:t>변경</a:t>
            </a:r>
            <a:r>
              <a:rPr dirty="0"/>
              <a:t> </a:t>
            </a:r>
            <a:r>
              <a:rPr dirty="0" err="1"/>
              <a:t>불가</a:t>
            </a:r>
            <a:endParaRPr dirty="0"/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rPr dirty="0"/>
              <a:t>    • </a:t>
            </a:r>
            <a:r>
              <a:rPr dirty="0" err="1"/>
              <a:t>롤백</a:t>
            </a:r>
            <a:r>
              <a:rPr dirty="0"/>
              <a:t> = '</a:t>
            </a:r>
            <a:r>
              <a:rPr dirty="0" err="1"/>
              <a:t>이전</a:t>
            </a:r>
            <a:r>
              <a:rPr dirty="0"/>
              <a:t> </a:t>
            </a:r>
            <a:r>
              <a:rPr dirty="0" err="1"/>
              <a:t>내용으로</a:t>
            </a:r>
            <a:r>
              <a:rPr dirty="0"/>
              <a:t> Working Copy </a:t>
            </a:r>
            <a:r>
              <a:rPr dirty="0" err="1"/>
              <a:t>초기화</a:t>
            </a:r>
            <a:r>
              <a:rPr dirty="0"/>
              <a:t>'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rPr dirty="0"/>
              <a:t>    • </a:t>
            </a:r>
            <a:r>
              <a:rPr dirty="0" err="1"/>
              <a:t>롤백</a:t>
            </a:r>
            <a:r>
              <a:rPr dirty="0"/>
              <a:t> 후 </a:t>
            </a:r>
            <a:r>
              <a:rPr dirty="0" err="1"/>
              <a:t>에디터에서</a:t>
            </a:r>
            <a:r>
              <a:rPr dirty="0"/>
              <a:t> </a:t>
            </a:r>
            <a:r>
              <a:rPr dirty="0" err="1"/>
              <a:t>추가</a:t>
            </a:r>
            <a:r>
              <a:rPr dirty="0"/>
              <a:t> </a:t>
            </a:r>
            <a:r>
              <a:rPr dirty="0" err="1"/>
              <a:t>수정도</a:t>
            </a:r>
            <a:r>
              <a:rPr dirty="0"/>
              <a:t> </a:t>
            </a:r>
            <a:r>
              <a:rPr dirty="0" err="1"/>
              <a:t>가능</a:t>
            </a:r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88"/>
                </a:solidFill>
                <a:latin typeface="맑은 고딕"/>
              </a:defRPr>
            </a:pPr>
            <a: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08  유효기간 만료 + 사전 알림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BBDD"/>
                </a:solidFill>
                <a:latin typeface="맑은 고딕"/>
              </a:defRPr>
            </a:pPr>
            <a:r>
              <a:t>Document.expires_at 기반 자동 만료 처리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맑은 고딕"/>
              </a:defRPr>
            </a:pPr>
            <a:r>
              <a:t>📢 사전 알림 (만료 N일 전)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2011680" cy="594360"/>
          </a:xfrm>
          <a:prstGeom prst="roundRect">
            <a:avLst/>
          </a:prstGeom>
          <a:solidFill>
            <a:srgbClr val="00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BullMQ Cron</a:t>
            </a:r>
            <a:br/>
            <a:r>
              <a:t>매일 실행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468880" y="1920239"/>
            <a:ext cx="640079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68880" y="1709927"/>
            <a:ext cx="640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8"/>
                </a:solidFill>
                <a:latin typeface="맑은 고딕"/>
              </a:defRPr>
            </a:pPr>
            <a:r>
              <a:t>스캔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1737360"/>
            <a:ext cx="2286000" cy="594360"/>
          </a:xfrm>
          <a:prstGeom prst="round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만료 N일 전</a:t>
            </a:r>
            <a:br/>
            <a:r>
              <a:t>문서 감지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394960" y="1920239"/>
            <a:ext cx="548639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943600" y="1737360"/>
            <a:ext cx="2286000" cy="594360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담당자(assignee)</a:t>
            </a:r>
            <a:br/>
            <a:r>
              <a:t>사전 알림 발송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040"/>
                </a:solidFill>
                <a:latin typeface="맑은 고딕"/>
              </a:defRPr>
            </a:pPr>
            <a:r>
              <a:t>⏰ 만료 시점 도래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017520"/>
            <a:ext cx="1828800" cy="59436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Published</a:t>
            </a:r>
            <a:br/>
            <a:r>
              <a:t>(expires_at 도래)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286000" y="3200400"/>
            <a:ext cx="731519" cy="219456"/>
          </a:xfrm>
          <a:prstGeom prst="rightArrow">
            <a:avLst/>
          </a:prstGeom>
          <a:solidFill>
            <a:srgbClr val="FF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86000" y="2990088"/>
            <a:ext cx="731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8"/>
                </a:solidFill>
                <a:latin typeface="맑은 고딕"/>
              </a:defRPr>
            </a:pPr>
            <a:r>
              <a:t>자동 전환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3017520"/>
            <a:ext cx="2286000" cy="594360"/>
          </a:xfrm>
          <a:prstGeom prst="roundRect">
            <a:avLst/>
          </a:prstGeom>
          <a:solidFill>
            <a:srgbClr val="FF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is_suspended</a:t>
            </a:r>
            <a:br/>
            <a:r>
              <a:t>= true</a:t>
            </a:r>
          </a:p>
          <a:p>
            <a:pPr algn="ctr">
              <a:defRPr sz="800">
                <a:solidFill>
                  <a:srgbClr val="FFFFFF"/>
                </a:solidFill>
                <a:latin typeface="맑은 고딕"/>
              </a:defRPr>
            </a:pPr>
            <a:r>
              <a:t>검색/RAG 즉시 제외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303520" y="3200400"/>
            <a:ext cx="640080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943600" y="3017520"/>
            <a:ext cx="2286000" cy="594360"/>
          </a:xfrm>
          <a:prstGeom prst="roundRect">
            <a:avLst/>
          </a:prstGeom>
          <a:solidFill>
            <a:srgbClr val="00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감사 로그 기록</a:t>
            </a:r>
            <a:br/>
            <a:r>
              <a:t>+ 담당자 알림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840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맑은 고딕"/>
              </a:defRPr>
            </a:pPr>
            <a:r>
              <a:t>▼ 만료 후 복원 경로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206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0AD47"/>
                </a:solidFill>
                <a:latin typeface="맑은 고딕"/>
              </a:defRPr>
            </a:pPr>
            <a:r>
              <a:t>경로 A: 유효기간 연장 (내용 변경 불필요)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572000"/>
            <a:ext cx="2011680" cy="502920"/>
          </a:xfrm>
          <a:prstGeom prst="roundRect">
            <a:avLst/>
          </a:prstGeom>
          <a:solidFill>
            <a:srgbClr val="FF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Suspended</a:t>
            </a:r>
            <a:br/>
            <a:r>
              <a:t>(만료)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743200" y="4709160"/>
            <a:ext cx="731519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566747" y="4434727"/>
            <a:ext cx="10650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8"/>
                </a:solidFill>
                <a:latin typeface="맑은 고딕"/>
              </a:defRPr>
            </a:pPr>
            <a:r>
              <a:rPr dirty="0" err="1"/>
              <a:t>expires_at</a:t>
            </a:r>
            <a:r>
              <a:rPr dirty="0"/>
              <a:t> </a:t>
            </a:r>
            <a:r>
              <a:rPr dirty="0" err="1"/>
              <a:t>연장</a:t>
            </a:r>
            <a:br>
              <a:rPr dirty="0"/>
            </a:br>
            <a:r>
              <a:rPr dirty="0"/>
              <a:t>+ unsuspend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4572000"/>
            <a:ext cx="2011680" cy="50292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Published</a:t>
            </a:r>
            <a:br/>
            <a:r>
              <a:t>(즉시 검색 복원)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03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472C4"/>
                </a:solidFill>
                <a:latin typeface="맑은 고딕"/>
              </a:defRPr>
            </a:pPr>
            <a:r>
              <a:t>경로 B: 내용 수정 후 재발행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669280"/>
            <a:ext cx="1828800" cy="502920"/>
          </a:xfrm>
          <a:prstGeom prst="roundRect">
            <a:avLst/>
          </a:prstGeom>
          <a:solidFill>
            <a:srgbClr val="FF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Suspended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560320" y="5806440"/>
            <a:ext cx="640080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560320" y="55961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8"/>
                </a:solidFill>
                <a:latin typeface="맑은 고딕"/>
              </a:defRPr>
            </a:pPr>
            <a:r>
              <a:t>수정 시작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0" y="5669280"/>
            <a:ext cx="1371600" cy="50292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Draft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4572000" y="5806440"/>
            <a:ext cx="548639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0" y="5596128"/>
            <a:ext cx="548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8"/>
                </a:solidFill>
                <a:latin typeface="맑은 고딕"/>
              </a:defRPr>
            </a:pPr>
            <a:r>
              <a:t>승인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20640" y="5669280"/>
            <a:ext cx="1645920" cy="50292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Published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33403" y="3794760"/>
            <a:ext cx="4396597" cy="2377440"/>
          </a:xfrm>
          <a:prstGeom prst="roundRect">
            <a:avLst/>
          </a:prstGeom>
          <a:solidFill>
            <a:srgbClr val="FFF9E6"/>
          </a:solidFill>
          <a:ln w="12700">
            <a:solidFill>
              <a:srgbClr val="DDDD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🧠 임베딩/인덱싱 관련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만료(is_suspended=true) 시: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  • 벡터 DB 물리 삭제 없음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  • 검색 시 필터로 제외만 수행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유효기간 연장으로 복원 시: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  • 재임베딩 불필요 (벡터 보존되어 있으므로)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  • 필터 해제만으로 즉시 검색 복원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수정 후 재발행 시: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  • 일반 재발행과 동일한 차분 재임베딩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88"/>
                </a:solidFill>
                <a:latin typeface="맑은 고딕"/>
              </a:defRPr>
            </a:pPr>
            <a: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09  긴급 회수 (is_suspended)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BBDD"/>
                </a:solidFill>
                <a:latin typeface="맑은 고딕"/>
              </a:defRPr>
            </a:pPr>
            <a:r>
              <a:t>내용 오류, 규정 위반 등으로 즉시 검색에서 제외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645920" cy="6400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Published</a:t>
            </a:r>
            <a:br/>
            <a:r>
              <a:t>게시 중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03120" y="1764791"/>
            <a:ext cx="914400" cy="219456"/>
          </a:xfrm>
          <a:prstGeom prst="rightArrow">
            <a:avLst/>
          </a:prstGeom>
          <a:solidFill>
            <a:srgbClr val="FF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03120" y="14356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8"/>
                </a:solidFill>
                <a:latin typeface="맑은 고딕"/>
              </a:defRPr>
            </a:pPr>
            <a:r>
              <a:rPr dirty="0" err="1"/>
              <a:t>긴급</a:t>
            </a:r>
            <a:r>
              <a:rPr dirty="0"/>
              <a:t> </a:t>
            </a:r>
            <a:r>
              <a:rPr dirty="0" err="1"/>
              <a:t>회수</a:t>
            </a:r>
            <a:r>
              <a:rPr dirty="0"/>
              <a:t> </a:t>
            </a:r>
            <a:r>
              <a:rPr dirty="0" err="1"/>
              <a:t>클릭</a:t>
            </a:r>
            <a:br>
              <a:rPr dirty="0"/>
            </a:br>
            <a:r>
              <a:rPr dirty="0"/>
              <a:t>+ </a:t>
            </a:r>
            <a:r>
              <a:rPr dirty="0" err="1"/>
              <a:t>사유</a:t>
            </a:r>
            <a:r>
              <a:rPr dirty="0"/>
              <a:t> </a:t>
            </a:r>
            <a:r>
              <a:rPr dirty="0" err="1"/>
              <a:t>입력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3017520" y="1554480"/>
            <a:ext cx="2194560" cy="640080"/>
          </a:xfrm>
          <a:prstGeom prst="roundRect">
            <a:avLst/>
          </a:prstGeom>
          <a:solidFill>
            <a:srgbClr val="FF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is_suspended</a:t>
            </a:r>
            <a:br/>
            <a:r>
              <a:t>= true</a:t>
            </a:r>
          </a:p>
          <a:p>
            <a:pPr algn="ctr">
              <a:defRPr sz="900">
                <a:solidFill>
                  <a:srgbClr val="FFFFFF"/>
                </a:solidFill>
                <a:latin typeface="맑은 고딕"/>
              </a:defRPr>
            </a:pPr>
            <a:r>
              <a:t>검색/RAG 즉시 제외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212080" y="1536192"/>
            <a:ext cx="731519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943600" y="1417320"/>
            <a:ext cx="2560320" cy="502920"/>
          </a:xfrm>
          <a:prstGeom prst="round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ES: 검색 필터 갱신</a:t>
            </a:r>
            <a:br/>
            <a:r>
              <a:t>(is_suspended 문서 제외)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212080" y="1993391"/>
            <a:ext cx="731519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943600" y="2057400"/>
            <a:ext cx="2560320" cy="502920"/>
          </a:xfrm>
          <a:prstGeom prst="roundRect">
            <a:avLst/>
          </a:prstGeom>
          <a:solidFill>
            <a:srgbClr val="C03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Milvus: 벡터 검색 필터 갱신</a:t>
            </a:r>
            <a:br/>
            <a:r>
              <a:t>(물리 삭제 없이 필터 제외)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03920" y="1764791"/>
            <a:ext cx="640079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44000" y="1554480"/>
            <a:ext cx="2560320" cy="640080"/>
          </a:xfrm>
          <a:prstGeom prst="roundRect">
            <a:avLst/>
          </a:prstGeom>
          <a:solidFill>
            <a:srgbClr val="00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감사 로그 기록</a:t>
            </a:r>
            <a:br/>
            <a:r>
              <a:t>+ 관리자 알림</a:t>
            </a:r>
          </a:p>
          <a:p>
            <a:pPr algn="ctr">
              <a:defRPr sz="700">
                <a:solidFill>
                  <a:srgbClr val="FFFFFF"/>
                </a:solidFill>
                <a:latin typeface="맑은 고딕"/>
              </a:defRPr>
            </a:pPr>
            <a:r>
              <a:t>document.recalled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26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맑은 고딕"/>
              </a:defRPr>
            </a:pPr>
            <a:r>
              <a:t>▼ 회수 이후 선택지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83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0AD47"/>
                </a:solidFill>
                <a:latin typeface="맑은 고딕"/>
              </a:defRPr>
            </a:pPr>
            <a:r>
              <a:t>선택지 A: 회수 해제 (내용 변경 불필요)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49040"/>
            <a:ext cx="2011680" cy="502920"/>
          </a:xfrm>
          <a:prstGeom prst="roundRect">
            <a:avLst/>
          </a:prstGeom>
          <a:solidFill>
            <a:srgbClr val="FF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Suspended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743200" y="3886200"/>
            <a:ext cx="731519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0" y="3675888"/>
            <a:ext cx="731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88"/>
                </a:solidFill>
                <a:latin typeface="맑은 고딕"/>
              </a:defRPr>
            </a:pPr>
            <a:r>
              <a:t>회수 해제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3749040"/>
            <a:ext cx="2011680" cy="50292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Published</a:t>
            </a:r>
            <a:br/>
            <a:r>
              <a:t>(즉시 복원)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3251499"/>
            <a:ext cx="5760720" cy="10515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DDDD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rPr dirty="0"/>
              <a:t>✅ </a:t>
            </a:r>
            <a:r>
              <a:rPr dirty="0" err="1"/>
              <a:t>회수</a:t>
            </a:r>
            <a:r>
              <a:rPr dirty="0"/>
              <a:t> </a:t>
            </a:r>
            <a:r>
              <a:rPr dirty="0" err="1"/>
              <a:t>해제</a:t>
            </a:r>
            <a:r>
              <a:rPr dirty="0"/>
              <a:t> 시 </a:t>
            </a:r>
            <a:r>
              <a:rPr dirty="0" err="1"/>
              <a:t>재임베딩</a:t>
            </a:r>
            <a:r>
              <a:rPr dirty="0"/>
              <a:t> </a:t>
            </a:r>
            <a:r>
              <a:rPr dirty="0" err="1"/>
              <a:t>불필요</a:t>
            </a:r>
            <a:r>
              <a:rPr dirty="0"/>
              <a:t>!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rPr dirty="0"/>
              <a:t>    • </a:t>
            </a:r>
            <a:r>
              <a:rPr dirty="0" err="1"/>
              <a:t>벡터</a:t>
            </a:r>
            <a:r>
              <a:rPr dirty="0"/>
              <a:t> </a:t>
            </a:r>
            <a:r>
              <a:rPr dirty="0" err="1"/>
              <a:t>DB에서</a:t>
            </a:r>
            <a:r>
              <a:rPr dirty="0"/>
              <a:t> </a:t>
            </a:r>
            <a:r>
              <a:rPr dirty="0" err="1"/>
              <a:t>물리</a:t>
            </a:r>
            <a:r>
              <a:rPr dirty="0"/>
              <a:t> </a:t>
            </a:r>
            <a:r>
              <a:rPr dirty="0" err="1"/>
              <a:t>삭제하지</a:t>
            </a:r>
            <a:r>
              <a:rPr dirty="0"/>
              <a:t> </a:t>
            </a:r>
            <a:r>
              <a:rPr dirty="0" err="1"/>
              <a:t>않았으므로</a:t>
            </a:r>
            <a:endParaRPr dirty="0"/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rPr dirty="0"/>
              <a:t>    • </a:t>
            </a:r>
            <a:r>
              <a:rPr dirty="0" err="1"/>
              <a:t>is_suspended</a:t>
            </a:r>
            <a:r>
              <a:rPr dirty="0"/>
              <a:t> </a:t>
            </a:r>
            <a:r>
              <a:rPr dirty="0" err="1"/>
              <a:t>플래그만</a:t>
            </a:r>
            <a:r>
              <a:rPr dirty="0"/>
              <a:t> </a:t>
            </a:r>
            <a:r>
              <a:rPr dirty="0" err="1"/>
              <a:t>false로</a:t>
            </a:r>
            <a:r>
              <a:rPr dirty="0"/>
              <a:t> </a:t>
            </a:r>
            <a:r>
              <a:rPr dirty="0" err="1"/>
              <a:t>변경</a:t>
            </a:r>
            <a:endParaRPr dirty="0"/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rPr dirty="0"/>
              <a:t>    • </a:t>
            </a:r>
            <a:r>
              <a:rPr dirty="0" err="1"/>
              <a:t>검색</a:t>
            </a:r>
            <a:r>
              <a:rPr dirty="0"/>
              <a:t> </a:t>
            </a:r>
            <a:r>
              <a:rPr dirty="0" err="1"/>
              <a:t>필터에</a:t>
            </a:r>
            <a:r>
              <a:rPr dirty="0"/>
              <a:t> </a:t>
            </a:r>
            <a:r>
              <a:rPr dirty="0" err="1"/>
              <a:t>즉시</a:t>
            </a:r>
            <a:r>
              <a:rPr dirty="0"/>
              <a:t> </a:t>
            </a:r>
            <a:r>
              <a:rPr dirty="0" err="1"/>
              <a:t>복원됨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731520" y="4754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472C4"/>
                </a:solidFill>
                <a:latin typeface="맑은 고딕"/>
              </a:defRPr>
            </a:pPr>
            <a:r>
              <a:t>선택지 B: 수정 후 재발행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120640"/>
            <a:ext cx="1371600" cy="502920"/>
          </a:xfrm>
          <a:prstGeom prst="roundRect">
            <a:avLst/>
          </a:prstGeom>
          <a:solidFill>
            <a:srgbClr val="FF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Suspended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103120" y="5257800"/>
            <a:ext cx="640080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103120" y="50474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8"/>
                </a:solidFill>
                <a:latin typeface="맑은 고딕"/>
              </a:defRPr>
            </a:pPr>
            <a:r>
              <a:t>수정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0" y="5120640"/>
            <a:ext cx="1371600" cy="50292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Draft</a:t>
            </a:r>
            <a:br/>
            <a:r>
              <a:t>(새 버전)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114800" y="5257800"/>
            <a:ext cx="640080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0" y="50474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8"/>
                </a:solidFill>
                <a:latin typeface="맑은 고딕"/>
              </a:defRPr>
            </a:pPr>
            <a:r>
              <a:t>승인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0" y="5120640"/>
            <a:ext cx="1371600" cy="50292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Pending</a:t>
            </a:r>
            <a:br/>
            <a:r>
              <a:t>Review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6126480" y="5257800"/>
            <a:ext cx="640080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26480" y="50474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8"/>
                </a:solidFill>
                <a:latin typeface="맑은 고딕"/>
              </a:defRPr>
            </a:pPr>
            <a:r>
              <a:t>최종 승인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0" y="5120640"/>
            <a:ext cx="1645920" cy="50292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Published</a:t>
            </a:r>
            <a:br/>
            <a:r>
              <a:t>(새 버전)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0" y="4846320"/>
            <a:ext cx="3200400" cy="1005840"/>
          </a:xfrm>
          <a:prstGeom prst="roundRect">
            <a:avLst/>
          </a:prstGeom>
          <a:solidFill>
            <a:srgbClr val="FFF9E6"/>
          </a:solidFill>
          <a:ln w="12700">
            <a:solidFill>
              <a:srgbClr val="DDDD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🔄 수정 재발행 시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• 새 Draft 버전 생성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• 기존 승인 워크플로 동일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• 차분 재임베딩 수행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88"/>
                </a:solidFill>
                <a:latin typeface="맑은 고딕"/>
              </a:defRPr>
            </a:pPr>
            <a: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10  아카이빙 → 재활성화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BBDD"/>
                </a:solidFill>
                <a:latin typeface="맑은 고딕"/>
              </a:defRPr>
            </a:pPr>
            <a:r>
              <a:t>Published → Archived → Draft 전이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5A5A5"/>
                </a:solidFill>
                <a:latin typeface="맑은 고딕"/>
              </a:defRPr>
            </a:pPr>
            <a:r>
              <a:t>아카이빙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1645920" cy="64008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Published</a:t>
            </a:r>
            <a:br/>
            <a:r>
              <a:t>게시 중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03120" y="1764791"/>
            <a:ext cx="914400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30997" y="1176080"/>
            <a:ext cx="12586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8"/>
                </a:solidFill>
                <a:latin typeface="맑은 고딕"/>
              </a:defRPr>
            </a:pPr>
            <a:r>
              <a:rPr dirty="0" err="1"/>
              <a:t>아카이빙</a:t>
            </a:r>
            <a:br>
              <a:rPr dirty="0"/>
            </a:br>
            <a:r>
              <a:rPr dirty="0"/>
              <a:t>(APPROVE/ADMIN)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554480"/>
            <a:ext cx="2011680" cy="640080"/>
          </a:xfrm>
          <a:prstGeom prst="roundRect">
            <a:avLst/>
          </a:prstGeom>
          <a:solidFill>
            <a:srgbClr val="A5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Archived</a:t>
            </a:r>
            <a:br/>
            <a:r>
              <a:t>아카이빙됨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029200" y="1536192"/>
            <a:ext cx="731519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760720" y="1417320"/>
            <a:ext cx="2560320" cy="502920"/>
          </a:xfrm>
          <a:prstGeom prst="round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ES 인덱스 삭제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029200" y="1993391"/>
            <a:ext cx="731519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760720" y="2057400"/>
            <a:ext cx="2560320" cy="502920"/>
          </a:xfrm>
          <a:prstGeom prst="roundRect">
            <a:avLst/>
          </a:prstGeom>
          <a:solidFill>
            <a:srgbClr val="C03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Milvus 벡터 마킹</a:t>
            </a:r>
            <a:br/>
            <a:r>
              <a:t>(비동기 배치 삭제)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554480"/>
            <a:ext cx="2560320" cy="640080"/>
          </a:xfrm>
          <a:prstGeom prst="roundRect">
            <a:avLst/>
          </a:prstGeom>
          <a:solidFill>
            <a:srgbClr val="00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감사 로그</a:t>
            </a:r>
            <a:br/>
            <a:r>
              <a:t>document.archived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260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472C4"/>
                </a:solidFill>
                <a:latin typeface="맑은 고딕"/>
              </a:defRPr>
            </a:pPr>
            <a:r>
              <a:t>재활성화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91840"/>
            <a:ext cx="1828800" cy="594360"/>
          </a:xfrm>
          <a:prstGeom prst="roundRect">
            <a:avLst/>
          </a:prstGeom>
          <a:solidFill>
            <a:srgbClr val="A5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Archived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286000" y="3474720"/>
            <a:ext cx="914400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164976" y="2944142"/>
            <a:ext cx="12640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8"/>
                </a:solidFill>
                <a:latin typeface="맑은 고딕"/>
              </a:defRPr>
            </a:pPr>
            <a:r>
              <a:rPr dirty="0" err="1"/>
              <a:t>재활성화</a:t>
            </a:r>
            <a:br>
              <a:rPr dirty="0"/>
            </a:br>
            <a:r>
              <a:rPr dirty="0"/>
              <a:t>(APPROVE/ADMIN)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3291840"/>
            <a:ext cx="1371600" cy="59436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Draft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572000" y="3474720"/>
            <a:ext cx="731519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0" y="3264408"/>
            <a:ext cx="731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8"/>
                </a:solidFill>
                <a:latin typeface="맑은 고딕"/>
              </a:defRPr>
            </a:pPr>
            <a:r>
              <a:t>재승인 필요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3291840"/>
            <a:ext cx="1645920" cy="59436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Pending</a:t>
            </a:r>
            <a:br/>
            <a:r>
              <a:t>Review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949440" y="3474720"/>
            <a:ext cx="640080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49440" y="326440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88"/>
                </a:solidFill>
                <a:latin typeface="맑은 고딕"/>
              </a:defRPr>
            </a:pPr>
            <a:r>
              <a:t>승인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3291840"/>
            <a:ext cx="1828800" cy="59436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Published</a:t>
            </a:r>
            <a:br/>
            <a:r>
              <a:t>(재인덱싱/임베딩)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099201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맑은 고딕"/>
              </a:defRPr>
            </a:pPr>
            <a:r>
              <a:t>Suspended vs Archived 비교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471530"/>
              </p:ext>
            </p:extLst>
          </p:nvPr>
        </p:nvGraphicFramePr>
        <p:xfrm>
          <a:off x="457200" y="4510681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Suspended (긴급 회수)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Archived (아카이빙)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구현 방식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운영 플래그 (is_suspended)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status ENUM 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검색 제외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필터로 즉시 제외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ES 인덱스 삭제 + Milvus 마킹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복원 시 재임베딩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❌ 불필요 (벡터 보존)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✅ 필요 (재인덱싱/재임베딩)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복원 시 승인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rPr dirty="0" err="1"/>
                        <a:t>회수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해제</a:t>
                      </a:r>
                      <a:r>
                        <a:rPr dirty="0"/>
                        <a:t>: </a:t>
                      </a:r>
                      <a:r>
                        <a:rPr dirty="0" err="1"/>
                        <a:t>불필요</a:t>
                      </a:r>
                      <a:endParaRPr dirty="0"/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항상 필요 (draft → 재승인)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사용 시나리오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일시적 오류/위반 → 빠른 복원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영구적 비활성화 → 필요 시 재활성화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보존기간 내 가능?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❌ 차단됨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rPr dirty="0"/>
                        <a:t>❌ </a:t>
                      </a:r>
                      <a:r>
                        <a:rPr dirty="0" err="1"/>
                        <a:t>차단됨</a:t>
                      </a:r>
                      <a:endParaRPr dirty="0"/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88"/>
                </a:solidFill>
                <a:latin typeface="맑은 고딕"/>
              </a:defRPr>
            </a:pPr>
            <a: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11  문서 삭제 연쇄 처리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BBDD"/>
                </a:solidFill>
                <a:latin typeface="맑은 고딕"/>
              </a:defRPr>
            </a:pPr>
            <a:r>
              <a:t>soft delete (deleted_at = now()) + 관련 리소스 연쇄 처리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맑은 고딕"/>
              </a:defRPr>
            </a:pPr>
            <a:r>
              <a:t>▼ 삭제 전 검증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2011680" cy="548640"/>
          </a:xfrm>
          <a:prstGeom prst="roundRect">
            <a:avLst/>
          </a:prstGeom>
          <a:solidFill>
            <a:srgbClr val="00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삭제 요청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468880" y="1947672"/>
            <a:ext cx="548639" cy="219456"/>
          </a:xfrm>
          <a:prstGeom prst="rightArrow">
            <a:avLst/>
          </a:prstGeom>
          <a:solidFill>
            <a:srgbClr val="555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017520" y="1783080"/>
            <a:ext cx="2103120" cy="548640"/>
          </a:xfrm>
          <a:prstGeom prst="round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보존기간 내?</a:t>
            </a:r>
            <a:br/>
            <a:r>
              <a:t>법정 보존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645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4040"/>
                </a:solidFill>
                <a:latin typeface="맑은 고딕"/>
              </a:defRPr>
            </a:pPr>
            <a:r>
              <a:t>보존기간 내 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554480"/>
            <a:ext cx="2286000" cy="411480"/>
          </a:xfrm>
          <a:prstGeom prst="roundRect">
            <a:avLst/>
          </a:prstGeom>
          <a:solidFill>
            <a:srgbClr val="FF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삭제 차단 (403)</a:t>
            </a:r>
            <a:br/>
            <a:r>
              <a:t>보존기간 안내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057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D7D31"/>
                </a:solidFill>
                <a:latin typeface="맑은 고딕"/>
              </a:defRPr>
            </a:pPr>
            <a:r>
              <a:t>관리 모드 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2006301"/>
            <a:ext cx="2286000" cy="411480"/>
          </a:xfrm>
          <a:prstGeom prst="round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삭제 승인 워크플로</a:t>
            </a:r>
            <a:br/>
            <a:r>
              <a:t>(202 Accepted)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0AD47"/>
                </a:solidFill>
                <a:latin typeface="맑은 고딕"/>
              </a:defRPr>
            </a:pPr>
            <a:r>
              <a:t>자유 모드 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2468880"/>
            <a:ext cx="2286000" cy="411480"/>
          </a:xfrm>
          <a:prstGeom prst="round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즉시 soft delete</a:t>
            </a:r>
            <a:br/>
            <a:r>
              <a:t>실행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17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맑은 고딕"/>
              </a:defRPr>
            </a:pPr>
            <a:r>
              <a:t>▼ soft delete 실행 후 연쇄 처리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74720"/>
            <a:ext cx="3474720" cy="777240"/>
          </a:xfrm>
          <a:prstGeom prst="roundRect">
            <a:avLst/>
          </a:prstGeom>
          <a:solidFill>
            <a:srgbClr val="F8F8FF"/>
          </a:solidFill>
          <a:ln w="25400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0B0F0"/>
                </a:solidFill>
                <a:latin typeface="맑은 고딕"/>
              </a:defRPr>
            </a:pPr>
            <a:r>
              <a:t>🔍 ES aicm_blocks</a:t>
            </a:r>
          </a:p>
          <a:p>
            <a:pPr>
              <a:defRPr sz="1000">
                <a:solidFill>
                  <a:srgbClr val="1A1A2E"/>
                </a:solidFill>
                <a:latin typeface="맑은 고딕"/>
              </a:defRPr>
            </a:pPr>
            <a:r>
              <a:t>검색 결과에서 제외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474720"/>
            <a:ext cx="3474720" cy="777240"/>
          </a:xfrm>
          <a:prstGeom prst="roundRect">
            <a:avLst/>
          </a:prstGeom>
          <a:solidFill>
            <a:srgbClr val="F8F8FF"/>
          </a:solidFill>
          <a:ln w="25400">
            <a:solidFill>
              <a:srgbClr val="C039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C0399F"/>
                </a:solidFill>
                <a:latin typeface="맑은 고딕"/>
              </a:defRPr>
            </a:pPr>
            <a:r>
              <a:t>🧠 Milvus 벡터</a:t>
            </a:r>
          </a:p>
          <a:p>
            <a:pPr>
              <a:defRPr sz="1000">
                <a:solidFill>
                  <a:srgbClr val="1A1A2E"/>
                </a:solidFill>
                <a:latin typeface="맑은 고딕"/>
              </a:defRPr>
            </a:pPr>
            <a:r>
              <a:t>정리 마킹 (비동기 배치 삭제)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3474720"/>
            <a:ext cx="3474720" cy="777240"/>
          </a:xfrm>
          <a:prstGeom prst="roundRect">
            <a:avLst/>
          </a:prstGeom>
          <a:solidFill>
            <a:srgbClr val="F8F8FF"/>
          </a:solidFill>
          <a:ln w="25400">
            <a:solidFill>
              <a:srgbClr val="006B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06B8F"/>
                </a:solidFill>
                <a:latin typeface="맑은 고딕"/>
              </a:defRPr>
            </a:pPr>
            <a:r>
              <a:t>💬 댓글</a:t>
            </a:r>
          </a:p>
          <a:p>
            <a:pPr>
              <a:defRPr sz="1000">
                <a:solidFill>
                  <a:srgbClr val="1A1A2E"/>
                </a:solidFill>
                <a:latin typeface="맑은 고딕"/>
              </a:defRPr>
            </a:pPr>
            <a:r>
              <a:t>숨김 처리 (복구 시 함께 복원)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480560"/>
            <a:ext cx="3474720" cy="777240"/>
          </a:xfrm>
          <a:prstGeom prst="roundRect">
            <a:avLst/>
          </a:prstGeom>
          <a:solidFill>
            <a:srgbClr val="F8F8FF"/>
          </a:solidFill>
          <a:ln w="254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9800"/>
                </a:solidFill>
                <a:latin typeface="맑은 고딕"/>
              </a:defRPr>
            </a:pPr>
            <a:r>
              <a:t>👍 좋아요</a:t>
            </a:r>
          </a:p>
          <a:p>
            <a:pPr>
              <a:defRPr sz="1000">
                <a:solidFill>
                  <a:srgbClr val="1A1A2E"/>
                </a:solidFill>
                <a:latin typeface="맑은 고딕"/>
              </a:defRPr>
            </a:pPr>
            <a:r>
              <a:t>데이터 보존 (집계/랭킹에서만 제외)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4480560"/>
            <a:ext cx="3474720" cy="777240"/>
          </a:xfrm>
          <a:prstGeom prst="roundRect">
            <a:avLst/>
          </a:prstGeom>
          <a:solidFill>
            <a:srgbClr val="F8F8FF"/>
          </a:solidFill>
          <a:ln w="254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ED7D31"/>
                </a:solidFill>
                <a:latin typeface="맑은 고딕"/>
              </a:defRPr>
            </a:pPr>
            <a:r>
              <a:rPr dirty="0"/>
              <a:t>📋 </a:t>
            </a:r>
            <a:r>
              <a:rPr dirty="0" err="1"/>
              <a:t>진행</a:t>
            </a:r>
            <a:r>
              <a:rPr dirty="0"/>
              <a:t> 중 </a:t>
            </a:r>
            <a:r>
              <a:rPr dirty="0" err="1"/>
              <a:t>승인</a:t>
            </a:r>
            <a:endParaRPr dirty="0"/>
          </a:p>
          <a:p>
            <a:pPr>
              <a:defRPr sz="1000">
                <a:solidFill>
                  <a:srgbClr val="1A1A2E"/>
                </a:solidFill>
                <a:latin typeface="맑은 고딕"/>
              </a:defRPr>
            </a:pPr>
            <a:r>
              <a:rPr dirty="0" err="1"/>
              <a:t>pending_review</a:t>
            </a:r>
            <a:r>
              <a:rPr dirty="0"/>
              <a:t> </a:t>
            </a:r>
            <a:r>
              <a:rPr dirty="0" err="1"/>
              <a:t>상태인</a:t>
            </a:r>
            <a:r>
              <a:rPr dirty="0"/>
              <a:t> </a:t>
            </a:r>
            <a:r>
              <a:rPr dirty="0" err="1"/>
              <a:t>경우</a:t>
            </a:r>
            <a:r>
              <a:rPr dirty="0"/>
              <a:t> </a:t>
            </a:r>
            <a:r>
              <a:rPr dirty="0" err="1"/>
              <a:t>취소</a:t>
            </a:r>
            <a:endParaRPr dirty="0"/>
          </a:p>
        </p:txBody>
      </p:sp>
      <p:sp>
        <p:nvSpPr>
          <p:cNvPr id="21" name="Rounded Rectangle 20"/>
          <p:cNvSpPr/>
          <p:nvPr/>
        </p:nvSpPr>
        <p:spPr>
          <a:xfrm>
            <a:off x="8138160" y="4480560"/>
            <a:ext cx="3474720" cy="777240"/>
          </a:xfrm>
          <a:prstGeom prst="roundRect">
            <a:avLst/>
          </a:prstGeom>
          <a:solidFill>
            <a:srgbClr val="F8F8FF"/>
          </a:solidFill>
          <a:ln w="254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7030A0"/>
                </a:solidFill>
                <a:latin typeface="맑은 고딕"/>
              </a:defRPr>
            </a:pPr>
            <a:r>
              <a:t>⏰ 예약 발행</a:t>
            </a:r>
          </a:p>
          <a:p>
            <a:pPr>
              <a:defRPr sz="1000">
                <a:solidFill>
                  <a:srgbClr val="1A1A2E"/>
                </a:solidFill>
                <a:latin typeface="맑은 고딕"/>
              </a:defRPr>
            </a:pPr>
            <a:r>
              <a:t>approved_scheduled인 경우 취소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577840"/>
            <a:ext cx="5486400" cy="822960"/>
          </a:xfrm>
          <a:prstGeom prst="roundRect">
            <a:avLst/>
          </a:prstGeom>
          <a:solidFill>
            <a:srgbClr val="FFF9E6"/>
          </a:solidFill>
          <a:ln w="12700">
            <a:solidFill>
              <a:srgbClr val="DDDD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♻️ 삭제 복구 (관리자 전용)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• deleted_at = null로 복원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• 숨김 댓글 함께 복원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• published 상태였으면 ES/Milvus 재인덱싱 필요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5577840"/>
            <a:ext cx="5303520" cy="822960"/>
          </a:xfrm>
          <a:prstGeom prst="roundRect">
            <a:avLst/>
          </a:prstGeom>
          <a:solidFill>
            <a:srgbClr val="FFF9E6"/>
          </a:solidFill>
          <a:ln w="12700">
            <a:solidFill>
              <a:srgbClr val="DDDD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📝 감사 로그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• action: document.deleted 기록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• EventBus document.deleted 이벤트 발행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• 복구 시 document.restored 기록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88"/>
                </a:solidFill>
                <a:latin typeface="맑은 고딕"/>
              </a:defRPr>
            </a:pPr>
            <a: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12  임베딩 · 인덱싱 파이프라인 총정리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BBDD"/>
                </a:solidFill>
                <a:latin typeface="맑은 고딕"/>
              </a:defRPr>
            </a:pPr>
            <a:r>
              <a:t>상태 전이별 ES/Milvus 처리 매트릭스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1161288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382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상태 전이 / 이벤트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ES 키워드 인덱싱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(aicm_blocks)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Milvus 벡터 임베딩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(aicm_chunks)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AI 요약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(summary)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최초 발행</a:t>
                      </a:r>
                    </a:p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(draft → published)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✅ 전체 인덱싱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⚡ 전체 임베딩</a:t>
                      </a:r>
                    </a:p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(ft:search.rag)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⚡ 요약 생성</a:t>
                      </a:r>
                    </a:p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(ft:ai.summary)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재발행 v2</a:t>
                      </a:r>
                    </a:p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(draft → published)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✅ 전체 재인덱싱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⚡ 변경 블록만 차분 재임베딩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⚡ 요약 재생성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예약 발행 도래</a:t>
                      </a:r>
                    </a:p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(approved_scheduled → published)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✅ 전체 인덱싱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⚡ 전체 임베딩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⚡ 요약 생성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긴급 회수</a:t>
                      </a:r>
                    </a:p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(is_suspended = true)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🔽 필터로 제외</a:t>
                      </a:r>
                    </a:p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(삭제 안 함)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🔽 필터로 제외</a:t>
                      </a:r>
                    </a:p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(삭제 안 함)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변경 없음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회수 해제</a:t>
                      </a:r>
                    </a:p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(is_suspended = false)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🔼 필터 복원</a:t>
                      </a:r>
                    </a:p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(재인덱싱 불필요)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🔼 필터 복원</a:t>
                      </a:r>
                    </a:p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(재임베딩 불필요)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변경 없음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유효기간 만료</a:t>
                      </a:r>
                    </a:p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(is_suspended = true)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🔽 필터로 제외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🔽 필터로 제외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변경 없음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아카이빙</a:t>
                      </a:r>
                    </a:p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(published → archived)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❌ 인덱스 삭제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❌ 벡터 마킹</a:t>
                      </a:r>
                    </a:p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(비동기 배치 삭제)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변경 없음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재활성화+재발행</a:t>
                      </a:r>
                    </a:p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(archived → draft → published)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✅ 전체 재인덱싱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⚡ 전체 재임베딩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⚡ 요약 재생성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문서 삭제</a:t>
                      </a:r>
                    </a:p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(deleted_at = now())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❌ 검색 제외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❌ 벡터 마킹</a:t>
                      </a:r>
                    </a:p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(비동기 배치 삭제)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변경 없음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3830">
                <a:tc>
                  <a:txBody>
                    <a:bodyPr/>
                    <a:lstStyle/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삭제 복구</a:t>
                      </a:r>
                    </a:p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(deleted_at = null)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✅ 재인덱싱</a:t>
                      </a:r>
                    </a:p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(published였을 때)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⚡ 재임베딩</a:t>
                      </a:r>
                    </a:p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(published였을 때)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맑은 고딕"/>
                        </a:defRPr>
                      </a:pPr>
                      <a:r>
                        <a:t>변경 없음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88"/>
                </a:solidFill>
                <a:latin typeface="맑은 고딕"/>
              </a:defRPr>
            </a:pPr>
            <a:r>
              <a:t>✅ 항상 실행  |  ⚡ 피처 게이트 조건부  |  🔽 필터 제외 (보존)  |  🔼 필터 복원  |  ❌ 삭제/제거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88"/>
                </a:solidFill>
                <a:latin typeface="맑은 고딕"/>
              </a:defRPr>
            </a:pPr>
            <a: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13  검색 노출 조건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BBDD"/>
                </a:solidFill>
                <a:latin typeface="맑은 고딕"/>
              </a:defRPr>
            </a:pPr>
            <a:r>
              <a:t>어떤 문서가 검색/RAG에 노출되는가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맑은 고딕"/>
              </a:defRPr>
            </a:pPr>
            <a:r>
              <a:t>검색/RAG 노출 필수 조건 (AND)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4840941" cy="304800"/>
          </a:xfrm>
          <a:prstGeom prst="roundRect">
            <a:avLst/>
          </a:prstGeom>
          <a:solidFill>
            <a:srgbClr val="F8F8FF"/>
          </a:solidFill>
          <a:ln w="2540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70AD47"/>
                </a:solidFill>
                <a:latin typeface="맑은 고딕"/>
              </a:defRPr>
            </a:pPr>
            <a:r>
              <a:t>✅  status = 'published'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821178"/>
            <a:ext cx="4480560" cy="259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맑은 고딕"/>
              </a:defRPr>
            </a:pPr>
            <a:r>
              <a:rPr dirty="0" err="1"/>
              <a:t>게시</a:t>
            </a:r>
            <a:r>
              <a:rPr dirty="0"/>
              <a:t> </a:t>
            </a:r>
            <a:r>
              <a:rPr dirty="0" err="1"/>
              <a:t>완료된</a:t>
            </a:r>
            <a:r>
              <a:rPr dirty="0"/>
              <a:t> </a:t>
            </a:r>
            <a:r>
              <a:rPr dirty="0" err="1"/>
              <a:t>문서만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731520" y="2255520"/>
            <a:ext cx="4840941" cy="304800"/>
          </a:xfrm>
          <a:prstGeom prst="roundRect">
            <a:avLst/>
          </a:prstGeom>
          <a:solidFill>
            <a:srgbClr val="F8F8FF"/>
          </a:solidFill>
          <a:ln w="25400">
            <a:solidFill>
              <a:srgbClr val="FF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4040"/>
                </a:solidFill>
                <a:latin typeface="맑은 고딕"/>
              </a:defRPr>
            </a:pPr>
            <a:r>
              <a:rPr dirty="0"/>
              <a:t>✅  </a:t>
            </a:r>
            <a:r>
              <a:rPr dirty="0" err="1"/>
              <a:t>is_suspended</a:t>
            </a:r>
            <a:r>
              <a:rPr dirty="0"/>
              <a:t> = false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265379"/>
            <a:ext cx="4480560" cy="259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맑은 고딕"/>
              </a:defRPr>
            </a:pPr>
            <a:r>
              <a:rPr dirty="0" err="1"/>
              <a:t>긴급</a:t>
            </a:r>
            <a:r>
              <a:rPr dirty="0"/>
              <a:t> </a:t>
            </a:r>
            <a:r>
              <a:rPr dirty="0" err="1"/>
              <a:t>회수</a:t>
            </a:r>
            <a:r>
              <a:rPr dirty="0"/>
              <a:t>/</a:t>
            </a:r>
            <a:r>
              <a:rPr dirty="0" err="1"/>
              <a:t>유효기간</a:t>
            </a:r>
            <a:r>
              <a:rPr dirty="0"/>
              <a:t> </a:t>
            </a:r>
            <a:r>
              <a:rPr dirty="0" err="1"/>
              <a:t>만료되지</a:t>
            </a:r>
            <a:r>
              <a:rPr dirty="0"/>
              <a:t> </a:t>
            </a:r>
            <a:r>
              <a:rPr dirty="0" err="1"/>
              <a:t>않은</a:t>
            </a:r>
            <a:r>
              <a:rPr dirty="0"/>
              <a:t> </a:t>
            </a:r>
            <a:r>
              <a:rPr dirty="0" err="1"/>
              <a:t>문서</a:t>
            </a:r>
            <a:r>
              <a:rPr lang="en-US" dirty="0"/>
              <a:t> (</a:t>
            </a:r>
            <a:r>
              <a:rPr lang="ko-KR" altLang="en-US" dirty="0"/>
              <a:t>정책에 따라 달라짐</a:t>
            </a:r>
            <a:r>
              <a:rPr lang="en-US" altLang="ko-KR" dirty="0"/>
              <a:t>)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731520" y="2667000"/>
            <a:ext cx="4840941" cy="304800"/>
          </a:xfrm>
          <a:prstGeom prst="roundRect">
            <a:avLst/>
          </a:prstGeom>
          <a:solidFill>
            <a:srgbClr val="F8F8FF"/>
          </a:solidFill>
          <a:ln w="254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404040"/>
                </a:solidFill>
                <a:latin typeface="맑은 고딕"/>
              </a:defRPr>
            </a:pPr>
            <a:r>
              <a:t>✅  deleted_at IS NULL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32037"/>
            <a:ext cx="4480560" cy="259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맑은 고딕"/>
              </a:defRPr>
            </a:pPr>
            <a:r>
              <a:rPr dirty="0" err="1"/>
              <a:t>삭제되지</a:t>
            </a:r>
            <a:r>
              <a:rPr dirty="0"/>
              <a:t> </a:t>
            </a:r>
            <a:r>
              <a:rPr dirty="0" err="1"/>
              <a:t>않은</a:t>
            </a:r>
            <a:r>
              <a:rPr dirty="0"/>
              <a:t> </a:t>
            </a:r>
            <a:r>
              <a:rPr dirty="0" err="1"/>
              <a:t>문서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731520" y="3470149"/>
            <a:ext cx="4840941" cy="271361"/>
          </a:xfrm>
          <a:prstGeom prst="roundRect">
            <a:avLst/>
          </a:prstGeom>
          <a:solidFill>
            <a:srgbClr val="F8F8FF"/>
          </a:solidFill>
          <a:ln w="25400">
            <a:solidFill>
              <a:srgbClr val="006B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6B8F"/>
                </a:solidFill>
                <a:latin typeface="맑은 고딕"/>
              </a:defRPr>
            </a:pPr>
            <a:r>
              <a:t>✅  board.deleted_at IS NULL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515869"/>
            <a:ext cx="44008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맑은 고딕"/>
              </a:defRPr>
            </a:pPr>
            <a:r>
              <a:t>소속 게시판이 삭제되지 않은 문서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1649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맑은 고딕"/>
              </a:defRPr>
            </a:pPr>
            <a:r>
              <a:t>추가 권한 필터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909060"/>
            <a:ext cx="5029200" cy="1188720"/>
          </a:xfrm>
          <a:prstGeom prst="roundRect">
            <a:avLst/>
          </a:prstGeom>
          <a:solidFill>
            <a:srgbClr val="FFF9E6"/>
          </a:solidFill>
          <a:ln w="12700">
            <a:solidFill>
              <a:srgbClr val="DDDD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🔐 접근 가능한 게시판 필터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• 사용자의 BoardPermission 기반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  VIEW 이상 권한 있는 게시판의 문서만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• 팀 기반 권한 상속 포함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909060"/>
            <a:ext cx="5029200" cy="1188720"/>
          </a:xfrm>
          <a:prstGeom prst="roundRect">
            <a:avLst/>
          </a:prstGeom>
          <a:solidFill>
            <a:srgbClr val="FFF9E6"/>
          </a:solidFill>
          <a:ln w="12700">
            <a:solidFill>
              <a:srgbClr val="DDDD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🔒 문서 제한 모드 필터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• is_restricted = true인 문서는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  DocumentRestriction에 명시된 사용자만 접근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  • USER 또는 TEAM 단위 화이트리스트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120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맑은 고딕"/>
              </a:defRPr>
            </a:pPr>
            <a:r>
              <a:t>블록 타입별 검색 데이터 소스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5486400"/>
          <a:ext cx="1124712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블록 타입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키워드 검색 (ES)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시맨틱 검색 (Milvus)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비고</a:t>
                      </a:r>
                    </a:p>
                  </a:txBody>
                  <a:tcPr anchor="ctr">
                    <a:solidFill>
                      <a:srgbClr val="1B1B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content_text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content_text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원본 텍스트 그대로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table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content_text + caption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caption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표 셀 데이터 + 설명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image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caption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caption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caption 없으면 검색 불가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file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❌ 대상 아님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❌ 대상 아님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맑은 고딕"/>
                        </a:defRPr>
                      </a:pPr>
                      <a:r>
                        <a:t>검색/임베딩 제외</a:t>
                      </a:r>
                    </a:p>
                  </a:txBody>
                  <a:tcPr anchor="ctr">
                    <a:solidFill>
                      <a:srgbClr val="E8E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88"/>
                </a:solidFill>
                <a:latin typeface="맑은 고딕"/>
              </a:defRPr>
            </a:pPr>
            <a: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2850</Words>
  <Application>Microsoft Office PowerPoint</Application>
  <PresentationFormat>와이드스크린</PresentationFormat>
  <Paragraphs>588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정민우</cp:lastModifiedBy>
  <cp:revision>21</cp:revision>
  <dcterms:created xsi:type="dcterms:W3CDTF">2013-01-27T09:14:16Z</dcterms:created>
  <dcterms:modified xsi:type="dcterms:W3CDTF">2026-04-03T02:53:30Z</dcterms:modified>
  <cp:category/>
</cp:coreProperties>
</file>